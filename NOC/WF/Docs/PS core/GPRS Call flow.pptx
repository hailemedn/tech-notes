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18"/>
  </p:notesMasterIdLst>
  <p:handoutMasterIdLst>
    <p:handoutMasterId r:id="rId19"/>
  </p:handoutMasterIdLst>
  <p:sldIdLst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1" r:id="rId17"/>
  </p:sldIdLst>
  <p:sldSz cx="9144000" cy="6858000" type="screen4x3"/>
  <p:notesSz cx="7112000" cy="9398000"/>
  <p:defaultTextStyle>
    <a:defPPr>
      <a:defRPr lang="en-GB"/>
    </a:defPPr>
    <a:lvl1pPr algn="ctr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3039"/>
    <a:srgbClr val="7974A4"/>
    <a:srgbClr val="00B8B4"/>
    <a:srgbClr val="00EAE4"/>
    <a:srgbClr val="B6AFAA"/>
    <a:srgbClr val="AFBC00"/>
    <a:srgbClr val="00D2CD"/>
    <a:srgbClr val="0698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50" autoAdjust="0"/>
    <p:restoredTop sz="94667" autoAdjust="0"/>
  </p:normalViewPr>
  <p:slideViewPr>
    <p:cSldViewPr snapToGrid="0">
      <p:cViewPr>
        <p:scale>
          <a:sx n="70" d="100"/>
          <a:sy n="70" d="100"/>
        </p:scale>
        <p:origin x="-540" y="-168"/>
      </p:cViewPr>
      <p:guideLst>
        <p:guide orient="horz" pos="236"/>
        <p:guide orient="horz" pos="3638"/>
        <p:guide orient="horz" pos="3997"/>
        <p:guide orient="horz" pos="2750"/>
        <p:guide orient="horz" pos="1016"/>
        <p:guide orient="horz" pos="1879"/>
        <p:guide orient="horz" pos="698"/>
        <p:guide pos="410"/>
        <p:guide pos="5365"/>
        <p:guide pos="2882"/>
        <p:guide pos="1229"/>
        <p:guide pos="2057"/>
        <p:guide pos="4529"/>
        <p:guide pos="37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-2172" y="-114"/>
      </p:cViewPr>
      <p:guideLst>
        <p:guide orient="horz" pos="2960"/>
        <p:guide pos="22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2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2.wmf"/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2.wmf"/><Relationship Id="rId1" Type="http://schemas.openxmlformats.org/officeDocument/2006/relationships/image" Target="../media/image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292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268" tIns="43634" rIns="87268" bIns="43634" numCol="1" anchor="t" anchorCtr="0" compatLnSpc="1">
            <a:prstTxWarp prst="textNoShape">
              <a:avLst/>
            </a:prstTxWarp>
          </a:bodyPr>
          <a:lstStyle>
            <a:lvl1pPr algn="l" defTabSz="873125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22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7488" y="0"/>
            <a:ext cx="308292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268" tIns="43634" rIns="87268" bIns="43634" numCol="1" anchor="t" anchorCtr="0" compatLnSpc="1">
            <a:prstTxWarp prst="textNoShape">
              <a:avLst/>
            </a:prstTxWarp>
          </a:bodyPr>
          <a:lstStyle>
            <a:lvl1pPr algn="r" defTabSz="873125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22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08292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268" tIns="43634" rIns="87268" bIns="43634" numCol="1" anchor="b" anchorCtr="0" compatLnSpc="1">
            <a:prstTxWarp prst="textNoShape">
              <a:avLst/>
            </a:prstTxWarp>
          </a:bodyPr>
          <a:lstStyle>
            <a:lvl1pPr algn="l" defTabSz="873125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22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7488" y="8926513"/>
            <a:ext cx="308292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268" tIns="43634" rIns="87268" bIns="43634" numCol="1" anchor="b" anchorCtr="0" compatLnSpc="1">
            <a:prstTxWarp prst="textNoShape">
              <a:avLst/>
            </a:prstTxWarp>
          </a:bodyPr>
          <a:lstStyle>
            <a:lvl1pPr algn="r" defTabSz="873125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fld id="{02ABB3A0-6736-4B13-A1EB-9973EDFC47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292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575" tIns="45288" rIns="90575" bIns="45288" numCol="1" anchor="t" anchorCtr="0" compatLnSpc="1">
            <a:prstTxWarp prst="textNoShape">
              <a:avLst/>
            </a:prstTxWarp>
          </a:bodyPr>
          <a:lstStyle>
            <a:lvl1pPr algn="l" defTabSz="906463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7488" y="0"/>
            <a:ext cx="308292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575" tIns="45288" rIns="90575" bIns="45288" numCol="1" anchor="t" anchorCtr="0" compatLnSpc="1">
            <a:prstTxWarp prst="textNoShape">
              <a:avLst/>
            </a:prstTxWarp>
          </a:bodyPr>
          <a:lstStyle>
            <a:lvl1pPr algn="r" defTabSz="906463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65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200" y="4464050"/>
            <a:ext cx="568960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575" tIns="45288" rIns="90575" bIns="452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308292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575" tIns="45288" rIns="90575" bIns="45288" numCol="1" anchor="b" anchorCtr="0" compatLnSpc="1">
            <a:prstTxWarp prst="textNoShape">
              <a:avLst/>
            </a:prstTxWarp>
          </a:bodyPr>
          <a:lstStyle>
            <a:lvl1pPr algn="l" defTabSz="906463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7488" y="8926513"/>
            <a:ext cx="308292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575" tIns="45288" rIns="90575" bIns="45288" numCol="1" anchor="b" anchorCtr="0" compatLnSpc="1">
            <a:prstTxWarp prst="textNoShape">
              <a:avLst/>
            </a:prstTxWarp>
          </a:bodyPr>
          <a:lstStyle>
            <a:lvl1pPr algn="r" defTabSz="906463" eaLnBrk="1" hangingPunct="1">
              <a:defRPr sz="1100">
                <a:latin typeface="Arial" charset="0"/>
              </a:defRPr>
            </a:lvl1pPr>
          </a:lstStyle>
          <a:p>
            <a:pPr>
              <a:defRPr/>
            </a:pPr>
            <a:fld id="{CA267D4D-9CB8-45D0-8E2D-C6B0E085D6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65CB5A-975C-4933-937F-5C7FB696577E}" type="slidenum">
              <a:rPr lang="en-GB" smtClean="0"/>
              <a:pPr/>
              <a:t>1</a:t>
            </a:fld>
            <a:endParaRPr lang="en-GB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934C98-8D58-4D5F-8BA2-BE7467918A20}" type="slidenum">
              <a:rPr lang="en-GB" smtClean="0"/>
              <a:pPr/>
              <a:t>2</a:t>
            </a:fld>
            <a:endParaRPr lang="en-GB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F3F3DB-155C-4806-B942-BFDB32C8A539}" type="slidenum">
              <a:rPr lang="en-GB" smtClean="0"/>
              <a:pPr/>
              <a:t>3</a:t>
            </a:fld>
            <a:endParaRPr lang="en-GB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D250A2-218F-4CDB-B028-4CA78CCBB083}" type="slidenum">
              <a:rPr lang="en-GB" smtClean="0"/>
              <a:pPr/>
              <a:t>4</a:t>
            </a:fld>
            <a:endParaRPr lang="en-GB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D945F2-4570-4512-88EC-23B750185AC9}" type="slidenum">
              <a:rPr lang="en-GB" smtClean="0"/>
              <a:pPr/>
              <a:t>5</a:t>
            </a:fld>
            <a:endParaRPr lang="en-GB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3208FA-508A-4B64-90EA-4B564DC07EC5}" type="slidenum">
              <a:rPr lang="en-GB" smtClean="0"/>
              <a:pPr/>
              <a:t>6</a:t>
            </a:fld>
            <a:endParaRPr lang="en-GB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E711D4-745C-4F48-A8A5-47100F2CC3D8}" type="slidenum">
              <a:rPr lang="en-GB" smtClean="0"/>
              <a:pPr/>
              <a:t>7</a:t>
            </a:fld>
            <a:endParaRPr lang="en-GB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C92669-8A42-40C6-925E-84D4CC02C232}" type="slidenum">
              <a:rPr lang="en-GB" smtClean="0"/>
              <a:pPr/>
              <a:t>8</a:t>
            </a:fld>
            <a:endParaRPr lang="en-GB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D5F867-9C36-4471-81AE-6BCBB7C7AAFF}" type="slidenum">
              <a:rPr lang="en-GB" smtClean="0"/>
              <a:pPr/>
              <a:t>9</a:t>
            </a:fld>
            <a:endParaRPr lang="en-GB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751CB9-D029-492E-AD93-F995BFB81CA8}" type="slidenum">
              <a:rPr lang="en-GB" smtClean="0"/>
              <a:pPr/>
              <a:t>10</a:t>
            </a:fld>
            <a:endParaRPr lang="en-GB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96A620-DC52-46A6-8A29-B1DF54D7EE4D}" type="slidenum">
              <a:rPr lang="en-GB" smtClean="0"/>
              <a:pPr/>
              <a:t>11</a:t>
            </a:fld>
            <a:endParaRPr lang="en-GB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403A3B-880E-4964-BEEF-12CAEDAF6A27}" type="slidenum">
              <a:rPr lang="en-GB" smtClean="0"/>
              <a:pPr/>
              <a:t>12</a:t>
            </a:fld>
            <a:endParaRPr lang="en-GB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4DBAEE-4D57-42D6-92EA-B4A85DD4A5E5}" type="slidenum">
              <a:rPr lang="en-GB" smtClean="0"/>
              <a:pPr/>
              <a:t>13</a:t>
            </a:fld>
            <a:endParaRPr lang="en-GB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9" descr="logo"/>
          <p:cNvPicPr>
            <a:picLocks noChangeAspect="1" noChangeArrowheads="1"/>
          </p:cNvPicPr>
          <p:nvPr userDrawn="1"/>
        </p:nvPicPr>
        <p:blipFill>
          <a:blip r:embed="rId2" cstate="print"/>
          <a:srcRect l="25055" r="23747" b="30670"/>
          <a:stretch>
            <a:fillRect/>
          </a:stretch>
        </p:blipFill>
        <p:spPr bwMode="auto">
          <a:xfrm>
            <a:off x="8169275" y="6335713"/>
            <a:ext cx="37306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1"/>
          <p:cNvSpPr txBox="1">
            <a:spLocks noChangeArrowheads="1"/>
          </p:cNvSpPr>
          <p:nvPr userDrawn="1"/>
        </p:nvSpPr>
        <p:spPr bwMode="auto">
          <a:xfrm>
            <a:off x="3265488" y="6337300"/>
            <a:ext cx="2112962" cy="403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/>
          <a:lstStyle/>
          <a:p>
            <a:pPr algn="l">
              <a:lnSpc>
                <a:spcPct val="95000"/>
              </a:lnSpc>
              <a:defRPr/>
            </a:pPr>
            <a:r>
              <a:rPr lang="en-GB" sz="900">
                <a:solidFill>
                  <a:schemeClr val="bg2"/>
                </a:solidFill>
              </a:rPr>
              <a:t>Confidentiality level on title master</a:t>
            </a:r>
          </a:p>
          <a:p>
            <a:pPr algn="l">
              <a:lnSpc>
                <a:spcPct val="95000"/>
              </a:lnSpc>
              <a:defRPr/>
            </a:pPr>
            <a:r>
              <a:rPr lang="en-GB" sz="900">
                <a:solidFill>
                  <a:schemeClr val="bg2"/>
                </a:solidFill>
              </a:rPr>
              <a:t>Version number on title master</a:t>
            </a:r>
          </a:p>
        </p:txBody>
      </p:sp>
      <p:sp>
        <p:nvSpPr>
          <p:cNvPr id="6" name="Text Box 53"/>
          <p:cNvSpPr txBox="1">
            <a:spLocks noChangeArrowheads="1"/>
          </p:cNvSpPr>
          <p:nvPr userDrawn="1"/>
        </p:nvSpPr>
        <p:spPr bwMode="auto">
          <a:xfrm>
            <a:off x="650875" y="6457950"/>
            <a:ext cx="2079625" cy="330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/>
          <a:lstStyle/>
          <a:p>
            <a:pPr algn="l">
              <a:spcBef>
                <a:spcPct val="30000"/>
              </a:spcBef>
              <a:defRPr/>
            </a:pPr>
            <a:r>
              <a:rPr lang="en-GB" sz="900">
                <a:solidFill>
                  <a:schemeClr val="bg2"/>
                </a:solidFill>
              </a:rPr>
              <a:t>Department on title master</a:t>
            </a:r>
          </a:p>
        </p:txBody>
      </p:sp>
      <p:sp>
        <p:nvSpPr>
          <p:cNvPr id="7" name="Line 54"/>
          <p:cNvSpPr>
            <a:spLocks noChangeShapeType="1"/>
          </p:cNvSpPr>
          <p:nvPr userDrawn="1"/>
        </p:nvSpPr>
        <p:spPr bwMode="auto">
          <a:xfrm>
            <a:off x="3182938" y="6345238"/>
            <a:ext cx="0" cy="512762"/>
          </a:xfrm>
          <a:prstGeom prst="line">
            <a:avLst/>
          </a:prstGeom>
          <a:noFill/>
          <a:ln w="12700">
            <a:solidFill>
              <a:schemeClr val="bg2"/>
            </a:solidFill>
            <a:prstDash val="sysDot"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Line 55"/>
          <p:cNvSpPr>
            <a:spLocks noChangeShapeType="1"/>
          </p:cNvSpPr>
          <p:nvPr userDrawn="1"/>
        </p:nvSpPr>
        <p:spPr bwMode="auto">
          <a:xfrm>
            <a:off x="5819775" y="6345238"/>
            <a:ext cx="0" cy="512762"/>
          </a:xfrm>
          <a:prstGeom prst="line">
            <a:avLst/>
          </a:prstGeom>
          <a:noFill/>
          <a:ln w="12700">
            <a:solidFill>
              <a:schemeClr val="bg2"/>
            </a:solidFill>
            <a:prstDash val="sysDot"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defRPr/>
            </a:pPr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27225" y="2338388"/>
            <a:ext cx="6542088" cy="865187"/>
          </a:xfrm>
        </p:spPr>
        <p:txBody>
          <a:bodyPr bIns="108000" anchor="b"/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27225" y="3195638"/>
            <a:ext cx="6550025" cy="881062"/>
          </a:xfrm>
        </p:spPr>
        <p:txBody>
          <a:bodyPr tIns="144000" rIns="0"/>
          <a:lstStyle>
            <a:lvl1pPr marL="0" indent="0">
              <a:spcBef>
                <a:spcPct val="20000"/>
              </a:spcBef>
              <a:buFont typeface="Arial" charset="0"/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5C300-1B12-4768-847C-7895A17FF3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" name="Rectangle 5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11" name="Rectangle 52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9D7351-10DB-4D93-923A-F2C51E75209F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98D7E-F16F-451D-866F-F91C0A3C36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F2B7A-0036-4D4A-AB1C-A4953882A4CD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635B6-FF41-4D58-80F7-ECBF3970F7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A7ED9-9FB8-4DA3-9716-45E63D9B5648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9288" y="1612900"/>
            <a:ext cx="3856037" cy="4133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612900"/>
            <a:ext cx="3857625" cy="4133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11FC6-AAB1-4878-B950-C9FFE5A363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Rectangle 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7" name="Rectangle 3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B78683-6BA2-43AF-93F3-3D46D212445A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AEB4EE-E63F-4C16-80AF-569529B3DD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Rectangle 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9" name="Rectangle 3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42C98-D76B-4A3F-A7FC-F6441592A34F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4C4AF5-9ACB-4E2F-A195-3FD1674256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DB3645-9100-42D7-B985-D7EE69DD1C8C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F8B659-3F6B-4634-80B8-A9BC1D4F5F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3" name="Rectangle 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3153DF-F9AD-4451-B9CF-EC0294A4BEAB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919CC5-4C18-4858-8698-7F52AD7CED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Rectangle 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7" name="Rectangle 3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699C9-62D7-494F-A2BF-E27949CA6447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DE641-A900-4304-AC19-17D46B22D9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Rectangle 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7" name="Rectangle 3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9D1A-7421-4548-943A-D18A933CE987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EE354-7AAD-4DF3-858F-2FDA253AC0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9A1DD-D541-42BA-B7D6-76E3A6212065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613" y="374650"/>
            <a:ext cx="1966912" cy="53721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6113" y="374650"/>
            <a:ext cx="5753100" cy="53721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58FE0E-3783-46A9-8C8A-4408530D5F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C4ABA-7495-4332-8125-CE2D13459D39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3" y="374650"/>
            <a:ext cx="7872412" cy="431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49288" y="1612900"/>
            <a:ext cx="3856037" cy="41338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612900"/>
            <a:ext cx="3857625" cy="41338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1CE47A-7661-4675-8F17-261E1B0D12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Rectangle 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7" name="Rectangle 3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335A8-3D0F-4FA0-952E-B3B7458F793A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3" y="374650"/>
            <a:ext cx="7872412" cy="431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49288" y="1612900"/>
            <a:ext cx="7866062" cy="413385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001EA-5FBE-4730-A2E7-EEF8ADBBA5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EF5E9E-48E5-4CE9-9F2F-0B21BDD76DF2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3" y="374650"/>
            <a:ext cx="7872412" cy="431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49288" y="1612900"/>
            <a:ext cx="7866062" cy="413385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BAFF4-C80F-40E8-9657-B99961C95D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C613F2-6F5D-4BB3-88F6-5EFB3E7E6C9E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46113" y="374650"/>
            <a:ext cx="7872412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126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9288" y="1612900"/>
            <a:ext cx="7866062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72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pic>
        <p:nvPicPr>
          <p:cNvPr id="11268" name="Picture 33" descr="logo"/>
          <p:cNvPicPr>
            <a:picLocks noChangeAspect="1" noChangeArrowheads="1"/>
          </p:cNvPicPr>
          <p:nvPr userDrawn="1"/>
        </p:nvPicPr>
        <p:blipFill>
          <a:blip r:embed="rId16" cstate="print"/>
          <a:srcRect l="25055" r="23747" b="30670"/>
          <a:stretch>
            <a:fillRect/>
          </a:stretch>
        </p:blipFill>
        <p:spPr bwMode="auto">
          <a:xfrm>
            <a:off x="8169275" y="6335713"/>
            <a:ext cx="37306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30" name="Rectangle 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90500" y="6337300"/>
            <a:ext cx="4127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fld id="{E14EF8EF-9AAF-4F9F-BE62-AA87C84073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131" name="Rectangle 3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50875" y="6337300"/>
            <a:ext cx="20796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9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GB"/>
              <a:t>Presentation title in footer</a:t>
            </a:r>
          </a:p>
        </p:txBody>
      </p:sp>
      <p:sp>
        <p:nvSpPr>
          <p:cNvPr id="4132" name="Text Box 36"/>
          <p:cNvSpPr txBox="1">
            <a:spLocks noChangeArrowheads="1"/>
          </p:cNvSpPr>
          <p:nvPr userDrawn="1"/>
        </p:nvSpPr>
        <p:spPr bwMode="auto">
          <a:xfrm>
            <a:off x="3265488" y="6337300"/>
            <a:ext cx="2112962" cy="403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/>
          <a:lstStyle/>
          <a:p>
            <a:pPr algn="l">
              <a:lnSpc>
                <a:spcPct val="95000"/>
              </a:lnSpc>
              <a:defRPr/>
            </a:pPr>
            <a:r>
              <a:rPr lang="en-GB" sz="900">
                <a:solidFill>
                  <a:schemeClr val="bg2"/>
                </a:solidFill>
              </a:rPr>
              <a:t>Confidentiality level on title master</a:t>
            </a:r>
          </a:p>
          <a:p>
            <a:pPr algn="l">
              <a:lnSpc>
                <a:spcPct val="95000"/>
              </a:lnSpc>
              <a:defRPr/>
            </a:pPr>
            <a:r>
              <a:rPr lang="en-GB" sz="900">
                <a:solidFill>
                  <a:schemeClr val="bg2"/>
                </a:solidFill>
              </a:rPr>
              <a:t>Version number on title master</a:t>
            </a:r>
          </a:p>
        </p:txBody>
      </p:sp>
      <p:sp>
        <p:nvSpPr>
          <p:cNvPr id="4133" name="Rectangle 3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892800" y="6337300"/>
            <a:ext cx="2025650" cy="342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9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fld id="{DE865B85-9894-4242-98ED-3352398D90F7}" type="datetime4">
              <a:rPr lang="en-GB"/>
              <a:pPr>
                <a:defRPr/>
              </a:pPr>
              <a:t>18 June 2013</a:t>
            </a:fld>
            <a:endParaRPr lang="en-GB"/>
          </a:p>
        </p:txBody>
      </p:sp>
      <p:sp>
        <p:nvSpPr>
          <p:cNvPr id="4134" name="Text Box 38"/>
          <p:cNvSpPr txBox="1">
            <a:spLocks noChangeArrowheads="1"/>
          </p:cNvSpPr>
          <p:nvPr userDrawn="1"/>
        </p:nvSpPr>
        <p:spPr bwMode="auto">
          <a:xfrm>
            <a:off x="650875" y="6457950"/>
            <a:ext cx="2079625" cy="330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/>
          <a:lstStyle/>
          <a:p>
            <a:pPr algn="l">
              <a:spcBef>
                <a:spcPct val="30000"/>
              </a:spcBef>
              <a:defRPr/>
            </a:pPr>
            <a:r>
              <a:rPr lang="en-GB" sz="900">
                <a:solidFill>
                  <a:schemeClr val="bg2"/>
                </a:solidFill>
              </a:rPr>
              <a:t>Department on title master</a:t>
            </a:r>
          </a:p>
        </p:txBody>
      </p:sp>
      <p:sp>
        <p:nvSpPr>
          <p:cNvPr id="4162" name="Line 66"/>
          <p:cNvSpPr>
            <a:spLocks noChangeShapeType="1"/>
          </p:cNvSpPr>
          <p:nvPr userDrawn="1"/>
        </p:nvSpPr>
        <p:spPr bwMode="auto">
          <a:xfrm>
            <a:off x="3182938" y="6345238"/>
            <a:ext cx="0" cy="512762"/>
          </a:xfrm>
          <a:prstGeom prst="line">
            <a:avLst/>
          </a:prstGeom>
          <a:noFill/>
          <a:ln w="12700">
            <a:solidFill>
              <a:schemeClr val="bg2"/>
            </a:solidFill>
            <a:prstDash val="sysDot"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defRPr/>
            </a:pPr>
            <a:endParaRPr lang="en-US"/>
          </a:p>
        </p:txBody>
      </p:sp>
      <p:sp>
        <p:nvSpPr>
          <p:cNvPr id="4163" name="Line 67"/>
          <p:cNvSpPr>
            <a:spLocks noChangeShapeType="1"/>
          </p:cNvSpPr>
          <p:nvPr userDrawn="1"/>
        </p:nvSpPr>
        <p:spPr bwMode="auto">
          <a:xfrm>
            <a:off x="5819775" y="6345238"/>
            <a:ext cx="0" cy="512762"/>
          </a:xfrm>
          <a:prstGeom prst="line">
            <a:avLst/>
          </a:prstGeom>
          <a:noFill/>
          <a:ln w="12700">
            <a:solidFill>
              <a:schemeClr val="bg2"/>
            </a:solidFill>
            <a:prstDash val="sysDot"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182563" indent="-182563" algn="l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1"/>
        </a:buClr>
        <a:buFont typeface="Arial" charset="0"/>
        <a:buChar char="&gt;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388938" indent="-182563" algn="l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1"/>
        </a:buClr>
        <a:buChar char="–"/>
        <a:defRPr sz="1600">
          <a:solidFill>
            <a:schemeClr val="tx1"/>
          </a:solidFill>
          <a:latin typeface="+mn-lt"/>
        </a:defRPr>
      </a:lvl2pPr>
      <a:lvl3pPr marL="541338" indent="-128588" algn="l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1"/>
        </a:buClr>
        <a:buChar char="–"/>
        <a:defRPr sz="1600">
          <a:solidFill>
            <a:schemeClr val="tx1"/>
          </a:solidFill>
          <a:latin typeface="+mn-lt"/>
        </a:defRPr>
      </a:lvl3pPr>
      <a:lvl4pPr marL="711200" indent="-149225" algn="l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1"/>
        </a:buClr>
        <a:buChar char="–"/>
        <a:defRPr sz="1600">
          <a:solidFill>
            <a:schemeClr val="tx1"/>
          </a:solidFill>
          <a:latin typeface="+mn-lt"/>
        </a:defRPr>
      </a:lvl4pPr>
      <a:lvl5pPr marL="903288" indent="-169863" algn="l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1"/>
        </a:buClr>
        <a:buChar char="–"/>
        <a:defRPr sz="1600">
          <a:solidFill>
            <a:schemeClr val="tx1"/>
          </a:solidFill>
          <a:latin typeface="+mn-lt"/>
        </a:defRPr>
      </a:lvl5pPr>
      <a:lvl6pPr marL="1360488" indent="-169863" algn="l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1"/>
        </a:buClr>
        <a:buChar char="–"/>
        <a:defRPr sz="1600">
          <a:solidFill>
            <a:schemeClr val="tx1"/>
          </a:solidFill>
          <a:latin typeface="+mn-lt"/>
        </a:defRPr>
      </a:lvl6pPr>
      <a:lvl7pPr marL="1817688" indent="-169863" algn="l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1"/>
        </a:buClr>
        <a:buChar char="–"/>
        <a:defRPr sz="1600">
          <a:solidFill>
            <a:schemeClr val="tx1"/>
          </a:solidFill>
          <a:latin typeface="+mn-lt"/>
        </a:defRPr>
      </a:lvl7pPr>
      <a:lvl8pPr marL="2274888" indent="-169863" algn="l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1"/>
        </a:buClr>
        <a:buChar char="–"/>
        <a:defRPr sz="1600">
          <a:solidFill>
            <a:schemeClr val="tx1"/>
          </a:solidFill>
          <a:latin typeface="+mn-lt"/>
        </a:defRPr>
      </a:lvl8pPr>
      <a:lvl9pPr marL="2732088" indent="-169863" algn="l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1"/>
        </a:buClr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5.emf"/><Relationship Id="rId10" Type="http://schemas.openxmlformats.org/officeDocument/2006/relationships/oleObject" Target="../embeddings/oleObject3.bin"/><Relationship Id="rId4" Type="http://schemas.openxmlformats.org/officeDocument/2006/relationships/image" Target="../media/image4.emf"/><Relationship Id="rId9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3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emf"/><Relationship Id="rId12" Type="http://schemas.openxmlformats.org/officeDocument/2006/relationships/image" Target="../media/image12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11" Type="http://schemas.openxmlformats.org/officeDocument/2006/relationships/image" Target="../media/image11.e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6.bin"/><Relationship Id="rId4" Type="http://schemas.openxmlformats.org/officeDocument/2006/relationships/image" Target="../media/image8.emf"/><Relationship Id="rId9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8.emf"/><Relationship Id="rId5" Type="http://schemas.openxmlformats.org/officeDocument/2006/relationships/image" Target="../media/image16.emf"/><Relationship Id="rId10" Type="http://schemas.openxmlformats.org/officeDocument/2006/relationships/image" Target="../media/image17.w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oleObject" Target="../embeddings/oleObject15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emf"/><Relationship Id="rId11" Type="http://schemas.openxmlformats.org/officeDocument/2006/relationships/oleObject" Target="../embeddings/oleObject13.bin"/><Relationship Id="rId5" Type="http://schemas.openxmlformats.org/officeDocument/2006/relationships/image" Target="../media/image7.wmf"/><Relationship Id="rId15" Type="http://schemas.openxmlformats.org/officeDocument/2006/relationships/image" Target="../media/image24.emf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19.e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2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oleObject" Target="../embeddings/oleObject19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7.emf"/><Relationship Id="rId12" Type="http://schemas.openxmlformats.org/officeDocument/2006/relationships/image" Target="../media/image29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18.bin"/><Relationship Id="rId5" Type="http://schemas.openxmlformats.org/officeDocument/2006/relationships/image" Target="../media/image7.wmf"/><Relationship Id="rId15" Type="http://schemas.openxmlformats.org/officeDocument/2006/relationships/oleObject" Target="../embeddings/oleObject20.bin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25.e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3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e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2.emf"/><Relationship Id="rId12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6.jpeg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35.png"/><Relationship Id="rId4" Type="http://schemas.openxmlformats.org/officeDocument/2006/relationships/image" Target="../media/image31.wmf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42.e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7.wmf"/><Relationship Id="rId12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41.jpeg"/><Relationship Id="rId5" Type="http://schemas.openxmlformats.org/officeDocument/2006/relationships/image" Target="../media/image40.emf"/><Relationship Id="rId10" Type="http://schemas.openxmlformats.org/officeDocument/2006/relationships/oleObject" Target="../embeddings/oleObject26.bin"/><Relationship Id="rId4" Type="http://schemas.openxmlformats.org/officeDocument/2006/relationships/image" Target="../media/image39.emf"/><Relationship Id="rId9" Type="http://schemas.openxmlformats.org/officeDocument/2006/relationships/oleObject" Target="../embeddings/oleObject2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45.e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7.wmf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41.jpeg"/><Relationship Id="rId5" Type="http://schemas.openxmlformats.org/officeDocument/2006/relationships/image" Target="../media/image44.emf"/><Relationship Id="rId10" Type="http://schemas.openxmlformats.org/officeDocument/2006/relationships/oleObject" Target="../embeddings/oleObject31.bin"/><Relationship Id="rId4" Type="http://schemas.openxmlformats.org/officeDocument/2006/relationships/image" Target="../media/image43.emf"/><Relationship Id="rId9" Type="http://schemas.openxmlformats.org/officeDocument/2006/relationships/oleObject" Target="../embeddings/oleObject30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3ACD1C6-3DB2-403F-97FD-3606A56F3E63}" type="slidenum">
              <a:rPr lang="en-GB" smtClean="0"/>
              <a:pPr/>
              <a:t>1</a:t>
            </a:fld>
            <a:endParaRPr lang="en-GB" smtClean="0"/>
          </a:p>
        </p:txBody>
      </p:sp>
      <p:sp>
        <p:nvSpPr>
          <p:cNvPr id="18435" name="Rectangle 50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Presentation title in footer</a:t>
            </a:r>
          </a:p>
        </p:txBody>
      </p:sp>
      <p:sp>
        <p:nvSpPr>
          <p:cNvPr id="18436" name="Rectangle 52"/>
          <p:cNvSpPr>
            <a:spLocks noGrp="1" noChangeArrowheads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65F0C00A-4D01-44B5-9A83-03AC1833C2E6}" type="datetime4">
              <a:rPr lang="en-GB" smtClean="0"/>
              <a:pPr/>
              <a:t>18 June 2013</a:t>
            </a:fld>
            <a:endParaRPr lang="en-GB" smtClean="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185863" y="2184400"/>
            <a:ext cx="6542087" cy="1524000"/>
          </a:xfrm>
        </p:spPr>
        <p:txBody>
          <a:bodyPr/>
          <a:lstStyle/>
          <a:p>
            <a:pPr algn="ctr"/>
            <a:r>
              <a:rPr lang="en-GB" sz="4000" smtClean="0"/>
              <a:t>Call 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90999B0-4A39-421B-848A-E2AC389B0F88}" type="slidenum">
              <a:rPr lang="en-GB" smtClean="0"/>
              <a:pPr/>
              <a:t>2</a:t>
            </a:fld>
            <a:endParaRPr lang="en-GB" smtClean="0"/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Presentation title in footer</a:t>
            </a:r>
          </a:p>
        </p:txBody>
      </p:sp>
      <p:sp>
        <p:nvSpPr>
          <p:cNvPr id="1946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C7AFE62E-6D52-4F52-BB9E-74A65D01D9FF}" type="datetime4">
              <a:rPr lang="en-GB" smtClean="0"/>
              <a:pPr/>
              <a:t>18 June 2013</a:t>
            </a:fld>
            <a:endParaRPr lang="en-GB" smtClean="0"/>
          </a:p>
        </p:txBody>
      </p:sp>
      <p:sp>
        <p:nvSpPr>
          <p:cNvPr id="81" name="Text Box 75"/>
          <p:cNvSpPr txBox="1">
            <a:spLocks noChangeArrowheads="1"/>
          </p:cNvSpPr>
          <p:nvPr/>
        </p:nvSpPr>
        <p:spPr bwMode="auto">
          <a:xfrm>
            <a:off x="3381375" y="687388"/>
            <a:ext cx="3070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GPRS - Packet Domain</a:t>
            </a: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1423988" y="866775"/>
            <a:ext cx="7448550" cy="4554538"/>
            <a:chOff x="897" y="103"/>
            <a:chExt cx="4692" cy="2976"/>
          </a:xfrm>
        </p:grpSpPr>
        <p:sp>
          <p:nvSpPr>
            <p:cNvPr id="19505" name="Oval 44"/>
            <p:cNvSpPr>
              <a:spLocks noChangeArrowheads="1"/>
            </p:cNvSpPr>
            <p:nvPr/>
          </p:nvSpPr>
          <p:spPr bwMode="auto">
            <a:xfrm>
              <a:off x="1893" y="295"/>
              <a:ext cx="2592" cy="1296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6" name="Rectangle 45"/>
            <p:cNvSpPr>
              <a:spLocks noChangeArrowheads="1"/>
            </p:cNvSpPr>
            <p:nvPr/>
          </p:nvSpPr>
          <p:spPr bwMode="auto">
            <a:xfrm>
              <a:off x="3429" y="727"/>
              <a:ext cx="672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/>
                <a:t>GGSN</a:t>
              </a:r>
            </a:p>
          </p:txBody>
        </p:sp>
        <p:sp>
          <p:nvSpPr>
            <p:cNvPr id="19507" name="Line 46"/>
            <p:cNvSpPr>
              <a:spLocks noChangeShapeType="1"/>
            </p:cNvSpPr>
            <p:nvPr/>
          </p:nvSpPr>
          <p:spPr bwMode="auto">
            <a:xfrm>
              <a:off x="2901" y="919"/>
              <a:ext cx="52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8" name="Line 47"/>
            <p:cNvSpPr>
              <a:spLocks noChangeShapeType="1"/>
            </p:cNvSpPr>
            <p:nvPr/>
          </p:nvSpPr>
          <p:spPr bwMode="auto">
            <a:xfrm flipV="1">
              <a:off x="4101" y="679"/>
              <a:ext cx="76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9" name="Rectangle 48"/>
            <p:cNvSpPr>
              <a:spLocks noChangeArrowheads="1"/>
            </p:cNvSpPr>
            <p:nvPr/>
          </p:nvSpPr>
          <p:spPr bwMode="auto">
            <a:xfrm>
              <a:off x="4917" y="487"/>
              <a:ext cx="672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Internet</a:t>
              </a:r>
            </a:p>
          </p:txBody>
        </p:sp>
        <p:sp>
          <p:nvSpPr>
            <p:cNvPr id="19510" name="Line 49"/>
            <p:cNvSpPr>
              <a:spLocks noChangeShapeType="1"/>
            </p:cNvSpPr>
            <p:nvPr/>
          </p:nvSpPr>
          <p:spPr bwMode="auto">
            <a:xfrm>
              <a:off x="4101" y="919"/>
              <a:ext cx="76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1" name="Rectangle 50"/>
            <p:cNvSpPr>
              <a:spLocks noChangeArrowheads="1"/>
            </p:cNvSpPr>
            <p:nvPr/>
          </p:nvSpPr>
          <p:spPr bwMode="auto">
            <a:xfrm>
              <a:off x="4917" y="967"/>
              <a:ext cx="672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Corporate</a:t>
              </a:r>
              <a:br>
                <a:rPr lang="en-US"/>
              </a:br>
              <a:r>
                <a:rPr lang="en-US"/>
                <a:t>Intranet</a:t>
              </a:r>
            </a:p>
          </p:txBody>
        </p:sp>
        <p:sp>
          <p:nvSpPr>
            <p:cNvPr id="19512" name="Line 51"/>
            <p:cNvSpPr>
              <a:spLocks noChangeShapeType="1"/>
            </p:cNvSpPr>
            <p:nvPr/>
          </p:nvSpPr>
          <p:spPr bwMode="auto">
            <a:xfrm>
              <a:off x="2709" y="1063"/>
              <a:ext cx="1632" cy="86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3" name="Line 52"/>
            <p:cNvSpPr>
              <a:spLocks noChangeShapeType="1"/>
            </p:cNvSpPr>
            <p:nvPr/>
          </p:nvSpPr>
          <p:spPr bwMode="auto">
            <a:xfrm>
              <a:off x="2901" y="967"/>
              <a:ext cx="2208" cy="96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Rectangle 53"/>
            <p:cNvSpPr>
              <a:spLocks noChangeArrowheads="1"/>
            </p:cNvSpPr>
            <p:nvPr/>
          </p:nvSpPr>
          <p:spPr bwMode="auto">
            <a:xfrm>
              <a:off x="2229" y="727"/>
              <a:ext cx="672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/>
                <a:t>SGSN</a:t>
              </a:r>
            </a:p>
          </p:txBody>
        </p:sp>
        <p:sp>
          <p:nvSpPr>
            <p:cNvPr id="60" name="Rectangle 54"/>
            <p:cNvSpPr>
              <a:spLocks noChangeArrowheads="1"/>
            </p:cNvSpPr>
            <p:nvPr/>
          </p:nvSpPr>
          <p:spPr bwMode="auto">
            <a:xfrm>
              <a:off x="2901" y="391"/>
              <a:ext cx="528" cy="24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b="1" dirty="0">
                  <a:latin typeface="Arial" pitchFamily="34" charset="0"/>
                </a:rPr>
                <a:t>BGw</a:t>
              </a:r>
              <a:r>
                <a:rPr lang="en-US" sz="1050" b="1" dirty="0">
                  <a:latin typeface="Arial" pitchFamily="34" charset="0"/>
                </a:rPr>
                <a:t> </a:t>
              </a:r>
              <a:br>
                <a:rPr lang="en-US" sz="1050" b="1" dirty="0">
                  <a:latin typeface="Arial" pitchFamily="34" charset="0"/>
                </a:rPr>
              </a:br>
              <a:r>
                <a:rPr lang="en-US" sz="1050" b="1" dirty="0">
                  <a:latin typeface="Arial" pitchFamily="34" charset="0"/>
                </a:rPr>
                <a:t>(GRX)</a:t>
              </a:r>
            </a:p>
          </p:txBody>
        </p:sp>
        <p:sp>
          <p:nvSpPr>
            <p:cNvPr id="19516" name="Line 55"/>
            <p:cNvSpPr>
              <a:spLocks noChangeShapeType="1"/>
            </p:cNvSpPr>
            <p:nvPr/>
          </p:nvSpPr>
          <p:spPr bwMode="auto">
            <a:xfrm flipV="1">
              <a:off x="3429" y="199"/>
              <a:ext cx="816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7" name="Rectangle 56"/>
            <p:cNvSpPr>
              <a:spLocks noChangeArrowheads="1"/>
            </p:cNvSpPr>
            <p:nvPr/>
          </p:nvSpPr>
          <p:spPr bwMode="auto">
            <a:xfrm>
              <a:off x="4245" y="103"/>
              <a:ext cx="67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400"/>
                <a:t>Other PLMN</a:t>
              </a:r>
            </a:p>
          </p:txBody>
        </p:sp>
        <p:sp>
          <p:nvSpPr>
            <p:cNvPr id="19518" name="Line 57"/>
            <p:cNvSpPr>
              <a:spLocks noChangeShapeType="1"/>
            </p:cNvSpPr>
            <p:nvPr/>
          </p:nvSpPr>
          <p:spPr bwMode="auto">
            <a:xfrm flipH="1">
              <a:off x="2757" y="583"/>
              <a:ext cx="144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9" name="Line 58"/>
            <p:cNvSpPr>
              <a:spLocks noChangeShapeType="1"/>
            </p:cNvSpPr>
            <p:nvPr/>
          </p:nvSpPr>
          <p:spPr bwMode="auto">
            <a:xfrm>
              <a:off x="3429" y="535"/>
              <a:ext cx="192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0" name="Line 59"/>
            <p:cNvSpPr>
              <a:spLocks noChangeShapeType="1"/>
            </p:cNvSpPr>
            <p:nvPr/>
          </p:nvSpPr>
          <p:spPr bwMode="auto">
            <a:xfrm>
              <a:off x="4053" y="1063"/>
              <a:ext cx="1392" cy="86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1" name="Text Box 60"/>
            <p:cNvSpPr txBox="1">
              <a:spLocks noChangeArrowheads="1"/>
            </p:cNvSpPr>
            <p:nvPr/>
          </p:nvSpPr>
          <p:spPr bwMode="auto">
            <a:xfrm>
              <a:off x="3845" y="1543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</a:t>
              </a:r>
              <a:r>
                <a:rPr lang="en-US" sz="1200"/>
                <a:t>d</a:t>
              </a:r>
            </a:p>
          </p:txBody>
        </p:sp>
        <p:sp>
          <p:nvSpPr>
            <p:cNvPr id="19522" name="Text Box 61"/>
            <p:cNvSpPr txBox="1">
              <a:spLocks noChangeArrowheads="1"/>
            </p:cNvSpPr>
            <p:nvPr/>
          </p:nvSpPr>
          <p:spPr bwMode="auto">
            <a:xfrm>
              <a:off x="1493" y="1351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</a:t>
              </a:r>
              <a:r>
                <a:rPr lang="en-US" sz="1200"/>
                <a:t>b</a:t>
              </a:r>
            </a:p>
          </p:txBody>
        </p:sp>
        <p:sp>
          <p:nvSpPr>
            <p:cNvPr id="19523" name="Text Box 62"/>
            <p:cNvSpPr txBox="1">
              <a:spLocks noChangeArrowheads="1"/>
            </p:cNvSpPr>
            <p:nvPr/>
          </p:nvSpPr>
          <p:spPr bwMode="auto">
            <a:xfrm>
              <a:off x="4181" y="1379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</a:t>
              </a:r>
              <a:r>
                <a:rPr lang="en-US" sz="1200"/>
                <a:t>r</a:t>
              </a:r>
            </a:p>
          </p:txBody>
        </p:sp>
        <p:sp>
          <p:nvSpPr>
            <p:cNvPr id="19524" name="Text Box 63"/>
            <p:cNvSpPr txBox="1">
              <a:spLocks noChangeArrowheads="1"/>
            </p:cNvSpPr>
            <p:nvPr/>
          </p:nvSpPr>
          <p:spPr bwMode="auto">
            <a:xfrm>
              <a:off x="3429" y="419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</a:t>
              </a:r>
              <a:r>
                <a:rPr lang="en-US" sz="1200"/>
                <a:t>p</a:t>
              </a:r>
            </a:p>
          </p:txBody>
        </p:sp>
        <p:sp>
          <p:nvSpPr>
            <p:cNvPr id="19525" name="Text Box 64"/>
            <p:cNvSpPr txBox="1">
              <a:spLocks noChangeArrowheads="1"/>
            </p:cNvSpPr>
            <p:nvPr/>
          </p:nvSpPr>
          <p:spPr bwMode="auto">
            <a:xfrm>
              <a:off x="4373" y="563"/>
              <a:ext cx="23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</a:t>
              </a:r>
              <a:r>
                <a:rPr lang="en-US" sz="1200"/>
                <a:t>i</a:t>
              </a:r>
            </a:p>
          </p:txBody>
        </p:sp>
        <p:sp>
          <p:nvSpPr>
            <p:cNvPr id="19526" name="Text Box 65"/>
            <p:cNvSpPr txBox="1">
              <a:spLocks noChangeArrowheads="1"/>
            </p:cNvSpPr>
            <p:nvPr/>
          </p:nvSpPr>
          <p:spPr bwMode="auto">
            <a:xfrm>
              <a:off x="2693" y="439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</a:t>
              </a:r>
              <a:r>
                <a:rPr lang="en-US" sz="1200"/>
                <a:t>p</a:t>
              </a:r>
            </a:p>
          </p:txBody>
        </p:sp>
        <p:sp>
          <p:nvSpPr>
            <p:cNvPr id="19527" name="Text Box 66"/>
            <p:cNvSpPr txBox="1">
              <a:spLocks noChangeArrowheads="1"/>
            </p:cNvSpPr>
            <p:nvPr/>
          </p:nvSpPr>
          <p:spPr bwMode="auto">
            <a:xfrm>
              <a:off x="3045" y="727"/>
              <a:ext cx="2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</a:t>
              </a:r>
              <a:r>
                <a:rPr lang="en-US" sz="1200"/>
                <a:t>n</a:t>
              </a:r>
            </a:p>
          </p:txBody>
        </p:sp>
        <p:sp>
          <p:nvSpPr>
            <p:cNvPr id="19528" name="Text Box 67"/>
            <p:cNvSpPr txBox="1">
              <a:spLocks noChangeArrowheads="1"/>
            </p:cNvSpPr>
            <p:nvPr/>
          </p:nvSpPr>
          <p:spPr bwMode="auto">
            <a:xfrm>
              <a:off x="3221" y="157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</a:t>
              </a:r>
              <a:r>
                <a:rPr lang="en-US" sz="1200"/>
                <a:t>f</a:t>
              </a:r>
            </a:p>
          </p:txBody>
        </p:sp>
        <p:sp>
          <p:nvSpPr>
            <p:cNvPr id="19529" name="Text Box 68"/>
            <p:cNvSpPr txBox="1">
              <a:spLocks noChangeArrowheads="1"/>
            </p:cNvSpPr>
            <p:nvPr/>
          </p:nvSpPr>
          <p:spPr bwMode="auto">
            <a:xfrm>
              <a:off x="4954" y="1475"/>
              <a:ext cx="25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</a:t>
              </a:r>
              <a:r>
                <a:rPr lang="en-US" sz="1200"/>
                <a:t>c</a:t>
              </a:r>
            </a:p>
          </p:txBody>
        </p:sp>
        <p:sp>
          <p:nvSpPr>
            <p:cNvPr id="19530" name="Text Box 69"/>
            <p:cNvSpPr txBox="1">
              <a:spLocks noChangeArrowheads="1"/>
            </p:cNvSpPr>
            <p:nvPr/>
          </p:nvSpPr>
          <p:spPr bwMode="auto">
            <a:xfrm>
              <a:off x="4469" y="851"/>
              <a:ext cx="23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</a:t>
              </a:r>
              <a:r>
                <a:rPr lang="en-US" sz="1200"/>
                <a:t>i</a:t>
              </a:r>
            </a:p>
          </p:txBody>
        </p:sp>
        <p:sp>
          <p:nvSpPr>
            <p:cNvPr id="19531" name="Line 70"/>
            <p:cNvSpPr>
              <a:spLocks noChangeShapeType="1"/>
            </p:cNvSpPr>
            <p:nvPr/>
          </p:nvSpPr>
          <p:spPr bwMode="auto">
            <a:xfrm>
              <a:off x="2373" y="1063"/>
              <a:ext cx="0" cy="201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2" name="Line 71"/>
            <p:cNvSpPr>
              <a:spLocks noChangeShapeType="1"/>
            </p:cNvSpPr>
            <p:nvPr/>
          </p:nvSpPr>
          <p:spPr bwMode="auto">
            <a:xfrm flipV="1">
              <a:off x="1125" y="1063"/>
              <a:ext cx="1104" cy="96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3" name="Rectangle 72"/>
            <p:cNvSpPr>
              <a:spLocks noChangeArrowheads="1"/>
            </p:cNvSpPr>
            <p:nvPr/>
          </p:nvSpPr>
          <p:spPr bwMode="auto">
            <a:xfrm>
              <a:off x="897" y="1975"/>
              <a:ext cx="240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200"/>
                <a:t>PCU</a:t>
              </a:r>
            </a:p>
          </p:txBody>
        </p:sp>
        <p:sp>
          <p:nvSpPr>
            <p:cNvPr id="19534" name="Line 73"/>
            <p:cNvSpPr>
              <a:spLocks noChangeShapeType="1"/>
            </p:cNvSpPr>
            <p:nvPr/>
          </p:nvSpPr>
          <p:spPr bwMode="auto">
            <a:xfrm>
              <a:off x="2517" y="1063"/>
              <a:ext cx="960" cy="86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35" name="Text Box 74"/>
            <p:cNvSpPr txBox="1">
              <a:spLocks noChangeArrowheads="1"/>
            </p:cNvSpPr>
            <p:nvPr/>
          </p:nvSpPr>
          <p:spPr bwMode="auto">
            <a:xfrm>
              <a:off x="2133" y="1460"/>
              <a:ext cx="25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Gs</a:t>
              </a:r>
            </a:p>
          </p:txBody>
        </p:sp>
      </p:grp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63513" y="3028950"/>
            <a:ext cx="8534400" cy="3276600"/>
            <a:chOff x="96" y="1536"/>
            <a:chExt cx="5376" cy="2448"/>
          </a:xfrm>
        </p:grpSpPr>
        <p:grpSp>
          <p:nvGrpSpPr>
            <p:cNvPr id="4" name="Group 3"/>
            <p:cNvGrpSpPr>
              <a:grpSpLocks/>
            </p:cNvGrpSpPr>
            <p:nvPr/>
          </p:nvGrpSpPr>
          <p:grpSpPr bwMode="auto">
            <a:xfrm>
              <a:off x="96" y="1536"/>
              <a:ext cx="5376" cy="2448"/>
              <a:chOff x="96" y="1536"/>
              <a:chExt cx="5376" cy="2448"/>
            </a:xfrm>
          </p:grpSpPr>
          <p:grpSp>
            <p:nvGrpSpPr>
              <p:cNvPr id="5" name="Group 4"/>
              <p:cNvGrpSpPr>
                <a:grpSpLocks/>
              </p:cNvGrpSpPr>
              <p:nvPr/>
            </p:nvGrpSpPr>
            <p:grpSpPr bwMode="auto">
              <a:xfrm>
                <a:off x="96" y="1536"/>
                <a:ext cx="5376" cy="2448"/>
                <a:chOff x="96" y="1536"/>
                <a:chExt cx="5376" cy="2448"/>
              </a:xfrm>
            </p:grpSpPr>
            <p:grpSp>
              <p:nvGrpSpPr>
                <p:cNvPr id="6" name="Group 5"/>
                <p:cNvGrpSpPr>
                  <a:grpSpLocks/>
                </p:cNvGrpSpPr>
                <p:nvPr/>
              </p:nvGrpSpPr>
              <p:grpSpPr bwMode="auto">
                <a:xfrm>
                  <a:off x="96" y="2016"/>
                  <a:ext cx="1152" cy="768"/>
                  <a:chOff x="192" y="2304"/>
                  <a:chExt cx="1152" cy="768"/>
                </a:xfrm>
              </p:grpSpPr>
              <p:sp>
                <p:nvSpPr>
                  <p:cNvPr id="19496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192" y="2304"/>
                    <a:ext cx="1152" cy="768"/>
                  </a:xfrm>
                  <a:prstGeom prst="rect">
                    <a:avLst/>
                  </a:prstGeom>
                  <a:solidFill>
                    <a:srgbClr val="C0C0C0"/>
                  </a:solidFill>
                  <a:ln w="9525">
                    <a:miter lim="800000"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887400" prstMaterial="legacyMatte">
                    <a:bevelT w="13500" h="13500" prst="angle"/>
                    <a:bevelB w="13500" h="13500" prst="angle"/>
                    <a:extrusionClr>
                      <a:srgbClr val="C0C0C0"/>
                    </a:extrusionClr>
                  </a:sp3d>
                </p:spPr>
                <p:txBody>
                  <a:bodyPr wrap="none" anchor="ctr">
                    <a:flatTx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497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867" y="2463"/>
                    <a:ext cx="358" cy="185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sz="1200">
                        <a:latin typeface="Tahoma" pitchFamily="34" charset="0"/>
                      </a:rPr>
                      <a:t>BSC</a:t>
                    </a:r>
                  </a:p>
                </p:txBody>
              </p:sp>
              <p:sp>
                <p:nvSpPr>
                  <p:cNvPr id="19498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867" y="2754"/>
                    <a:ext cx="358" cy="18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sz="1200">
                        <a:latin typeface="Tahoma" pitchFamily="34" charset="0"/>
                      </a:rPr>
                      <a:t>BSC</a:t>
                    </a:r>
                  </a:p>
                </p:txBody>
              </p:sp>
              <p:sp>
                <p:nvSpPr>
                  <p:cNvPr id="19499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351" y="2383"/>
                    <a:ext cx="199" cy="10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sz="1200">
                        <a:latin typeface="Tahoma" pitchFamily="34" charset="0"/>
                      </a:rPr>
                      <a:t>BTS</a:t>
                    </a:r>
                  </a:p>
                </p:txBody>
              </p:sp>
              <p:sp>
                <p:nvSpPr>
                  <p:cNvPr id="19500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351" y="2569"/>
                    <a:ext cx="199" cy="10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sz="1200">
                        <a:latin typeface="Tahoma" pitchFamily="34" charset="0"/>
                      </a:rPr>
                      <a:t>BTS</a:t>
                    </a:r>
                  </a:p>
                </p:txBody>
              </p:sp>
              <p:sp>
                <p:nvSpPr>
                  <p:cNvPr id="1950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351" y="2781"/>
                    <a:ext cx="199" cy="10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sz="1200">
                        <a:latin typeface="Tahoma" pitchFamily="34" charset="0"/>
                      </a:rPr>
                      <a:t>BTS</a:t>
                    </a:r>
                  </a:p>
                </p:txBody>
              </p:sp>
              <p:sp>
                <p:nvSpPr>
                  <p:cNvPr id="19502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510" y="2383"/>
                    <a:ext cx="357" cy="13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503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50" y="2569"/>
                    <a:ext cx="317" cy="7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504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550" y="2834"/>
                    <a:ext cx="31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9474" name="Line 15"/>
                <p:cNvSpPr>
                  <a:spLocks noChangeShapeType="1"/>
                </p:cNvSpPr>
                <p:nvPr/>
              </p:nvSpPr>
              <p:spPr bwMode="auto">
                <a:xfrm>
                  <a:off x="1104" y="2640"/>
                  <a:ext cx="1248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75" name="Line 16"/>
                <p:cNvSpPr>
                  <a:spLocks noChangeShapeType="1"/>
                </p:cNvSpPr>
                <p:nvPr/>
              </p:nvSpPr>
              <p:spPr bwMode="auto">
                <a:xfrm>
                  <a:off x="1104" y="2352"/>
                  <a:ext cx="1200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76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262" y="1536"/>
                  <a:ext cx="458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BSS</a:t>
                  </a:r>
                </a:p>
              </p:txBody>
            </p:sp>
            <p:grpSp>
              <p:nvGrpSpPr>
                <p:cNvPr id="7" name="Group 18"/>
                <p:cNvGrpSpPr>
                  <a:grpSpLocks/>
                </p:cNvGrpSpPr>
                <p:nvPr/>
              </p:nvGrpSpPr>
              <p:grpSpPr bwMode="auto">
                <a:xfrm>
                  <a:off x="1872" y="2016"/>
                  <a:ext cx="3600" cy="1968"/>
                  <a:chOff x="1872" y="2016"/>
                  <a:chExt cx="3600" cy="1968"/>
                </a:xfrm>
              </p:grpSpPr>
              <p:sp>
                <p:nvSpPr>
                  <p:cNvPr id="19479" name="Oval 19"/>
                  <p:cNvSpPr>
                    <a:spLocks noChangeArrowheads="1"/>
                  </p:cNvSpPr>
                  <p:nvPr/>
                </p:nvSpPr>
                <p:spPr bwMode="auto">
                  <a:xfrm>
                    <a:off x="1872" y="2688"/>
                    <a:ext cx="2592" cy="1296"/>
                  </a:xfrm>
                  <a:prstGeom prst="ellipse">
                    <a:avLst/>
                  </a:prstGeom>
                  <a:solidFill>
                    <a:srgbClr val="CCFFCC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9480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2640" y="2016"/>
                    <a:ext cx="480" cy="33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b="1"/>
                      <a:t>AuC</a:t>
                    </a:r>
                  </a:p>
                </p:txBody>
              </p:sp>
              <p:sp>
                <p:nvSpPr>
                  <p:cNvPr id="19481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2784" y="3360"/>
                    <a:ext cx="120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482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800" y="2928"/>
                    <a:ext cx="672" cy="528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/>
                      <a:t>ISDN</a:t>
                    </a:r>
                  </a:p>
                  <a:p>
                    <a:r>
                      <a:rPr lang="en-US"/>
                      <a:t>PSTN</a:t>
                    </a:r>
                  </a:p>
                </p:txBody>
              </p:sp>
              <p:sp>
                <p:nvSpPr>
                  <p:cNvPr id="19483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4116" y="3336"/>
                    <a:ext cx="67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484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456" y="2016"/>
                    <a:ext cx="480" cy="33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b="1"/>
                      <a:t>EIR</a:t>
                    </a:r>
                  </a:p>
                </p:txBody>
              </p:sp>
              <p:sp>
                <p:nvSpPr>
                  <p:cNvPr id="19485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4188" y="2016"/>
                    <a:ext cx="576" cy="33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b="1"/>
                      <a:t>SMSC</a:t>
                    </a:r>
                  </a:p>
                </p:txBody>
              </p:sp>
              <p:sp>
                <p:nvSpPr>
                  <p:cNvPr id="19486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4992" y="2016"/>
                    <a:ext cx="480" cy="33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b="1"/>
                      <a:t>HLR</a:t>
                    </a:r>
                  </a:p>
                </p:txBody>
              </p:sp>
              <p:sp>
                <p:nvSpPr>
                  <p:cNvPr id="19487" name="Line 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688" y="2352"/>
                    <a:ext cx="768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488" name="Line 2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688" y="2352"/>
                    <a:ext cx="1536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489" name="Line 2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36" y="2352"/>
                    <a:ext cx="2256" cy="91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490" name="Line 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36" y="2352"/>
                    <a:ext cx="1056" cy="91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491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2688" y="2352"/>
                    <a:ext cx="0" cy="86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492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2304" y="3168"/>
                    <a:ext cx="480" cy="33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b="1"/>
                      <a:t>MSC</a:t>
                    </a:r>
                  </a:p>
                </p:txBody>
              </p:sp>
              <p:sp>
                <p:nvSpPr>
                  <p:cNvPr id="19493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3456" y="3168"/>
                    <a:ext cx="624" cy="33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b="1"/>
                      <a:t>GMSC</a:t>
                    </a:r>
                  </a:p>
                </p:txBody>
              </p:sp>
              <p:sp>
                <p:nvSpPr>
                  <p:cNvPr id="19494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44" y="2076"/>
                    <a:ext cx="116" cy="17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1200"/>
                  </a:p>
                </p:txBody>
              </p:sp>
              <p:sp>
                <p:nvSpPr>
                  <p:cNvPr id="19495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3504"/>
                    <a:ext cx="384" cy="19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r>
                      <a:rPr lang="en-US" sz="1400" b="1"/>
                      <a:t>VLR</a:t>
                    </a:r>
                  </a:p>
                </p:txBody>
              </p:sp>
            </p:grpSp>
            <p:sp>
              <p:nvSpPr>
                <p:cNvPr id="19478" name="Rectangle 36"/>
                <p:cNvSpPr>
                  <a:spLocks noChangeArrowheads="1"/>
                </p:cNvSpPr>
                <p:nvPr/>
              </p:nvSpPr>
              <p:spPr bwMode="auto">
                <a:xfrm>
                  <a:off x="144" y="3264"/>
                  <a:ext cx="144" cy="288"/>
                </a:xfrm>
                <a:prstGeom prst="rect">
                  <a:avLst/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9471" name="Text Box 37"/>
              <p:cNvSpPr txBox="1">
                <a:spLocks noChangeArrowheads="1"/>
              </p:cNvSpPr>
              <p:nvPr/>
            </p:nvSpPr>
            <p:spPr bwMode="auto">
              <a:xfrm>
                <a:off x="106" y="3552"/>
                <a:ext cx="278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MS</a:t>
                </a:r>
              </a:p>
            </p:txBody>
          </p:sp>
          <p:sp>
            <p:nvSpPr>
              <p:cNvPr id="19472" name="Rectangle 38"/>
              <p:cNvSpPr>
                <a:spLocks noChangeArrowheads="1"/>
              </p:cNvSpPr>
              <p:nvPr/>
            </p:nvSpPr>
            <p:spPr bwMode="auto">
              <a:xfrm>
                <a:off x="240" y="3168"/>
                <a:ext cx="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466" name="Line 39"/>
            <p:cNvSpPr>
              <a:spLocks noChangeShapeType="1"/>
            </p:cNvSpPr>
            <p:nvPr/>
          </p:nvSpPr>
          <p:spPr bwMode="auto">
            <a:xfrm flipH="1">
              <a:off x="192" y="2688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Line 40"/>
            <p:cNvSpPr>
              <a:spLocks noChangeShapeType="1"/>
            </p:cNvSpPr>
            <p:nvPr/>
          </p:nvSpPr>
          <p:spPr bwMode="auto">
            <a:xfrm>
              <a:off x="192" y="2880"/>
              <a:ext cx="14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Line 41"/>
            <p:cNvSpPr>
              <a:spLocks noChangeShapeType="1"/>
            </p:cNvSpPr>
            <p:nvPr/>
          </p:nvSpPr>
          <p:spPr bwMode="auto">
            <a:xfrm flipH="1">
              <a:off x="192" y="292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9" name="Text Box 42"/>
            <p:cNvSpPr txBox="1">
              <a:spLocks noChangeArrowheads="1"/>
            </p:cNvSpPr>
            <p:nvPr/>
          </p:nvSpPr>
          <p:spPr bwMode="auto">
            <a:xfrm>
              <a:off x="256" y="2928"/>
              <a:ext cx="224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900"/>
                <a:t>Um</a:t>
              </a:r>
            </a:p>
          </p:txBody>
        </p:sp>
      </p:grpSp>
      <p:sp>
        <p:nvSpPr>
          <p:cNvPr id="82" name="Rectangle 4"/>
          <p:cNvSpPr txBox="1">
            <a:spLocks noChangeArrowheads="1"/>
          </p:cNvSpPr>
          <p:nvPr/>
        </p:nvSpPr>
        <p:spPr bwMode="gray">
          <a:xfrm>
            <a:off x="498475" y="177800"/>
            <a:ext cx="7872413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ct val="90000"/>
              </a:lnSpc>
              <a:defRPr/>
            </a:pPr>
            <a:r>
              <a:rPr lang="en-GB" sz="24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GPRS – Node Connectivity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Line 52"/>
          <p:cNvSpPr>
            <a:spLocks noChangeShapeType="1"/>
          </p:cNvSpPr>
          <p:nvPr/>
        </p:nvSpPr>
        <p:spPr bwMode="auto">
          <a:xfrm flipH="1">
            <a:off x="2292350" y="3043238"/>
            <a:ext cx="26988" cy="109220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pic>
        <p:nvPicPr>
          <p:cNvPr id="1030" name="Picture 4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482975"/>
            <a:ext cx="12731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2723ADA-4B3E-4A26-93DE-21F0AAF8C5F0}" type="slidenum">
              <a:rPr lang="en-GB" smtClean="0"/>
              <a:pPr/>
              <a:t>3</a:t>
            </a:fld>
            <a:endParaRPr lang="en-GB" smtClean="0"/>
          </a:p>
        </p:txBody>
      </p:sp>
      <p:sp>
        <p:nvSpPr>
          <p:cNvPr id="103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Presentation title in footer</a:t>
            </a:r>
          </a:p>
        </p:txBody>
      </p:sp>
      <p:sp>
        <p:nvSpPr>
          <p:cNvPr id="1033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20D8A3B2-4DF4-42DC-B106-7B81CCF774F0}" type="datetime4">
              <a:rPr lang="en-GB" smtClean="0"/>
              <a:pPr/>
              <a:t>18 June 2013</a:t>
            </a:fld>
            <a:endParaRPr lang="en-GB" smtClean="0"/>
          </a:p>
        </p:txBody>
      </p:sp>
      <p:sp>
        <p:nvSpPr>
          <p:cNvPr id="1034" name="Rectangle 4"/>
          <p:cNvSpPr>
            <a:spLocks noGrp="1" noChangeArrowheads="1"/>
          </p:cNvSpPr>
          <p:nvPr>
            <p:ph type="title"/>
          </p:nvPr>
        </p:nvSpPr>
        <p:spPr bwMode="gray">
          <a:xfrm>
            <a:off x="604838" y="142875"/>
            <a:ext cx="7872412" cy="431800"/>
          </a:xfrm>
        </p:spPr>
        <p:txBody>
          <a:bodyPr/>
          <a:lstStyle/>
          <a:p>
            <a:r>
              <a:rPr lang="en-GB" smtClean="0"/>
              <a:t>Basic Call Flow</a:t>
            </a:r>
          </a:p>
        </p:txBody>
      </p:sp>
      <p:grpSp>
        <p:nvGrpSpPr>
          <p:cNvPr id="2" name="Group 105"/>
          <p:cNvGrpSpPr>
            <a:grpSpLocks/>
          </p:cNvGrpSpPr>
          <p:nvPr/>
        </p:nvGrpSpPr>
        <p:grpSpPr bwMode="auto">
          <a:xfrm>
            <a:off x="885825" y="1460500"/>
            <a:ext cx="496888" cy="1357313"/>
            <a:chOff x="885848" y="1460359"/>
            <a:chExt cx="496887" cy="1357335"/>
          </a:xfrm>
        </p:grpSpPr>
        <p:pic>
          <p:nvPicPr>
            <p:cNvPr id="1084" name="Picture 7"/>
            <p:cNvPicPr>
              <a:picLocks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967736" y="2093794"/>
              <a:ext cx="409575" cy="723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85" name="Rectangle 9"/>
            <p:cNvSpPr>
              <a:spLocks noChangeArrowheads="1"/>
            </p:cNvSpPr>
            <p:nvPr/>
          </p:nvSpPr>
          <p:spPr bwMode="auto">
            <a:xfrm>
              <a:off x="885848" y="1460359"/>
              <a:ext cx="496887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Helvetica 45 Light" pitchFamily="34" charset="0"/>
                </a:rPr>
                <a:t>BSC</a:t>
              </a:r>
            </a:p>
          </p:txBody>
        </p:sp>
      </p:grpSp>
      <p:sp>
        <p:nvSpPr>
          <p:cNvPr id="15" name="Line 11"/>
          <p:cNvSpPr>
            <a:spLocks noChangeShapeType="1"/>
          </p:cNvSpPr>
          <p:nvPr/>
        </p:nvSpPr>
        <p:spPr bwMode="auto">
          <a:xfrm flipV="1">
            <a:off x="1349375" y="2216150"/>
            <a:ext cx="8382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 flipV="1">
            <a:off x="2886075" y="2524125"/>
            <a:ext cx="785813" cy="4763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grpSp>
        <p:nvGrpSpPr>
          <p:cNvPr id="3" name="Group 109"/>
          <p:cNvGrpSpPr>
            <a:grpSpLocks/>
          </p:cNvGrpSpPr>
          <p:nvPr/>
        </p:nvGrpSpPr>
        <p:grpSpPr bwMode="auto">
          <a:xfrm>
            <a:off x="5307013" y="2017713"/>
            <a:ext cx="1352550" cy="1244600"/>
            <a:chOff x="5306714" y="2017594"/>
            <a:chExt cx="1353403" cy="1244993"/>
          </a:xfrm>
        </p:grpSpPr>
        <p:graphicFrame>
          <p:nvGraphicFramePr>
            <p:cNvPr id="1028" name="Object 7"/>
            <p:cNvGraphicFramePr>
              <a:graphicFrameLocks noChangeAspect="1"/>
            </p:cNvGraphicFramePr>
            <p:nvPr/>
          </p:nvGraphicFramePr>
          <p:xfrm>
            <a:off x="5661440" y="2017594"/>
            <a:ext cx="595312" cy="914400"/>
          </p:xfrm>
          <a:graphic>
            <a:graphicData uri="http://schemas.openxmlformats.org/presentationml/2006/ole">
              <p:oleObj spid="_x0000_s1028" name="Clip" r:id="rId6" imgW="3031560" imgH="4533480" progId="">
                <p:embed/>
              </p:oleObj>
            </a:graphicData>
          </a:graphic>
        </p:graphicFrame>
        <p:sp>
          <p:nvSpPr>
            <p:cNvPr id="1083" name="Rectangle 16"/>
            <p:cNvSpPr>
              <a:spLocks noChangeArrowheads="1"/>
            </p:cNvSpPr>
            <p:nvPr/>
          </p:nvSpPr>
          <p:spPr bwMode="auto">
            <a:xfrm>
              <a:off x="5306714" y="2924033"/>
              <a:ext cx="135340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Helvetica 45 Light" pitchFamily="34" charset="0"/>
                </a:rPr>
                <a:t>FIREWALL</a:t>
              </a:r>
            </a:p>
          </p:txBody>
        </p:sp>
      </p:grpSp>
      <p:sp>
        <p:nvSpPr>
          <p:cNvPr id="1039" name="Oval 18"/>
          <p:cNvSpPr>
            <a:spLocks noChangeArrowheads="1"/>
          </p:cNvSpPr>
          <p:nvPr/>
        </p:nvSpPr>
        <p:spPr bwMode="auto">
          <a:xfrm>
            <a:off x="587375" y="1408113"/>
            <a:ext cx="381000" cy="4572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0" name="Rectangle 19"/>
          <p:cNvSpPr>
            <a:spLocks noChangeArrowheads="1"/>
          </p:cNvSpPr>
          <p:nvPr/>
        </p:nvSpPr>
        <p:spPr bwMode="auto">
          <a:xfrm>
            <a:off x="587375" y="1331913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112"/>
          <p:cNvGrpSpPr>
            <a:grpSpLocks/>
          </p:cNvGrpSpPr>
          <p:nvPr/>
        </p:nvGrpSpPr>
        <p:grpSpPr bwMode="auto">
          <a:xfrm>
            <a:off x="3559175" y="1438275"/>
            <a:ext cx="1036638" cy="1874838"/>
            <a:chOff x="3558536" y="1438157"/>
            <a:chExt cx="1036637" cy="1874837"/>
          </a:xfrm>
        </p:grpSpPr>
        <p:sp>
          <p:nvSpPr>
            <p:cNvPr id="1082" name="Rectangle 10"/>
            <p:cNvSpPr>
              <a:spLocks noChangeArrowheads="1"/>
            </p:cNvSpPr>
            <p:nvPr/>
          </p:nvSpPr>
          <p:spPr bwMode="auto">
            <a:xfrm>
              <a:off x="3610923" y="1438157"/>
              <a:ext cx="633413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Helvetica 45 Light" pitchFamily="34" charset="0"/>
                </a:rPr>
                <a:t>GGSN</a:t>
              </a:r>
            </a:p>
          </p:txBody>
        </p:sp>
        <p:graphicFrame>
          <p:nvGraphicFramePr>
            <p:cNvPr id="1027" name="Object 9"/>
            <p:cNvGraphicFramePr>
              <a:graphicFrameLocks noChangeAspect="1"/>
            </p:cNvGraphicFramePr>
            <p:nvPr/>
          </p:nvGraphicFramePr>
          <p:xfrm flipH="1">
            <a:off x="3558536" y="1788994"/>
            <a:ext cx="1036637" cy="1524000"/>
          </p:xfrm>
          <a:graphic>
            <a:graphicData uri="http://schemas.openxmlformats.org/presentationml/2006/ole">
              <p:oleObj spid="_x0000_s1027" name="Clip" r:id="rId7" imgW="1634400" imgH="2286360" progId="">
                <p:embed/>
              </p:oleObj>
            </a:graphicData>
          </a:graphic>
        </p:graphicFrame>
      </p:grpSp>
      <p:sp>
        <p:nvSpPr>
          <p:cNvPr id="1042" name="Oval 23"/>
          <p:cNvSpPr>
            <a:spLocks noChangeArrowheads="1"/>
          </p:cNvSpPr>
          <p:nvPr/>
        </p:nvSpPr>
        <p:spPr bwMode="auto">
          <a:xfrm>
            <a:off x="1806575" y="5065713"/>
            <a:ext cx="304800" cy="3810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 flipV="1">
            <a:off x="382588" y="2238375"/>
            <a:ext cx="558800" cy="1514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110"/>
          <p:cNvGrpSpPr>
            <a:grpSpLocks/>
          </p:cNvGrpSpPr>
          <p:nvPr/>
        </p:nvGrpSpPr>
        <p:grpSpPr bwMode="auto">
          <a:xfrm>
            <a:off x="5608638" y="4146550"/>
            <a:ext cx="879475" cy="706438"/>
            <a:chOff x="5609232" y="4146698"/>
            <a:chExt cx="878767" cy="707050"/>
          </a:xfrm>
        </p:grpSpPr>
        <p:sp>
          <p:nvSpPr>
            <p:cNvPr id="1080" name="AutoShape 37"/>
            <p:cNvSpPr>
              <a:spLocks noChangeArrowheads="1"/>
            </p:cNvSpPr>
            <p:nvPr/>
          </p:nvSpPr>
          <p:spPr bwMode="auto">
            <a:xfrm>
              <a:off x="5834432" y="4146698"/>
              <a:ext cx="457200" cy="381000"/>
            </a:xfrm>
            <a:prstGeom prst="can">
              <a:avLst>
                <a:gd name="adj" fmla="val 25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1" name="Rectangle 41"/>
            <p:cNvSpPr>
              <a:spLocks noChangeArrowheads="1"/>
            </p:cNvSpPr>
            <p:nvPr/>
          </p:nvSpPr>
          <p:spPr bwMode="auto">
            <a:xfrm>
              <a:off x="5609232" y="4515194"/>
              <a:ext cx="87876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Helvetica 45 Light" pitchFamily="34" charset="0"/>
                </a:rPr>
                <a:t>Gi DNS</a:t>
              </a:r>
            </a:p>
          </p:txBody>
        </p:sp>
      </p:grpSp>
      <p:sp>
        <p:nvSpPr>
          <p:cNvPr id="46" name="Line 44"/>
          <p:cNvSpPr>
            <a:spLocks noChangeShapeType="1"/>
          </p:cNvSpPr>
          <p:nvPr/>
        </p:nvSpPr>
        <p:spPr bwMode="auto">
          <a:xfrm flipV="1">
            <a:off x="804863" y="2798763"/>
            <a:ext cx="496887" cy="1227137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" name="Line 45"/>
          <p:cNvSpPr>
            <a:spLocks noChangeShapeType="1"/>
          </p:cNvSpPr>
          <p:nvPr/>
        </p:nvSpPr>
        <p:spPr bwMode="auto">
          <a:xfrm flipV="1">
            <a:off x="546100" y="2565400"/>
            <a:ext cx="436563" cy="1106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111"/>
          <p:cNvGrpSpPr>
            <a:grpSpLocks/>
          </p:cNvGrpSpPr>
          <p:nvPr/>
        </p:nvGrpSpPr>
        <p:grpSpPr bwMode="auto">
          <a:xfrm>
            <a:off x="7634288" y="1966913"/>
            <a:ext cx="1509712" cy="1254125"/>
            <a:chOff x="7633648" y="1966418"/>
            <a:chExt cx="1510352" cy="1254457"/>
          </a:xfrm>
        </p:grpSpPr>
        <p:pic>
          <p:nvPicPr>
            <p:cNvPr id="1078" name="Picture 48"/>
            <p:cNvPicPr>
              <a:picLocks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7633648" y="1966418"/>
              <a:ext cx="1510352" cy="1254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79" name="Text Box 49"/>
            <p:cNvSpPr txBox="1">
              <a:spLocks noChangeArrowheads="1"/>
            </p:cNvSpPr>
            <p:nvPr/>
          </p:nvSpPr>
          <p:spPr bwMode="auto">
            <a:xfrm>
              <a:off x="7938447" y="2322394"/>
              <a:ext cx="104177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b="1">
                  <a:latin typeface="Helvetica 45 Light" pitchFamily="34" charset="0"/>
                </a:rPr>
                <a:t>Internet</a:t>
              </a:r>
            </a:p>
          </p:txBody>
        </p:sp>
      </p:grpSp>
      <p:pic>
        <p:nvPicPr>
          <p:cNvPr id="1048" name="Picture 5"/>
          <p:cNvPicPr>
            <a:picLocks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-26988" y="3554413"/>
            <a:ext cx="914401" cy="1208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113"/>
          <p:cNvGrpSpPr>
            <a:grpSpLocks/>
          </p:cNvGrpSpPr>
          <p:nvPr/>
        </p:nvGrpSpPr>
        <p:grpSpPr bwMode="auto">
          <a:xfrm>
            <a:off x="1939925" y="4121150"/>
            <a:ext cx="868363" cy="693738"/>
            <a:chOff x="1940192" y="4121674"/>
            <a:chExt cx="867545" cy="693402"/>
          </a:xfrm>
        </p:grpSpPr>
        <p:sp>
          <p:nvSpPr>
            <p:cNvPr id="1076" name="AutoShape 37"/>
            <p:cNvSpPr>
              <a:spLocks noChangeArrowheads="1"/>
            </p:cNvSpPr>
            <p:nvPr/>
          </p:nvSpPr>
          <p:spPr bwMode="auto">
            <a:xfrm>
              <a:off x="2151744" y="4121674"/>
              <a:ext cx="457200" cy="381000"/>
            </a:xfrm>
            <a:prstGeom prst="can">
              <a:avLst>
                <a:gd name="adj" fmla="val 25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7" name="Rectangle 41"/>
            <p:cNvSpPr>
              <a:spLocks noChangeArrowheads="1"/>
            </p:cNvSpPr>
            <p:nvPr/>
          </p:nvSpPr>
          <p:spPr bwMode="auto">
            <a:xfrm>
              <a:off x="1940192" y="4476522"/>
              <a:ext cx="86754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Helvetica 45 Light" pitchFamily="34" charset="0"/>
                </a:rPr>
                <a:t>IE DNS</a:t>
              </a:r>
            </a:p>
          </p:txBody>
        </p:sp>
      </p:grpSp>
      <p:sp>
        <p:nvSpPr>
          <p:cNvPr id="65" name="Line 52"/>
          <p:cNvSpPr>
            <a:spLocks noChangeShapeType="1"/>
          </p:cNvSpPr>
          <p:nvPr/>
        </p:nvSpPr>
        <p:spPr bwMode="auto">
          <a:xfrm flipV="1">
            <a:off x="2455863" y="3032125"/>
            <a:ext cx="30162" cy="1089025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67" name="Line 12"/>
          <p:cNvSpPr>
            <a:spLocks noChangeShapeType="1"/>
          </p:cNvSpPr>
          <p:nvPr/>
        </p:nvSpPr>
        <p:spPr bwMode="auto">
          <a:xfrm flipH="1">
            <a:off x="2841625" y="2689225"/>
            <a:ext cx="788988" cy="1588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69" name="Line 52"/>
          <p:cNvSpPr>
            <a:spLocks noChangeShapeType="1"/>
          </p:cNvSpPr>
          <p:nvPr/>
        </p:nvSpPr>
        <p:spPr bwMode="auto">
          <a:xfrm flipH="1">
            <a:off x="2647950" y="1282700"/>
            <a:ext cx="26988" cy="6969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" name="Line 52"/>
          <p:cNvSpPr>
            <a:spLocks noChangeShapeType="1"/>
          </p:cNvSpPr>
          <p:nvPr/>
        </p:nvSpPr>
        <p:spPr bwMode="auto">
          <a:xfrm flipV="1">
            <a:off x="2390775" y="1270000"/>
            <a:ext cx="11113" cy="6842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106"/>
          <p:cNvGrpSpPr>
            <a:grpSpLocks/>
          </p:cNvGrpSpPr>
          <p:nvPr/>
        </p:nvGrpSpPr>
        <p:grpSpPr bwMode="auto">
          <a:xfrm>
            <a:off x="2070100" y="1941513"/>
            <a:ext cx="817563" cy="1395412"/>
            <a:chOff x="2069792" y="1941394"/>
            <a:chExt cx="817231" cy="1395512"/>
          </a:xfrm>
        </p:grpSpPr>
        <p:graphicFrame>
          <p:nvGraphicFramePr>
            <p:cNvPr id="1026" name="Object 8"/>
            <p:cNvGraphicFramePr>
              <a:graphicFrameLocks noChangeAspect="1"/>
            </p:cNvGraphicFramePr>
            <p:nvPr/>
          </p:nvGraphicFramePr>
          <p:xfrm flipH="1">
            <a:off x="2110736" y="1941394"/>
            <a:ext cx="776287" cy="1143000"/>
          </p:xfrm>
          <a:graphic>
            <a:graphicData uri="http://schemas.openxmlformats.org/presentationml/2006/ole">
              <p:oleObj spid="_x0000_s1026" name="Clip" r:id="rId10" imgW="1634400" imgH="2286360" progId="">
                <p:embed/>
              </p:oleObj>
            </a:graphicData>
          </a:graphic>
        </p:graphicFrame>
        <p:sp>
          <p:nvSpPr>
            <p:cNvPr id="1075" name="Rectangle 8"/>
            <p:cNvSpPr>
              <a:spLocks noChangeArrowheads="1"/>
            </p:cNvSpPr>
            <p:nvPr/>
          </p:nvSpPr>
          <p:spPr bwMode="auto">
            <a:xfrm>
              <a:off x="2069792" y="3062269"/>
              <a:ext cx="615950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Helvetica 45 Light" pitchFamily="34" charset="0"/>
                </a:rPr>
                <a:t>SGSN</a:t>
              </a:r>
            </a:p>
          </p:txBody>
        </p:sp>
      </p:grpSp>
      <p:sp>
        <p:nvSpPr>
          <p:cNvPr id="73" name="Line 52"/>
          <p:cNvSpPr>
            <a:spLocks noChangeShapeType="1"/>
          </p:cNvSpPr>
          <p:nvPr/>
        </p:nvSpPr>
        <p:spPr bwMode="auto">
          <a:xfrm flipH="1" flipV="1">
            <a:off x="1282700" y="2374900"/>
            <a:ext cx="846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" name="Line 35"/>
          <p:cNvSpPr>
            <a:spLocks noChangeShapeType="1"/>
          </p:cNvSpPr>
          <p:nvPr/>
        </p:nvSpPr>
        <p:spPr bwMode="auto">
          <a:xfrm flipV="1">
            <a:off x="600075" y="2757488"/>
            <a:ext cx="465138" cy="1050925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5" name="Line 35"/>
          <p:cNvSpPr>
            <a:spLocks noChangeShapeType="1"/>
          </p:cNvSpPr>
          <p:nvPr/>
        </p:nvSpPr>
        <p:spPr bwMode="auto">
          <a:xfrm flipV="1">
            <a:off x="1365250" y="2524125"/>
            <a:ext cx="819150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6" name="Line 12"/>
          <p:cNvSpPr>
            <a:spLocks noChangeShapeType="1"/>
          </p:cNvSpPr>
          <p:nvPr/>
        </p:nvSpPr>
        <p:spPr bwMode="auto">
          <a:xfrm flipH="1">
            <a:off x="1341438" y="2660650"/>
            <a:ext cx="855662" cy="4763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7" name="Rectangle 41"/>
          <p:cNvSpPr>
            <a:spLocks noChangeArrowheads="1"/>
          </p:cNvSpPr>
          <p:nvPr/>
        </p:nvSpPr>
        <p:spPr bwMode="auto">
          <a:xfrm rot="-4046709">
            <a:off x="369094" y="3502819"/>
            <a:ext cx="16065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>
                <a:latin typeface="Helvetica 45 Light" pitchFamily="34" charset="0"/>
              </a:rPr>
              <a:t>www.gmail.com</a:t>
            </a:r>
          </a:p>
        </p:txBody>
      </p:sp>
      <p:sp>
        <p:nvSpPr>
          <p:cNvPr id="85" name="Line 45"/>
          <p:cNvSpPr>
            <a:spLocks noChangeShapeType="1"/>
          </p:cNvSpPr>
          <p:nvPr/>
        </p:nvSpPr>
        <p:spPr bwMode="auto">
          <a:xfrm flipV="1">
            <a:off x="698500" y="2770188"/>
            <a:ext cx="474663" cy="1135062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86" name="Line 44"/>
          <p:cNvSpPr>
            <a:spLocks noChangeShapeType="1"/>
          </p:cNvSpPr>
          <p:nvPr/>
        </p:nvSpPr>
        <p:spPr bwMode="auto">
          <a:xfrm>
            <a:off x="1323975" y="2784475"/>
            <a:ext cx="860425" cy="12700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7" name="Line 44"/>
          <p:cNvSpPr>
            <a:spLocks noChangeShapeType="1"/>
          </p:cNvSpPr>
          <p:nvPr/>
        </p:nvSpPr>
        <p:spPr bwMode="auto">
          <a:xfrm>
            <a:off x="4586288" y="2716213"/>
            <a:ext cx="1295400" cy="41275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8" name="Line 44"/>
          <p:cNvSpPr>
            <a:spLocks noChangeShapeType="1"/>
          </p:cNvSpPr>
          <p:nvPr/>
        </p:nvSpPr>
        <p:spPr bwMode="auto">
          <a:xfrm>
            <a:off x="6032500" y="2879725"/>
            <a:ext cx="1588" cy="1285875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9" name="Line 44"/>
          <p:cNvSpPr>
            <a:spLocks noChangeShapeType="1"/>
          </p:cNvSpPr>
          <p:nvPr/>
        </p:nvSpPr>
        <p:spPr bwMode="auto">
          <a:xfrm flipH="1" flipV="1">
            <a:off x="6181725" y="2865438"/>
            <a:ext cx="0" cy="1255712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0" name="Line 44"/>
          <p:cNvSpPr>
            <a:spLocks noChangeShapeType="1"/>
          </p:cNvSpPr>
          <p:nvPr/>
        </p:nvSpPr>
        <p:spPr bwMode="auto">
          <a:xfrm>
            <a:off x="6200775" y="2733675"/>
            <a:ext cx="1470025" cy="9525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108"/>
          <p:cNvGrpSpPr>
            <a:grpSpLocks/>
          </p:cNvGrpSpPr>
          <p:nvPr/>
        </p:nvGrpSpPr>
        <p:grpSpPr bwMode="auto">
          <a:xfrm>
            <a:off x="2152650" y="622300"/>
            <a:ext cx="593725" cy="688975"/>
            <a:chOff x="2152859" y="621549"/>
            <a:chExt cx="593432" cy="689765"/>
          </a:xfrm>
        </p:grpSpPr>
        <p:sp>
          <p:nvSpPr>
            <p:cNvPr id="68" name="AutoShape 37"/>
            <p:cNvSpPr>
              <a:spLocks noChangeArrowheads="1"/>
            </p:cNvSpPr>
            <p:nvPr/>
          </p:nvSpPr>
          <p:spPr bwMode="auto">
            <a:xfrm>
              <a:off x="2249649" y="929877"/>
              <a:ext cx="456974" cy="381437"/>
            </a:xfrm>
            <a:prstGeom prst="can">
              <a:avLst>
                <a:gd name="adj" fmla="val 25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1074" name="Rectangle 10"/>
            <p:cNvSpPr>
              <a:spLocks noChangeArrowheads="1"/>
            </p:cNvSpPr>
            <p:nvPr/>
          </p:nvSpPr>
          <p:spPr bwMode="auto">
            <a:xfrm>
              <a:off x="2152859" y="621549"/>
              <a:ext cx="59343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>
                  <a:latin typeface="Helvetica 45 Light" pitchFamily="34" charset="0"/>
                </a:rPr>
                <a:t>HLR</a:t>
              </a:r>
            </a:p>
          </p:txBody>
        </p:sp>
      </p:grpSp>
      <p:sp>
        <p:nvSpPr>
          <p:cNvPr id="115" name="Line 44"/>
          <p:cNvSpPr>
            <a:spLocks noChangeShapeType="1"/>
          </p:cNvSpPr>
          <p:nvPr/>
        </p:nvSpPr>
        <p:spPr bwMode="auto">
          <a:xfrm>
            <a:off x="2827338" y="2786063"/>
            <a:ext cx="860425" cy="14287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1068" name="Straight Arrow Connector 116"/>
          <p:cNvCxnSpPr>
            <a:cxnSpLocks noChangeShapeType="1"/>
          </p:cNvCxnSpPr>
          <p:nvPr/>
        </p:nvCxnSpPr>
        <p:spPr bwMode="auto">
          <a:xfrm>
            <a:off x="9512300" y="423863"/>
            <a:ext cx="914400" cy="914400"/>
          </a:xfrm>
          <a:prstGeom prst="straightConnector1">
            <a:avLst/>
          </a:prstGeom>
          <a:noFill/>
          <a:ln w="19050" algn="ctr">
            <a:noFill/>
            <a:round/>
            <a:headEnd/>
            <a:tailEnd type="arrow" w="med" len="med"/>
          </a:ln>
        </p:spPr>
      </p:cxnSp>
      <p:cxnSp>
        <p:nvCxnSpPr>
          <p:cNvPr id="1069" name="Curved Connector 124"/>
          <p:cNvCxnSpPr>
            <a:cxnSpLocks noChangeShapeType="1"/>
          </p:cNvCxnSpPr>
          <p:nvPr/>
        </p:nvCxnSpPr>
        <p:spPr bwMode="auto">
          <a:xfrm rot="16200000" flipH="1">
            <a:off x="7390607" y="3255169"/>
            <a:ext cx="1282700" cy="122237"/>
          </a:xfrm>
          <a:prstGeom prst="curvedConnector3">
            <a:avLst>
              <a:gd name="adj1" fmla="val 50000"/>
            </a:avLst>
          </a:prstGeom>
          <a:noFill/>
          <a:ln w="19050" algn="ctr">
            <a:noFill/>
            <a:round/>
            <a:headEnd/>
            <a:tailEnd/>
          </a:ln>
        </p:spPr>
      </p:cxnSp>
      <p:sp>
        <p:nvSpPr>
          <p:cNvPr id="127" name="Freeform 126"/>
          <p:cNvSpPr>
            <a:spLocks/>
          </p:cNvSpPr>
          <p:nvPr/>
        </p:nvSpPr>
        <p:spPr bwMode="auto">
          <a:xfrm>
            <a:off x="17463" y="2700338"/>
            <a:ext cx="7721600" cy="1025525"/>
          </a:xfrm>
          <a:custGeom>
            <a:avLst/>
            <a:gdLst>
              <a:gd name="T0" fmla="*/ 7736763 w 7720084"/>
              <a:gd name="T1" fmla="*/ 192658 h 1025857"/>
              <a:gd name="T2" fmla="*/ 1212720 w 7720084"/>
              <a:gd name="T3" fmla="*/ 138257 h 1025857"/>
              <a:gd name="T4" fmla="*/ 460465 w 7720084"/>
              <a:gd name="T5" fmla="*/ 1022211 h 1025857"/>
              <a:gd name="T6" fmla="*/ 0 60000 65536"/>
              <a:gd name="T7" fmla="*/ 0 60000 65536"/>
              <a:gd name="T8" fmla="*/ 0 60000 65536"/>
              <a:gd name="T9" fmla="*/ 0 w 7720084"/>
              <a:gd name="T10" fmla="*/ 0 h 1025857"/>
              <a:gd name="T11" fmla="*/ 7720084 w 7720084"/>
              <a:gd name="T12" fmla="*/ 1025857 h 10258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720084" h="1025857">
                <a:moveTo>
                  <a:pt x="7720084" y="193343"/>
                </a:moveTo>
                <a:cubicBezTo>
                  <a:pt x="5070144" y="96671"/>
                  <a:pt x="2420204" y="0"/>
                  <a:pt x="1210102" y="138752"/>
                </a:cubicBezTo>
                <a:cubicBezTo>
                  <a:pt x="0" y="277504"/>
                  <a:pt x="229737" y="651680"/>
                  <a:pt x="459475" y="1025857"/>
                </a:cubicBezTo>
              </a:path>
            </a:pathLst>
          </a:custGeom>
          <a:noFill/>
          <a:ln w="28575" cap="flat" cmpd="sng" algn="ctr">
            <a:solidFill>
              <a:srgbClr val="00EAE4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/>
          <a:lstStyle/>
          <a:p>
            <a:endParaRPr lang="en-US"/>
          </a:p>
        </p:txBody>
      </p:sp>
      <p:cxnSp>
        <p:nvCxnSpPr>
          <p:cNvPr id="1071" name="Straight Arrow Connector 128"/>
          <p:cNvCxnSpPr>
            <a:cxnSpLocks noChangeShapeType="1"/>
          </p:cNvCxnSpPr>
          <p:nvPr/>
        </p:nvCxnSpPr>
        <p:spPr bwMode="auto">
          <a:xfrm>
            <a:off x="4859338" y="2784475"/>
            <a:ext cx="914400" cy="914400"/>
          </a:xfrm>
          <a:prstGeom prst="straightConnector1">
            <a:avLst/>
          </a:prstGeom>
          <a:noFill/>
          <a:ln w="19050" algn="ctr">
            <a:noFill/>
            <a:round/>
            <a:headEnd/>
            <a:tailEnd type="arrow" w="med" len="med"/>
          </a:ln>
        </p:spPr>
      </p:cxn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314325" y="4625975"/>
            <a:ext cx="1227138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/>
              <a:t>IP Allocated to Handset </a:t>
            </a:r>
          </a:p>
          <a:p>
            <a:r>
              <a:rPr lang="en-US" sz="1000"/>
              <a:t>Eg – 203.88.12.10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2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8" grpId="0" animBg="1"/>
      <p:bldP spid="46" grpId="0" animBg="1"/>
      <p:bldP spid="47" grpId="0" animBg="1"/>
      <p:bldP spid="69" grpId="0" animBg="1"/>
      <p:bldP spid="70" grpId="0" animBg="1"/>
      <p:bldP spid="73" grpId="0" animBg="1"/>
      <p:bldP spid="77" grpId="0"/>
      <p:bldP spid="86" grpId="0" animBg="1"/>
      <p:bldP spid="87" grpId="0" animBg="1"/>
      <p:bldP spid="88" grpId="0" animBg="1"/>
      <p:bldP spid="89" grpId="0" animBg="1"/>
      <p:bldP spid="90" grpId="0" animBg="1"/>
      <p:bldP spid="115" grpId="0" animBg="1"/>
      <p:bldP spid="127" grpId="0" animBg="1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237E98F-6623-43C9-BBFB-D426C0ED3366}" type="slidenum">
              <a:rPr lang="en-GB" smtClean="0"/>
              <a:pPr/>
              <a:t>4</a:t>
            </a:fld>
            <a:endParaRPr lang="en-GB" smtClean="0"/>
          </a:p>
        </p:txBody>
      </p:sp>
      <p:sp>
        <p:nvSpPr>
          <p:cNvPr id="20483" name="Rectangle 50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Presentation title in footer</a:t>
            </a:r>
          </a:p>
        </p:txBody>
      </p:sp>
      <p:sp>
        <p:nvSpPr>
          <p:cNvPr id="20484" name="Rectangle 52"/>
          <p:cNvSpPr>
            <a:spLocks noGrp="1" noChangeArrowheads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67D3450C-2BC8-42E8-9A22-63134933CAE3}" type="datetime4">
              <a:rPr lang="en-GB" smtClean="0"/>
              <a:pPr/>
              <a:t>18 June 2013</a:t>
            </a:fld>
            <a:endParaRPr lang="en-GB" smtClean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33388" y="204788"/>
            <a:ext cx="77724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ct val="90000"/>
              </a:lnSpc>
              <a:defRPr/>
            </a:pPr>
            <a:r>
              <a:rPr lang="en-US" sz="24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Vodafone APN’s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90513" y="1133475"/>
            <a:ext cx="8610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72000" bIns="0"/>
          <a:lstStyle/>
          <a:p>
            <a:pPr marL="182563" indent="-182563" algn="l">
              <a:lnSpc>
                <a:spcPct val="104000"/>
              </a:lnSpc>
              <a:spcBef>
                <a:spcPct val="50000"/>
              </a:spcBef>
              <a:buClr>
                <a:schemeClr val="tx1"/>
              </a:buClr>
              <a:defRPr/>
            </a:pPr>
            <a:r>
              <a:rPr lang="en-US" sz="1400" kern="0" dirty="0">
                <a:latin typeface="+mn-lt"/>
              </a:rPr>
              <a:t> </a:t>
            </a:r>
            <a:r>
              <a:rPr lang="en-US" sz="1400" u="sng" kern="0" dirty="0">
                <a:latin typeface="+mn-lt"/>
              </a:rPr>
              <a:t>Product</a:t>
            </a:r>
            <a:r>
              <a:rPr lang="en-US" sz="1400" kern="0" dirty="0">
                <a:latin typeface="+mn-lt"/>
              </a:rPr>
              <a:t> 			</a:t>
            </a:r>
            <a:r>
              <a:rPr lang="en-US" sz="1400" u="sng" kern="0" dirty="0">
                <a:latin typeface="+mn-lt"/>
              </a:rPr>
              <a:t>APN Name</a:t>
            </a:r>
            <a:r>
              <a:rPr lang="en-US" sz="1400" kern="0" dirty="0">
                <a:latin typeface="+mn-lt"/>
              </a:rPr>
              <a:t>        	</a:t>
            </a:r>
            <a:r>
              <a:rPr lang="en-US" sz="1400" u="sng" kern="0" dirty="0">
                <a:latin typeface="+mn-lt"/>
              </a:rPr>
              <a:t>Services </a:t>
            </a:r>
            <a:endParaRPr lang="en-US" sz="1400" kern="0" dirty="0">
              <a:latin typeface="+mn-lt"/>
            </a:endParaRPr>
          </a:p>
          <a:p>
            <a:pPr marL="182563" indent="-182563" algn="l">
              <a:lnSpc>
                <a:spcPct val="104000"/>
              </a:lnSpc>
              <a:spcBef>
                <a:spcPct val="50000"/>
              </a:spcBef>
              <a:buClr>
                <a:schemeClr val="tx1"/>
              </a:buClr>
              <a:defRPr/>
            </a:pPr>
            <a:endParaRPr lang="en-US" sz="1400" kern="0" dirty="0">
              <a:latin typeface="+mn-lt"/>
            </a:endParaRPr>
          </a:p>
          <a:p>
            <a:pPr marL="182563" indent="-182563" algn="l">
              <a:lnSpc>
                <a:spcPct val="104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400" kern="0" dirty="0">
                <a:latin typeface="+mn-lt"/>
              </a:rPr>
              <a:t>Vodafone Live		portalnmms	WAP/Vodafone Live and MMS </a:t>
            </a:r>
          </a:p>
          <a:p>
            <a:pPr marL="182563" indent="-182563" algn="l">
              <a:lnSpc>
                <a:spcPct val="104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400" kern="0" dirty="0">
                <a:latin typeface="+mn-lt"/>
              </a:rPr>
              <a:t>Vodafone Mobile Connect	www		Laptop access/Vodafone mail Enterprise </a:t>
            </a:r>
          </a:p>
          <a:p>
            <a:pPr marL="182563" indent="-182563" algn="l">
              <a:lnSpc>
                <a:spcPct val="104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400" kern="0" dirty="0" err="1">
                <a:latin typeface="+mn-lt"/>
              </a:rPr>
              <a:t>VodafoneMail</a:t>
            </a:r>
            <a:r>
              <a:rPr lang="en-US" sz="1400" kern="0" dirty="0">
                <a:latin typeface="+mn-lt"/>
              </a:rPr>
              <a:t> </a:t>
            </a:r>
            <a:r>
              <a:rPr lang="en-US" sz="1400" kern="0" dirty="0" err="1">
                <a:latin typeface="+mn-lt"/>
              </a:rPr>
              <a:t>Ind</a:t>
            </a:r>
            <a:r>
              <a:rPr lang="en-US" sz="1400" kern="0" dirty="0">
                <a:latin typeface="+mn-lt"/>
              </a:rPr>
              <a:t>		mail.vodafone.in	Vodafone mail Individual / Laptop access</a:t>
            </a:r>
          </a:p>
          <a:p>
            <a:pPr marL="182563" indent="-182563" algn="l">
              <a:lnSpc>
                <a:spcPct val="104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400" kern="0" dirty="0">
                <a:latin typeface="+mn-lt"/>
              </a:rPr>
              <a:t>Blackberry		Blackberry.net	Blackberry services (Enterprise / </a:t>
            </a:r>
            <a:r>
              <a:rPr lang="en-US" sz="1400" kern="0" dirty="0" err="1">
                <a:latin typeface="+mn-lt"/>
              </a:rPr>
              <a:t>Prosumer</a:t>
            </a:r>
            <a:r>
              <a:rPr lang="en-US" sz="1400" kern="0" dirty="0">
                <a:latin typeface="+mn-lt"/>
              </a:rPr>
              <a:t>)</a:t>
            </a:r>
          </a:p>
          <a:p>
            <a:pPr marL="182563" indent="-182563" algn="l">
              <a:lnSpc>
                <a:spcPct val="104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400" kern="0" dirty="0" err="1">
                <a:latin typeface="+mn-lt"/>
              </a:rPr>
              <a:t>iPhone</a:t>
            </a:r>
            <a:r>
              <a:rPr lang="en-US" sz="1400" kern="0" dirty="0">
                <a:latin typeface="+mn-lt"/>
              </a:rPr>
              <a:t>			</a:t>
            </a:r>
            <a:r>
              <a:rPr lang="en-US" sz="1400" kern="0" dirty="0" err="1">
                <a:latin typeface="+mn-lt"/>
              </a:rPr>
              <a:t>iphone</a:t>
            </a:r>
            <a:r>
              <a:rPr lang="en-US" sz="1400" kern="0" dirty="0">
                <a:latin typeface="+mn-lt"/>
              </a:rPr>
              <a:t>		For </a:t>
            </a:r>
            <a:r>
              <a:rPr lang="en-US" sz="1400" kern="0" dirty="0" err="1">
                <a:latin typeface="+mn-lt"/>
              </a:rPr>
              <a:t>iPhone</a:t>
            </a:r>
            <a:r>
              <a:rPr lang="en-US" sz="1400" kern="0" dirty="0">
                <a:latin typeface="+mn-lt"/>
              </a:rPr>
              <a:t> devices</a:t>
            </a:r>
          </a:p>
          <a:p>
            <a:pPr marL="182563" indent="-182563" algn="l">
              <a:lnSpc>
                <a:spcPct val="104000"/>
              </a:lnSpc>
              <a:spcBef>
                <a:spcPct val="5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400" kern="0" dirty="0">
                <a:latin typeface="+mn-lt"/>
              </a:rPr>
              <a:t>Vodafone VPN		vpn.vodafone.in    	Same as “WWW” APN, additionally 						required for configuring VPN client</a:t>
            </a:r>
          </a:p>
          <a:p>
            <a:pPr marL="182563" indent="-182563" algn="l">
              <a:lnSpc>
                <a:spcPct val="104000"/>
              </a:lnSpc>
              <a:spcBef>
                <a:spcPct val="50000"/>
              </a:spcBef>
              <a:buClr>
                <a:schemeClr val="tx1"/>
              </a:buClr>
              <a:buFont typeface="Arial" charset="0"/>
              <a:buChar char="&gt;"/>
              <a:defRPr/>
            </a:pPr>
            <a:endParaRPr lang="en-US" sz="1400" kern="0" dirty="0">
              <a:latin typeface="+mn-lt"/>
            </a:endParaRPr>
          </a:p>
          <a:p>
            <a:pPr marL="182563" indent="-182563" algn="l">
              <a:lnSpc>
                <a:spcPct val="104000"/>
              </a:lnSpc>
              <a:spcBef>
                <a:spcPct val="50000"/>
              </a:spcBef>
              <a:buClr>
                <a:schemeClr val="tx1"/>
              </a:buClr>
              <a:defRPr/>
            </a:pPr>
            <a:endParaRPr lang="en-US" sz="1400" kern="0" dirty="0">
              <a:latin typeface="+mn-lt"/>
            </a:endParaRPr>
          </a:p>
          <a:p>
            <a:pPr marL="182563" indent="-182563" algn="l">
              <a:lnSpc>
                <a:spcPct val="104000"/>
              </a:lnSpc>
              <a:spcBef>
                <a:spcPct val="50000"/>
              </a:spcBef>
              <a:buClr>
                <a:schemeClr val="tx1"/>
              </a:buClr>
              <a:buFont typeface="Arial" charset="0"/>
              <a:buChar char="&gt;"/>
              <a:defRPr/>
            </a:pPr>
            <a:endParaRPr lang="en-US" sz="1400" kern="0" dirty="0">
              <a:latin typeface="+mn-lt"/>
            </a:endParaRPr>
          </a:p>
          <a:p>
            <a:pPr marL="182563" indent="-182563" algn="l">
              <a:lnSpc>
                <a:spcPct val="104000"/>
              </a:lnSpc>
              <a:spcBef>
                <a:spcPct val="50000"/>
              </a:spcBef>
              <a:buClr>
                <a:schemeClr val="tx1"/>
              </a:buClr>
              <a:buFont typeface="Arial" charset="0"/>
              <a:buChar char="&gt;"/>
              <a:defRPr/>
            </a:pPr>
            <a:r>
              <a:rPr lang="en-US" sz="1400" kern="0" dirty="0">
                <a:latin typeface="+mn-lt"/>
              </a:rPr>
              <a:t>APN : Access Point Name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4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688" y="2895600"/>
            <a:ext cx="12731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5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688" y="3008313"/>
            <a:ext cx="617537" cy="68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54088" y="1752600"/>
            <a:ext cx="4095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2097088" y="1096963"/>
            <a:ext cx="6159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SGSN</a:t>
            </a:r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954088" y="1050925"/>
            <a:ext cx="4968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BSC</a:t>
            </a: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 flipV="1">
            <a:off x="1335088" y="2133600"/>
            <a:ext cx="8382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2859088" y="2133600"/>
            <a:ext cx="7842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>
            <a:off x="4535488" y="2057400"/>
            <a:ext cx="5334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2061" name="Picture 14"/>
          <p:cNvPicPr>
            <a:picLocks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705600" y="3048000"/>
            <a:ext cx="4095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050" name="Object 15"/>
          <p:cNvGraphicFramePr>
            <a:graphicFrameLocks noChangeAspect="1"/>
          </p:cNvGraphicFramePr>
          <p:nvPr/>
        </p:nvGraphicFramePr>
        <p:xfrm>
          <a:off x="4992688" y="1676400"/>
          <a:ext cx="595312" cy="914400"/>
        </p:xfrm>
        <a:graphic>
          <a:graphicData uri="http://schemas.openxmlformats.org/presentationml/2006/ole">
            <p:oleObj spid="_x0000_s2050" name="Clip" r:id="rId8" imgW="3031560" imgH="4533480" progId="">
              <p:embed/>
            </p:oleObj>
          </a:graphicData>
        </a:graphic>
      </p:graphicFrame>
      <p:sp>
        <p:nvSpPr>
          <p:cNvPr id="2062" name="Rectangle 16"/>
          <p:cNvSpPr>
            <a:spLocks noChangeArrowheads="1"/>
          </p:cNvSpPr>
          <p:nvPr/>
        </p:nvSpPr>
        <p:spPr bwMode="auto">
          <a:xfrm>
            <a:off x="5334000" y="1600200"/>
            <a:ext cx="990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FIREWALL</a:t>
            </a:r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5334000" y="25908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64" name="Rectangle 20"/>
          <p:cNvSpPr>
            <a:spLocks noChangeArrowheads="1"/>
          </p:cNvSpPr>
          <p:nvPr/>
        </p:nvSpPr>
        <p:spPr bwMode="auto">
          <a:xfrm>
            <a:off x="7467600" y="47244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Vodafone Live Portal</a:t>
            </a:r>
          </a:p>
        </p:txBody>
      </p:sp>
      <p:graphicFrame>
        <p:nvGraphicFramePr>
          <p:cNvPr id="2051" name="Object 21"/>
          <p:cNvGraphicFramePr>
            <a:graphicFrameLocks noChangeAspect="1"/>
          </p:cNvGraphicFramePr>
          <p:nvPr/>
        </p:nvGraphicFramePr>
        <p:xfrm flipH="1">
          <a:off x="2097088" y="1600200"/>
          <a:ext cx="776287" cy="1143000"/>
        </p:xfrm>
        <a:graphic>
          <a:graphicData uri="http://schemas.openxmlformats.org/presentationml/2006/ole">
            <p:oleObj spid="_x0000_s2051" name="Clip" r:id="rId9" imgW="1634400" imgH="2286360" progId="">
              <p:embed/>
            </p:oleObj>
          </a:graphicData>
        </a:graphic>
      </p:graphicFrame>
      <p:graphicFrame>
        <p:nvGraphicFramePr>
          <p:cNvPr id="2052" name="Object 22"/>
          <p:cNvGraphicFramePr>
            <a:graphicFrameLocks noChangeAspect="1"/>
          </p:cNvGraphicFramePr>
          <p:nvPr/>
        </p:nvGraphicFramePr>
        <p:xfrm flipH="1">
          <a:off x="3544888" y="1447800"/>
          <a:ext cx="1036637" cy="1524000"/>
        </p:xfrm>
        <a:graphic>
          <a:graphicData uri="http://schemas.openxmlformats.org/presentationml/2006/ole">
            <p:oleObj spid="_x0000_s2052" name="Clip" r:id="rId10" imgW="1634400" imgH="2286360" progId="">
              <p:embed/>
            </p:oleObj>
          </a:graphicData>
        </a:graphic>
      </p:graphicFrame>
      <p:sp>
        <p:nvSpPr>
          <p:cNvPr id="2065" name="Oval 25"/>
          <p:cNvSpPr>
            <a:spLocks noChangeArrowheads="1"/>
          </p:cNvSpPr>
          <p:nvPr/>
        </p:nvSpPr>
        <p:spPr bwMode="auto">
          <a:xfrm>
            <a:off x="649288" y="24384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1</a:t>
            </a:r>
          </a:p>
        </p:txBody>
      </p:sp>
      <p:sp>
        <p:nvSpPr>
          <p:cNvPr id="2066" name="Oval 26"/>
          <p:cNvSpPr>
            <a:spLocks noChangeArrowheads="1"/>
          </p:cNvSpPr>
          <p:nvPr/>
        </p:nvSpPr>
        <p:spPr bwMode="auto">
          <a:xfrm>
            <a:off x="1563688" y="1724025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2</a:t>
            </a:r>
          </a:p>
        </p:txBody>
      </p:sp>
      <p:sp>
        <p:nvSpPr>
          <p:cNvPr id="2067" name="Oval 28"/>
          <p:cNvSpPr>
            <a:spLocks noChangeArrowheads="1"/>
          </p:cNvSpPr>
          <p:nvPr/>
        </p:nvSpPr>
        <p:spPr bwMode="auto">
          <a:xfrm>
            <a:off x="4687888" y="16764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4</a:t>
            </a:r>
          </a:p>
        </p:txBody>
      </p:sp>
      <p:sp>
        <p:nvSpPr>
          <p:cNvPr id="2068" name="Oval 29"/>
          <p:cNvSpPr>
            <a:spLocks noChangeArrowheads="1"/>
          </p:cNvSpPr>
          <p:nvPr/>
        </p:nvSpPr>
        <p:spPr bwMode="auto">
          <a:xfrm>
            <a:off x="5334000" y="11430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6</a:t>
            </a:r>
          </a:p>
        </p:txBody>
      </p:sp>
      <p:pic>
        <p:nvPicPr>
          <p:cNvPr id="2069" name="Picture 32"/>
          <p:cNvPicPr>
            <a:picLocks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029200" y="3429000"/>
            <a:ext cx="4095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Line 33"/>
          <p:cNvSpPr>
            <a:spLocks noChangeShapeType="1"/>
          </p:cNvSpPr>
          <p:nvPr/>
        </p:nvSpPr>
        <p:spPr bwMode="auto">
          <a:xfrm>
            <a:off x="5334000" y="3657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" name="Line 35"/>
          <p:cNvSpPr>
            <a:spLocks noChangeShapeType="1"/>
          </p:cNvSpPr>
          <p:nvPr/>
        </p:nvSpPr>
        <p:spPr bwMode="auto">
          <a:xfrm flipV="1">
            <a:off x="685800" y="2438400"/>
            <a:ext cx="381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72" name="Oval 36"/>
          <p:cNvSpPr>
            <a:spLocks noChangeArrowheads="1"/>
          </p:cNvSpPr>
          <p:nvPr/>
        </p:nvSpPr>
        <p:spPr bwMode="auto">
          <a:xfrm>
            <a:off x="5334000" y="26670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5</a:t>
            </a:r>
          </a:p>
        </p:txBody>
      </p:sp>
      <p:sp>
        <p:nvSpPr>
          <p:cNvPr id="2073" name="AutoShape 37"/>
          <p:cNvSpPr>
            <a:spLocks noChangeArrowheads="1"/>
          </p:cNvSpPr>
          <p:nvPr/>
        </p:nvSpPr>
        <p:spPr bwMode="auto">
          <a:xfrm>
            <a:off x="5029200" y="762000"/>
            <a:ext cx="457200" cy="381000"/>
          </a:xfrm>
          <a:prstGeom prst="can">
            <a:avLst>
              <a:gd name="adj" fmla="val 25000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38"/>
          <p:cNvSpPr>
            <a:spLocks noChangeShapeType="1"/>
          </p:cNvSpPr>
          <p:nvPr/>
        </p:nvSpPr>
        <p:spPr bwMode="auto">
          <a:xfrm>
            <a:off x="5257800" y="1143000"/>
            <a:ext cx="1588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75" name="Oval 39"/>
          <p:cNvSpPr>
            <a:spLocks noChangeArrowheads="1"/>
          </p:cNvSpPr>
          <p:nvPr/>
        </p:nvSpPr>
        <p:spPr bwMode="auto">
          <a:xfrm>
            <a:off x="5867400" y="32766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7</a:t>
            </a:r>
          </a:p>
        </p:txBody>
      </p:sp>
      <p:sp>
        <p:nvSpPr>
          <p:cNvPr id="2076" name="Oval 42"/>
          <p:cNvSpPr>
            <a:spLocks noChangeArrowheads="1"/>
          </p:cNvSpPr>
          <p:nvPr/>
        </p:nvSpPr>
        <p:spPr bwMode="auto">
          <a:xfrm>
            <a:off x="6248400" y="2819400"/>
            <a:ext cx="1371600" cy="2514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077" name="Picture 43"/>
          <p:cNvPicPr>
            <a:picLocks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705600" y="4038600"/>
            <a:ext cx="4095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Line 44"/>
          <p:cNvSpPr>
            <a:spLocks noChangeShapeType="1"/>
          </p:cNvSpPr>
          <p:nvPr/>
        </p:nvSpPr>
        <p:spPr bwMode="auto">
          <a:xfrm flipH="1">
            <a:off x="1219200" y="2362200"/>
            <a:ext cx="403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" name="Line 45"/>
          <p:cNvSpPr>
            <a:spLocks noChangeShapeType="1"/>
          </p:cNvSpPr>
          <p:nvPr/>
        </p:nvSpPr>
        <p:spPr bwMode="auto">
          <a:xfrm flipV="1">
            <a:off x="838200" y="2438400"/>
            <a:ext cx="3810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80" name="Oval 46"/>
          <p:cNvSpPr>
            <a:spLocks noChangeArrowheads="1"/>
          </p:cNvSpPr>
          <p:nvPr/>
        </p:nvSpPr>
        <p:spPr bwMode="auto">
          <a:xfrm>
            <a:off x="4724400" y="25146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9</a:t>
            </a:r>
          </a:p>
        </p:txBody>
      </p:sp>
      <p:sp>
        <p:nvSpPr>
          <p:cNvPr id="2081" name="Oval 47"/>
          <p:cNvSpPr>
            <a:spLocks noChangeArrowheads="1"/>
          </p:cNvSpPr>
          <p:nvPr/>
        </p:nvSpPr>
        <p:spPr bwMode="auto">
          <a:xfrm>
            <a:off x="1219200" y="26670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10</a:t>
            </a:r>
          </a:p>
        </p:txBody>
      </p:sp>
      <p:pic>
        <p:nvPicPr>
          <p:cNvPr id="2082" name="Picture 48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620000" y="1447800"/>
            <a:ext cx="127317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" name="Line 50"/>
          <p:cNvSpPr>
            <a:spLocks noChangeShapeType="1"/>
          </p:cNvSpPr>
          <p:nvPr/>
        </p:nvSpPr>
        <p:spPr bwMode="auto">
          <a:xfrm>
            <a:off x="5562600" y="2057400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" name="Line 52"/>
          <p:cNvSpPr>
            <a:spLocks noChangeShapeType="1"/>
          </p:cNvSpPr>
          <p:nvPr/>
        </p:nvSpPr>
        <p:spPr bwMode="auto">
          <a:xfrm flipH="1">
            <a:off x="5410200" y="40386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" name="Line 53"/>
          <p:cNvSpPr>
            <a:spLocks noChangeShapeType="1"/>
          </p:cNvSpPr>
          <p:nvPr/>
        </p:nvSpPr>
        <p:spPr bwMode="auto">
          <a:xfrm flipV="1">
            <a:off x="5105400" y="2362200"/>
            <a:ext cx="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86" name="Rectangle 55"/>
          <p:cNvSpPr>
            <a:spLocks noChangeArrowheads="1"/>
          </p:cNvSpPr>
          <p:nvPr/>
        </p:nvSpPr>
        <p:spPr bwMode="auto">
          <a:xfrm>
            <a:off x="685800" y="3200400"/>
            <a:ext cx="977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portalnmms</a:t>
            </a:r>
          </a:p>
        </p:txBody>
      </p:sp>
      <p:sp>
        <p:nvSpPr>
          <p:cNvPr id="2087" name="Rectangle 4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3B5A8AA-DE8A-4BEA-8DEE-5797F06B4865}" type="slidenum">
              <a:rPr lang="en-GB" smtClean="0"/>
              <a:pPr/>
              <a:t>5</a:t>
            </a:fld>
            <a:endParaRPr lang="en-GB" smtClean="0"/>
          </a:p>
        </p:txBody>
      </p:sp>
      <p:sp>
        <p:nvSpPr>
          <p:cNvPr id="2088" name="Rectangle 50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Presentation title in footer</a:t>
            </a:r>
          </a:p>
        </p:txBody>
      </p:sp>
      <p:sp>
        <p:nvSpPr>
          <p:cNvPr id="2089" name="Rectangle 52"/>
          <p:cNvSpPr>
            <a:spLocks noGrp="1" noChangeArrowheads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4584A199-EA95-469A-9B28-575F16CF0373}" type="datetime4">
              <a:rPr lang="en-GB" smtClean="0"/>
              <a:pPr/>
              <a:t>18 June 2013</a:t>
            </a:fld>
            <a:endParaRPr lang="en-GB" smtClean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614363" y="246063"/>
            <a:ext cx="77724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ct val="90000"/>
              </a:lnSpc>
              <a:defRPr/>
            </a:pPr>
            <a:r>
              <a:rPr lang="en-US" sz="24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Vodafone Live Portal  - WAP(WML) Browsing</a:t>
            </a:r>
          </a:p>
        </p:txBody>
      </p:sp>
      <p:sp>
        <p:nvSpPr>
          <p:cNvPr id="2091" name="Text Box 49"/>
          <p:cNvSpPr txBox="1">
            <a:spLocks noChangeArrowheads="1"/>
          </p:cNvSpPr>
          <p:nvPr/>
        </p:nvSpPr>
        <p:spPr bwMode="auto">
          <a:xfrm>
            <a:off x="7924800" y="1981200"/>
            <a:ext cx="762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 b="1">
                <a:latin typeface="Helvetica 45 Light" pitchFamily="34" charset="0"/>
              </a:rPr>
              <a:t>Internet</a:t>
            </a:r>
          </a:p>
        </p:txBody>
      </p:sp>
      <p:sp>
        <p:nvSpPr>
          <p:cNvPr id="48" name="Rectangle 40"/>
          <p:cNvSpPr>
            <a:spLocks noChangeArrowheads="1"/>
          </p:cNvSpPr>
          <p:nvPr/>
        </p:nvSpPr>
        <p:spPr bwMode="auto">
          <a:xfrm>
            <a:off x="922338" y="3643313"/>
            <a:ext cx="3267075" cy="1352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>
                <a:latin typeface="Helvetica 45 Light" pitchFamily="34" charset="0"/>
              </a:rPr>
              <a:t>APN = portalnmms</a:t>
            </a:r>
          </a:p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>
                <a:latin typeface="Helvetica 45 Light" pitchFamily="34" charset="0"/>
              </a:rPr>
              <a:t>Gateway IP Address = 10.10.1.100</a:t>
            </a:r>
          </a:p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>
                <a:latin typeface="Helvetica 45 Light" pitchFamily="34" charset="0"/>
              </a:rPr>
              <a:t>URL = http://live.vodafone.in</a:t>
            </a:r>
          </a:p>
          <a:p>
            <a:endParaRPr lang="en-US"/>
          </a:p>
        </p:txBody>
      </p:sp>
      <p:sp>
        <p:nvSpPr>
          <p:cNvPr id="2093" name="Text Box 6"/>
          <p:cNvSpPr txBox="1">
            <a:spLocks noChangeArrowheads="1"/>
          </p:cNvSpPr>
          <p:nvPr/>
        </p:nvSpPr>
        <p:spPr bwMode="auto">
          <a:xfrm>
            <a:off x="39688" y="3810000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 b="1">
                <a:latin typeface="Helvetica 45 Light" pitchFamily="34" charset="0"/>
              </a:rPr>
              <a:t>GPRS User</a:t>
            </a:r>
          </a:p>
        </p:txBody>
      </p:sp>
      <p:sp>
        <p:nvSpPr>
          <p:cNvPr id="2094" name="Rectangle 30"/>
          <p:cNvSpPr>
            <a:spLocks noChangeArrowheads="1"/>
          </p:cNvSpPr>
          <p:nvPr/>
        </p:nvSpPr>
        <p:spPr bwMode="auto">
          <a:xfrm>
            <a:off x="903288" y="4975225"/>
            <a:ext cx="7351712" cy="134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1-3) URL Send (Payload)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4-5) GGSN routes the Payload to WAP G/W via Firewall ( Routed using G/w IP Address)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6-7)WAP G/w resolves the URL name using DNS and forwards the Payload to Portal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8-10) Content of the Vodafone Live Portal is downloaded to User</a:t>
            </a:r>
          </a:p>
        </p:txBody>
      </p:sp>
      <p:sp>
        <p:nvSpPr>
          <p:cNvPr id="2095" name="Oval 28"/>
          <p:cNvSpPr>
            <a:spLocks noChangeArrowheads="1"/>
          </p:cNvSpPr>
          <p:nvPr/>
        </p:nvSpPr>
        <p:spPr bwMode="auto">
          <a:xfrm>
            <a:off x="3121025" y="1774825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3</a:t>
            </a:r>
          </a:p>
        </p:txBody>
      </p:sp>
      <p:sp>
        <p:nvSpPr>
          <p:cNvPr id="55" name="Rectangle 51"/>
          <p:cNvSpPr>
            <a:spLocks noChangeArrowheads="1"/>
          </p:cNvSpPr>
          <p:nvPr/>
        </p:nvSpPr>
        <p:spPr bwMode="auto">
          <a:xfrm>
            <a:off x="5621338" y="21336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Access to Internet via WAP Gateway</a:t>
            </a:r>
          </a:p>
        </p:txBody>
      </p:sp>
      <p:sp>
        <p:nvSpPr>
          <p:cNvPr id="2097" name="Rectangle 8"/>
          <p:cNvSpPr>
            <a:spLocks noChangeArrowheads="1"/>
          </p:cNvSpPr>
          <p:nvPr/>
        </p:nvSpPr>
        <p:spPr bwMode="auto">
          <a:xfrm>
            <a:off x="4938713" y="4360863"/>
            <a:ext cx="760412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WAPGw</a:t>
            </a:r>
          </a:p>
        </p:txBody>
      </p:sp>
      <p:sp>
        <p:nvSpPr>
          <p:cNvPr id="2098" name="Rectangle 8"/>
          <p:cNvSpPr>
            <a:spLocks noChangeArrowheads="1"/>
          </p:cNvSpPr>
          <p:nvPr/>
        </p:nvSpPr>
        <p:spPr bwMode="auto">
          <a:xfrm>
            <a:off x="5691188" y="938213"/>
            <a:ext cx="7048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Gi DNS</a:t>
            </a:r>
          </a:p>
        </p:txBody>
      </p:sp>
      <p:sp>
        <p:nvSpPr>
          <p:cNvPr id="2099" name="Oval 39"/>
          <p:cNvSpPr>
            <a:spLocks noChangeArrowheads="1"/>
          </p:cNvSpPr>
          <p:nvPr/>
        </p:nvSpPr>
        <p:spPr bwMode="auto">
          <a:xfrm>
            <a:off x="5842000" y="407035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21" grpId="0" animBg="1"/>
      <p:bldP spid="30" grpId="0" animBg="1"/>
      <p:bldP spid="31" grpId="0" animBg="1"/>
      <p:bldP spid="34" grpId="0" animBg="1"/>
      <p:bldP spid="38" grpId="0" animBg="1"/>
      <p:bldP spid="39" grpId="0" animBg="1"/>
      <p:bldP spid="43" grpId="0" animBg="1"/>
      <p:bldP spid="44" grpId="0" animBg="1"/>
      <p:bldP spid="45" grpId="0" animBg="1"/>
      <p:bldP spid="48" grpId="0" animBg="1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4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2B87BFD-F623-4077-B2BD-6A8512D31FBC}" type="slidenum">
              <a:rPr lang="en-GB" smtClean="0"/>
              <a:pPr/>
              <a:t>6</a:t>
            </a:fld>
            <a:endParaRPr lang="en-GB" smtClean="0"/>
          </a:p>
        </p:txBody>
      </p:sp>
      <p:sp>
        <p:nvSpPr>
          <p:cNvPr id="3079" name="Rectangle 50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Presentation title in footer</a:t>
            </a:r>
          </a:p>
        </p:txBody>
      </p:sp>
      <p:sp>
        <p:nvSpPr>
          <p:cNvPr id="3080" name="Rectangle 52"/>
          <p:cNvSpPr>
            <a:spLocks noGrp="1" noChangeArrowheads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FC16B183-7FA9-48EC-BEAE-DCDE924A3DBE}" type="datetime4">
              <a:rPr lang="en-GB" smtClean="0"/>
              <a:pPr/>
              <a:t>18 June 2013</a:t>
            </a:fld>
            <a:endParaRPr lang="en-GB" smtClean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33388" y="204788"/>
            <a:ext cx="77724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ct val="90000"/>
              </a:lnSpc>
              <a:defRPr/>
            </a:pPr>
            <a:r>
              <a:rPr lang="en-US" sz="24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Vodafone Mobile Connect -  Web (HTML) Browsing</a:t>
            </a:r>
          </a:p>
        </p:txBody>
      </p:sp>
      <p:pic>
        <p:nvPicPr>
          <p:cNvPr id="3082" name="Picture 3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0513" y="3086100"/>
            <a:ext cx="12731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3" name="Text Box 4"/>
          <p:cNvSpPr txBox="1">
            <a:spLocks noChangeArrowheads="1"/>
          </p:cNvSpPr>
          <p:nvPr/>
        </p:nvSpPr>
        <p:spPr bwMode="auto">
          <a:xfrm>
            <a:off x="290513" y="4000500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 b="1">
                <a:latin typeface="Helvetica 45 Light" pitchFamily="34" charset="0"/>
              </a:rPr>
              <a:t>GPRS User</a:t>
            </a:r>
          </a:p>
        </p:txBody>
      </p:sp>
      <p:pic>
        <p:nvPicPr>
          <p:cNvPr id="3084" name="Picture 5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04913" y="1943100"/>
            <a:ext cx="4095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5" name="Rectangle 6"/>
          <p:cNvSpPr>
            <a:spLocks noChangeArrowheads="1"/>
          </p:cNvSpPr>
          <p:nvPr/>
        </p:nvSpPr>
        <p:spPr bwMode="auto">
          <a:xfrm>
            <a:off x="2347913" y="1287463"/>
            <a:ext cx="6159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SGSN</a:t>
            </a:r>
          </a:p>
        </p:txBody>
      </p:sp>
      <p:sp>
        <p:nvSpPr>
          <p:cNvPr id="3086" name="Rectangle 7"/>
          <p:cNvSpPr>
            <a:spLocks noChangeArrowheads="1"/>
          </p:cNvSpPr>
          <p:nvPr/>
        </p:nvSpPr>
        <p:spPr bwMode="auto">
          <a:xfrm>
            <a:off x="1204913" y="1241425"/>
            <a:ext cx="4968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BSC</a:t>
            </a:r>
          </a:p>
        </p:txBody>
      </p:sp>
      <p:sp>
        <p:nvSpPr>
          <p:cNvPr id="3087" name="Rectangle 8"/>
          <p:cNvSpPr>
            <a:spLocks noChangeArrowheads="1"/>
          </p:cNvSpPr>
          <p:nvPr/>
        </p:nvSpPr>
        <p:spPr bwMode="auto">
          <a:xfrm>
            <a:off x="3848100" y="1287463"/>
            <a:ext cx="6334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GGSN</a:t>
            </a:r>
          </a:p>
        </p:txBody>
      </p:sp>
      <p:sp>
        <p:nvSpPr>
          <p:cNvPr id="16" name="Line 9"/>
          <p:cNvSpPr>
            <a:spLocks noChangeShapeType="1"/>
          </p:cNvSpPr>
          <p:nvPr/>
        </p:nvSpPr>
        <p:spPr bwMode="auto">
          <a:xfrm flipV="1">
            <a:off x="1585913" y="2324100"/>
            <a:ext cx="8382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>
            <a:off x="3109913" y="2324100"/>
            <a:ext cx="7223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4786313" y="2247900"/>
            <a:ext cx="5334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074" name="Object 13"/>
          <p:cNvGraphicFramePr>
            <a:graphicFrameLocks noChangeAspect="1"/>
          </p:cNvGraphicFramePr>
          <p:nvPr/>
        </p:nvGraphicFramePr>
        <p:xfrm>
          <a:off x="5243513" y="1866900"/>
          <a:ext cx="595312" cy="914400"/>
        </p:xfrm>
        <a:graphic>
          <a:graphicData uri="http://schemas.openxmlformats.org/presentationml/2006/ole">
            <p:oleObj spid="_x0000_s3074" name="Clip" r:id="rId6" imgW="3031560" imgH="4533480" progId="">
              <p:embed/>
            </p:oleObj>
          </a:graphicData>
        </a:graphic>
      </p:graphicFrame>
      <p:sp>
        <p:nvSpPr>
          <p:cNvPr id="3091" name="Rectangle 14"/>
          <p:cNvSpPr>
            <a:spLocks noChangeArrowheads="1"/>
          </p:cNvSpPr>
          <p:nvPr/>
        </p:nvSpPr>
        <p:spPr bwMode="auto">
          <a:xfrm>
            <a:off x="5584825" y="1790700"/>
            <a:ext cx="990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FIREWALL</a:t>
            </a:r>
          </a:p>
        </p:txBody>
      </p:sp>
      <p:graphicFrame>
        <p:nvGraphicFramePr>
          <p:cNvPr id="3075" name="Object 19"/>
          <p:cNvGraphicFramePr>
            <a:graphicFrameLocks noChangeAspect="1"/>
          </p:cNvGraphicFramePr>
          <p:nvPr/>
        </p:nvGraphicFramePr>
        <p:xfrm flipH="1">
          <a:off x="2347913" y="1790700"/>
          <a:ext cx="776287" cy="1143000"/>
        </p:xfrm>
        <a:graphic>
          <a:graphicData uri="http://schemas.openxmlformats.org/presentationml/2006/ole">
            <p:oleObj spid="_x0000_s3075" name="Clip" r:id="rId7" imgW="1634400" imgH="2286360" progId="">
              <p:embed/>
            </p:oleObj>
          </a:graphicData>
        </a:graphic>
      </p:graphicFrame>
      <p:graphicFrame>
        <p:nvGraphicFramePr>
          <p:cNvPr id="3076" name="Object 20"/>
          <p:cNvGraphicFramePr>
            <a:graphicFrameLocks noChangeAspect="1"/>
          </p:cNvGraphicFramePr>
          <p:nvPr/>
        </p:nvGraphicFramePr>
        <p:xfrm flipH="1">
          <a:off x="3795713" y="1638300"/>
          <a:ext cx="1036637" cy="1524000"/>
        </p:xfrm>
        <a:graphic>
          <a:graphicData uri="http://schemas.openxmlformats.org/presentationml/2006/ole">
            <p:oleObj spid="_x0000_s3076" name="Clip" r:id="rId8" imgW="1634400" imgH="2286360" progId="">
              <p:embed/>
            </p:oleObj>
          </a:graphicData>
        </a:graphic>
      </p:graphicFrame>
      <p:sp>
        <p:nvSpPr>
          <p:cNvPr id="3092" name="Oval 23"/>
          <p:cNvSpPr>
            <a:spLocks noChangeArrowheads="1"/>
          </p:cNvSpPr>
          <p:nvPr/>
        </p:nvSpPr>
        <p:spPr bwMode="auto">
          <a:xfrm>
            <a:off x="900113" y="26289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1</a:t>
            </a:r>
          </a:p>
        </p:txBody>
      </p:sp>
      <p:sp>
        <p:nvSpPr>
          <p:cNvPr id="3093" name="Oval 25"/>
          <p:cNvSpPr>
            <a:spLocks noChangeArrowheads="1"/>
          </p:cNvSpPr>
          <p:nvPr/>
        </p:nvSpPr>
        <p:spPr bwMode="auto">
          <a:xfrm>
            <a:off x="3338513" y="18669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3</a:t>
            </a:r>
          </a:p>
        </p:txBody>
      </p:sp>
      <p:sp>
        <p:nvSpPr>
          <p:cNvPr id="3094" name="Oval 26"/>
          <p:cNvSpPr>
            <a:spLocks noChangeArrowheads="1"/>
          </p:cNvSpPr>
          <p:nvPr/>
        </p:nvSpPr>
        <p:spPr bwMode="auto">
          <a:xfrm>
            <a:off x="4938713" y="18669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4</a:t>
            </a:r>
          </a:p>
        </p:txBody>
      </p:sp>
      <p:sp>
        <p:nvSpPr>
          <p:cNvPr id="3095" name="Rectangle 28"/>
          <p:cNvSpPr>
            <a:spLocks noChangeArrowheads="1"/>
          </p:cNvSpPr>
          <p:nvPr/>
        </p:nvSpPr>
        <p:spPr bwMode="auto">
          <a:xfrm>
            <a:off x="936625" y="3344863"/>
            <a:ext cx="1335088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www.yahoo.co.in</a:t>
            </a:r>
          </a:p>
        </p:txBody>
      </p:sp>
      <p:graphicFrame>
        <p:nvGraphicFramePr>
          <p:cNvPr id="3077" name="Object 29"/>
          <p:cNvGraphicFramePr>
            <a:graphicFrameLocks noChangeAspect="1"/>
          </p:cNvGraphicFramePr>
          <p:nvPr/>
        </p:nvGraphicFramePr>
        <p:xfrm>
          <a:off x="442913" y="2781300"/>
          <a:ext cx="304800" cy="271463"/>
        </p:xfrm>
        <a:graphic>
          <a:graphicData uri="http://schemas.openxmlformats.org/presentationml/2006/ole">
            <p:oleObj spid="_x0000_s3077" name="Clip" r:id="rId9" imgW="2635200" imgH="2349720" progId="">
              <p:embed/>
            </p:oleObj>
          </a:graphicData>
        </a:graphic>
      </p:graphicFrame>
      <p:sp>
        <p:nvSpPr>
          <p:cNvPr id="28" name="Line 32"/>
          <p:cNvSpPr>
            <a:spLocks noChangeShapeType="1"/>
          </p:cNvSpPr>
          <p:nvPr/>
        </p:nvSpPr>
        <p:spPr bwMode="auto">
          <a:xfrm flipV="1">
            <a:off x="936625" y="2628900"/>
            <a:ext cx="381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97" name="Oval 33"/>
          <p:cNvSpPr>
            <a:spLocks noChangeArrowheads="1"/>
          </p:cNvSpPr>
          <p:nvPr/>
        </p:nvSpPr>
        <p:spPr bwMode="auto">
          <a:xfrm>
            <a:off x="5508625" y="13335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5</a:t>
            </a:r>
          </a:p>
        </p:txBody>
      </p:sp>
      <p:sp>
        <p:nvSpPr>
          <p:cNvPr id="3098" name="AutoShape 34"/>
          <p:cNvSpPr>
            <a:spLocks noChangeArrowheads="1"/>
          </p:cNvSpPr>
          <p:nvPr/>
        </p:nvSpPr>
        <p:spPr bwMode="auto">
          <a:xfrm>
            <a:off x="5280025" y="952500"/>
            <a:ext cx="457200" cy="381000"/>
          </a:xfrm>
          <a:prstGeom prst="can">
            <a:avLst>
              <a:gd name="adj" fmla="val 25000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35"/>
          <p:cNvSpPr>
            <a:spLocks noChangeShapeType="1"/>
          </p:cNvSpPr>
          <p:nvPr/>
        </p:nvSpPr>
        <p:spPr bwMode="auto">
          <a:xfrm>
            <a:off x="5508625" y="13335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00" name="Rectangle 37"/>
          <p:cNvSpPr>
            <a:spLocks noChangeArrowheads="1"/>
          </p:cNvSpPr>
          <p:nvPr/>
        </p:nvSpPr>
        <p:spPr bwMode="auto">
          <a:xfrm>
            <a:off x="900113" y="4076700"/>
            <a:ext cx="1408112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APN = www</a:t>
            </a:r>
          </a:p>
        </p:txBody>
      </p:sp>
      <p:sp>
        <p:nvSpPr>
          <p:cNvPr id="3101" name="Rectangle 38"/>
          <p:cNvSpPr>
            <a:spLocks noChangeArrowheads="1"/>
          </p:cNvSpPr>
          <p:nvPr/>
        </p:nvSpPr>
        <p:spPr bwMode="auto">
          <a:xfrm>
            <a:off x="5813425" y="952500"/>
            <a:ext cx="5048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DNS</a:t>
            </a:r>
          </a:p>
        </p:txBody>
      </p:sp>
      <p:sp>
        <p:nvSpPr>
          <p:cNvPr id="34" name="Line 41"/>
          <p:cNvSpPr>
            <a:spLocks noChangeShapeType="1"/>
          </p:cNvSpPr>
          <p:nvPr/>
        </p:nvSpPr>
        <p:spPr bwMode="auto">
          <a:xfrm flipH="1">
            <a:off x="1546225" y="2565400"/>
            <a:ext cx="6424613" cy="428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" name="Line 42"/>
          <p:cNvSpPr>
            <a:spLocks noChangeShapeType="1"/>
          </p:cNvSpPr>
          <p:nvPr/>
        </p:nvSpPr>
        <p:spPr bwMode="auto">
          <a:xfrm flipV="1">
            <a:off x="1089025" y="2628900"/>
            <a:ext cx="3810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04" name="Oval 43"/>
          <p:cNvSpPr>
            <a:spLocks noChangeArrowheads="1"/>
          </p:cNvSpPr>
          <p:nvPr/>
        </p:nvSpPr>
        <p:spPr bwMode="auto">
          <a:xfrm>
            <a:off x="4899025" y="26289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7</a:t>
            </a:r>
          </a:p>
        </p:txBody>
      </p:sp>
      <p:pic>
        <p:nvPicPr>
          <p:cNvPr id="3105" name="Picture 45"/>
          <p:cNvPicPr>
            <a:picLocks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17500" y="3238500"/>
            <a:ext cx="695325" cy="493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3106" name="Picture 48"/>
          <p:cNvPicPr>
            <a:picLocks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870825" y="1638300"/>
            <a:ext cx="127317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Line 50"/>
          <p:cNvSpPr>
            <a:spLocks noChangeShapeType="1"/>
          </p:cNvSpPr>
          <p:nvPr/>
        </p:nvSpPr>
        <p:spPr bwMode="auto">
          <a:xfrm>
            <a:off x="5813425" y="2247900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08" name="Rectangle 51"/>
          <p:cNvSpPr>
            <a:spLocks noChangeArrowheads="1"/>
          </p:cNvSpPr>
          <p:nvPr/>
        </p:nvSpPr>
        <p:spPr bwMode="auto">
          <a:xfrm>
            <a:off x="6118225" y="2324100"/>
            <a:ext cx="1676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Access to Internet</a:t>
            </a:r>
          </a:p>
        </p:txBody>
      </p:sp>
      <p:sp>
        <p:nvSpPr>
          <p:cNvPr id="3109" name="Rectangle 30"/>
          <p:cNvSpPr>
            <a:spLocks noChangeArrowheads="1"/>
          </p:cNvSpPr>
          <p:nvPr/>
        </p:nvSpPr>
        <p:spPr bwMode="auto">
          <a:xfrm>
            <a:off x="1143000" y="4660900"/>
            <a:ext cx="6970713" cy="158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1-3) URL Send (Payload)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4-5) GGSN routes the URL to DNS via Firewall to resolve IP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6)Payload request is  forwarded  to Yahoo server</a:t>
            </a:r>
            <a:r>
              <a:rPr lang="en-US" sz="2400">
                <a:latin typeface="Times New Roman" pitchFamily="18" charset="0"/>
              </a:rPr>
              <a:t> 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7-8) Content of the yahoo web site is downloaded to User</a:t>
            </a:r>
          </a:p>
        </p:txBody>
      </p:sp>
      <p:sp>
        <p:nvSpPr>
          <p:cNvPr id="3110" name="Text Box 49"/>
          <p:cNvSpPr txBox="1">
            <a:spLocks noChangeArrowheads="1"/>
          </p:cNvSpPr>
          <p:nvPr/>
        </p:nvSpPr>
        <p:spPr bwMode="auto">
          <a:xfrm>
            <a:off x="8115300" y="2076450"/>
            <a:ext cx="762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 b="1">
                <a:latin typeface="Helvetica 45 Light" pitchFamily="34" charset="0"/>
              </a:rPr>
              <a:t>Internet</a:t>
            </a:r>
          </a:p>
        </p:txBody>
      </p:sp>
      <p:sp>
        <p:nvSpPr>
          <p:cNvPr id="3111" name="Oval 43"/>
          <p:cNvSpPr>
            <a:spLocks noChangeArrowheads="1"/>
          </p:cNvSpPr>
          <p:nvPr/>
        </p:nvSpPr>
        <p:spPr bwMode="auto">
          <a:xfrm>
            <a:off x="1339850" y="2795588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8</a:t>
            </a:r>
          </a:p>
        </p:txBody>
      </p:sp>
      <p:sp>
        <p:nvSpPr>
          <p:cNvPr id="3112" name="Oval 26"/>
          <p:cNvSpPr>
            <a:spLocks noChangeArrowheads="1"/>
          </p:cNvSpPr>
          <p:nvPr/>
        </p:nvSpPr>
        <p:spPr bwMode="auto">
          <a:xfrm>
            <a:off x="6646863" y="1897063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8" grpId="0" animBg="1"/>
      <p:bldP spid="31" grpId="0" animBg="1"/>
      <p:bldP spid="34" grpId="0" animBg="1"/>
      <p:bldP spid="35" grpId="0" animBg="1"/>
      <p:bldP spid="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0F99EAC-1902-4AB9-B3CA-6FF7BEE0B5BC}" type="slidenum">
              <a:rPr lang="en-GB" smtClean="0"/>
              <a:pPr/>
              <a:t>7</a:t>
            </a:fld>
            <a:endParaRPr lang="en-GB" smtClean="0"/>
          </a:p>
        </p:txBody>
      </p:sp>
      <p:sp>
        <p:nvSpPr>
          <p:cNvPr id="4104" name="Rectangle 50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Presentation title in footer</a:t>
            </a:r>
          </a:p>
        </p:txBody>
      </p:sp>
      <p:sp>
        <p:nvSpPr>
          <p:cNvPr id="4105" name="Rectangle 52"/>
          <p:cNvSpPr>
            <a:spLocks noGrp="1" noChangeArrowheads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1A32A3B9-D66D-4153-A0B5-4A4481215FBD}" type="datetime4">
              <a:rPr lang="en-GB" smtClean="0"/>
              <a:pPr/>
              <a:t>18 June 2013</a:t>
            </a:fld>
            <a:endParaRPr lang="en-GB" smtClean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50838" y="204788"/>
            <a:ext cx="77724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ct val="90000"/>
              </a:lnSpc>
              <a:defRPr/>
            </a:pPr>
            <a:r>
              <a:rPr lang="en-US" sz="24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MMS Submission</a:t>
            </a:r>
          </a:p>
        </p:txBody>
      </p:sp>
      <p:pic>
        <p:nvPicPr>
          <p:cNvPr id="4107" name="Picture 4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2571750"/>
            <a:ext cx="1135063" cy="914400"/>
          </a:xfrm>
          <a:prstGeom prst="rect">
            <a:avLst/>
          </a:prstGeom>
          <a:solidFill>
            <a:srgbClr val="00B8B4"/>
          </a:solidFill>
          <a:ln w="9525">
            <a:noFill/>
            <a:miter lim="800000"/>
            <a:headEnd/>
            <a:tailEnd/>
          </a:ln>
        </p:spPr>
      </p:pic>
      <p:pic>
        <p:nvPicPr>
          <p:cNvPr id="4108" name="Picture 5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2913063"/>
            <a:ext cx="612775" cy="68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9" name="Text Box 6"/>
          <p:cNvSpPr txBox="1">
            <a:spLocks noChangeArrowheads="1"/>
          </p:cNvSpPr>
          <p:nvPr/>
        </p:nvSpPr>
        <p:spPr bwMode="auto">
          <a:xfrm>
            <a:off x="0" y="3714750"/>
            <a:ext cx="7572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 b="1">
                <a:latin typeface="Helvetica 45 Light" pitchFamily="34" charset="0"/>
              </a:rPr>
              <a:t>GPRS</a:t>
            </a:r>
          </a:p>
        </p:txBody>
      </p:sp>
      <p:pic>
        <p:nvPicPr>
          <p:cNvPr id="4110" name="Picture 7"/>
          <p:cNvPicPr>
            <a:picLocks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08050" y="1657350"/>
            <a:ext cx="4064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1" name="Rectangle 8"/>
          <p:cNvSpPr>
            <a:spLocks noChangeArrowheads="1"/>
          </p:cNvSpPr>
          <p:nvPr/>
        </p:nvSpPr>
        <p:spPr bwMode="auto">
          <a:xfrm>
            <a:off x="2043113" y="1001713"/>
            <a:ext cx="6111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SGSN</a:t>
            </a:r>
          </a:p>
        </p:txBody>
      </p:sp>
      <p:sp>
        <p:nvSpPr>
          <p:cNvPr id="4112" name="Rectangle 9"/>
          <p:cNvSpPr>
            <a:spLocks noChangeArrowheads="1"/>
          </p:cNvSpPr>
          <p:nvPr/>
        </p:nvSpPr>
        <p:spPr bwMode="auto">
          <a:xfrm>
            <a:off x="908050" y="955675"/>
            <a:ext cx="4937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BSC</a:t>
            </a:r>
          </a:p>
        </p:txBody>
      </p:sp>
      <p:sp>
        <p:nvSpPr>
          <p:cNvPr id="4113" name="Rectangle 10"/>
          <p:cNvSpPr>
            <a:spLocks noChangeArrowheads="1"/>
          </p:cNvSpPr>
          <p:nvPr/>
        </p:nvSpPr>
        <p:spPr bwMode="auto">
          <a:xfrm>
            <a:off x="3533775" y="1001713"/>
            <a:ext cx="6286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GGSN</a:t>
            </a:r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 flipV="1">
            <a:off x="1285875" y="2038350"/>
            <a:ext cx="8334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" name="Line 12"/>
          <p:cNvSpPr>
            <a:spLocks noChangeShapeType="1"/>
          </p:cNvSpPr>
          <p:nvPr/>
        </p:nvSpPr>
        <p:spPr bwMode="auto">
          <a:xfrm>
            <a:off x="2800350" y="2038350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" name="Line 13"/>
          <p:cNvSpPr>
            <a:spLocks noChangeShapeType="1"/>
          </p:cNvSpPr>
          <p:nvPr/>
        </p:nvSpPr>
        <p:spPr bwMode="auto">
          <a:xfrm flipH="1" flipV="1">
            <a:off x="7945438" y="2266950"/>
            <a:ext cx="379412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Line 14"/>
          <p:cNvSpPr>
            <a:spLocks noChangeShapeType="1"/>
          </p:cNvSpPr>
          <p:nvPr/>
        </p:nvSpPr>
        <p:spPr bwMode="auto">
          <a:xfrm>
            <a:off x="4464050" y="1962150"/>
            <a:ext cx="5302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4118" name="Picture 15"/>
          <p:cNvPicPr>
            <a:picLocks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630988" y="1733550"/>
            <a:ext cx="4064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9" name="Rectangle 16"/>
          <p:cNvSpPr>
            <a:spLocks noChangeArrowheads="1"/>
          </p:cNvSpPr>
          <p:nvPr/>
        </p:nvSpPr>
        <p:spPr bwMode="auto">
          <a:xfrm>
            <a:off x="7340600" y="2647950"/>
            <a:ext cx="5111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SMS</a:t>
            </a:r>
          </a:p>
        </p:txBody>
      </p:sp>
      <p:pic>
        <p:nvPicPr>
          <p:cNvPr id="4120" name="Picture 17"/>
          <p:cNvPicPr>
            <a:picLocks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539038" y="1657350"/>
            <a:ext cx="4064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21" name="Rectangle 18"/>
          <p:cNvSpPr>
            <a:spLocks noChangeArrowheads="1"/>
          </p:cNvSpPr>
          <p:nvPr/>
        </p:nvSpPr>
        <p:spPr bwMode="auto">
          <a:xfrm>
            <a:off x="7491413" y="1001713"/>
            <a:ext cx="62071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SMSC</a:t>
            </a:r>
          </a:p>
        </p:txBody>
      </p:sp>
      <p:sp>
        <p:nvSpPr>
          <p:cNvPr id="4122" name="Rectangle 19"/>
          <p:cNvSpPr>
            <a:spLocks noChangeArrowheads="1"/>
          </p:cNvSpPr>
          <p:nvPr/>
        </p:nvSpPr>
        <p:spPr bwMode="auto">
          <a:xfrm>
            <a:off x="7870825" y="1839913"/>
            <a:ext cx="12731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SMS notification</a:t>
            </a:r>
          </a:p>
        </p:txBody>
      </p:sp>
      <p:graphicFrame>
        <p:nvGraphicFramePr>
          <p:cNvPr id="4098" name="Object 20"/>
          <p:cNvGraphicFramePr>
            <a:graphicFrameLocks noChangeAspect="1"/>
          </p:cNvGraphicFramePr>
          <p:nvPr/>
        </p:nvGraphicFramePr>
        <p:xfrm>
          <a:off x="4918075" y="1581150"/>
          <a:ext cx="592138" cy="914400"/>
        </p:xfrm>
        <a:graphic>
          <a:graphicData uri="http://schemas.openxmlformats.org/presentationml/2006/ole">
            <p:oleObj spid="_x0000_s4098" name="Clip" r:id="rId9" imgW="3031560" imgH="4533480" progId="">
              <p:embed/>
            </p:oleObj>
          </a:graphicData>
        </a:graphic>
      </p:graphicFrame>
      <p:sp>
        <p:nvSpPr>
          <p:cNvPr id="4123" name="Rectangle 21"/>
          <p:cNvSpPr>
            <a:spLocks noChangeArrowheads="1"/>
          </p:cNvSpPr>
          <p:nvPr/>
        </p:nvSpPr>
        <p:spPr bwMode="auto">
          <a:xfrm>
            <a:off x="4691063" y="1001713"/>
            <a:ext cx="9842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FIREWALL</a:t>
            </a:r>
          </a:p>
        </p:txBody>
      </p:sp>
      <p:sp>
        <p:nvSpPr>
          <p:cNvPr id="28" name="Line 22"/>
          <p:cNvSpPr>
            <a:spLocks noChangeShapeType="1"/>
          </p:cNvSpPr>
          <p:nvPr/>
        </p:nvSpPr>
        <p:spPr bwMode="auto">
          <a:xfrm>
            <a:off x="5448300" y="1962150"/>
            <a:ext cx="454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9" name="Line 23"/>
          <p:cNvSpPr>
            <a:spLocks noChangeShapeType="1"/>
          </p:cNvSpPr>
          <p:nvPr/>
        </p:nvSpPr>
        <p:spPr bwMode="auto">
          <a:xfrm flipH="1" flipV="1">
            <a:off x="6962775" y="1962150"/>
            <a:ext cx="6048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26" name="Rectangle 26"/>
          <p:cNvSpPr>
            <a:spLocks noChangeArrowheads="1"/>
          </p:cNvSpPr>
          <p:nvPr/>
        </p:nvSpPr>
        <p:spPr bwMode="auto">
          <a:xfrm>
            <a:off x="6508750" y="1001713"/>
            <a:ext cx="7556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MMSC</a:t>
            </a:r>
          </a:p>
        </p:txBody>
      </p:sp>
      <p:sp>
        <p:nvSpPr>
          <p:cNvPr id="4127" name="Text Box 27"/>
          <p:cNvSpPr txBox="1">
            <a:spLocks noChangeArrowheads="1"/>
          </p:cNvSpPr>
          <p:nvPr/>
        </p:nvSpPr>
        <p:spPr bwMode="auto">
          <a:xfrm>
            <a:off x="8324850" y="3722688"/>
            <a:ext cx="7556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 b="1">
                <a:latin typeface="Helvetica 45 Light" pitchFamily="34" charset="0"/>
              </a:rPr>
              <a:t>GPRS</a:t>
            </a:r>
          </a:p>
        </p:txBody>
      </p:sp>
      <p:graphicFrame>
        <p:nvGraphicFramePr>
          <p:cNvPr id="4099" name="Object 28"/>
          <p:cNvGraphicFramePr>
            <a:graphicFrameLocks noChangeAspect="1"/>
          </p:cNvGraphicFramePr>
          <p:nvPr/>
        </p:nvGraphicFramePr>
        <p:xfrm flipH="1">
          <a:off x="2043113" y="1504950"/>
          <a:ext cx="771525" cy="1143000"/>
        </p:xfrm>
        <a:graphic>
          <a:graphicData uri="http://schemas.openxmlformats.org/presentationml/2006/ole">
            <p:oleObj spid="_x0000_s4099" name="Clip" r:id="rId10" imgW="1634400" imgH="2286360" progId="">
              <p:embed/>
            </p:oleObj>
          </a:graphicData>
        </a:graphic>
      </p:graphicFrame>
      <p:graphicFrame>
        <p:nvGraphicFramePr>
          <p:cNvPr id="4100" name="Object 29"/>
          <p:cNvGraphicFramePr>
            <a:graphicFrameLocks noChangeAspect="1"/>
          </p:cNvGraphicFramePr>
          <p:nvPr/>
        </p:nvGraphicFramePr>
        <p:xfrm flipH="1">
          <a:off x="3481388" y="1352550"/>
          <a:ext cx="1028700" cy="1524000"/>
        </p:xfrm>
        <a:graphic>
          <a:graphicData uri="http://schemas.openxmlformats.org/presentationml/2006/ole">
            <p:oleObj spid="_x0000_s4100" name="Clip" r:id="rId11" imgW="1634400" imgH="2286360" progId="">
              <p:embed/>
            </p:oleObj>
          </a:graphicData>
        </a:graphic>
      </p:graphicFrame>
      <p:sp>
        <p:nvSpPr>
          <p:cNvPr id="34" name="Line 30"/>
          <p:cNvSpPr>
            <a:spLocks noChangeShapeType="1"/>
          </p:cNvSpPr>
          <p:nvPr/>
        </p:nvSpPr>
        <p:spPr bwMode="auto">
          <a:xfrm flipH="1" flipV="1">
            <a:off x="6810375" y="241935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29" name="Oval 34"/>
          <p:cNvSpPr>
            <a:spLocks noChangeArrowheads="1"/>
          </p:cNvSpPr>
          <p:nvPr/>
        </p:nvSpPr>
        <p:spPr bwMode="auto">
          <a:xfrm>
            <a:off x="604838" y="2343150"/>
            <a:ext cx="227012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1</a:t>
            </a:r>
          </a:p>
        </p:txBody>
      </p:sp>
      <p:sp>
        <p:nvSpPr>
          <p:cNvPr id="4130" name="Oval 35"/>
          <p:cNvSpPr>
            <a:spLocks noChangeArrowheads="1"/>
          </p:cNvSpPr>
          <p:nvPr/>
        </p:nvSpPr>
        <p:spPr bwMode="auto">
          <a:xfrm>
            <a:off x="1512888" y="1628775"/>
            <a:ext cx="227012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2</a:t>
            </a:r>
          </a:p>
        </p:txBody>
      </p:sp>
      <p:sp>
        <p:nvSpPr>
          <p:cNvPr id="4131" name="Oval 36"/>
          <p:cNvSpPr>
            <a:spLocks noChangeArrowheads="1"/>
          </p:cNvSpPr>
          <p:nvPr/>
        </p:nvSpPr>
        <p:spPr bwMode="auto">
          <a:xfrm>
            <a:off x="3027363" y="1581150"/>
            <a:ext cx="227012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3</a:t>
            </a:r>
          </a:p>
        </p:txBody>
      </p:sp>
      <p:sp>
        <p:nvSpPr>
          <p:cNvPr id="4132" name="Oval 37"/>
          <p:cNvSpPr>
            <a:spLocks noChangeArrowheads="1"/>
          </p:cNvSpPr>
          <p:nvPr/>
        </p:nvSpPr>
        <p:spPr bwMode="auto">
          <a:xfrm>
            <a:off x="4616450" y="1581150"/>
            <a:ext cx="227013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4</a:t>
            </a:r>
          </a:p>
        </p:txBody>
      </p:sp>
      <p:sp>
        <p:nvSpPr>
          <p:cNvPr id="4133" name="Oval 38"/>
          <p:cNvSpPr>
            <a:spLocks noChangeArrowheads="1"/>
          </p:cNvSpPr>
          <p:nvPr/>
        </p:nvSpPr>
        <p:spPr bwMode="auto">
          <a:xfrm>
            <a:off x="7113588" y="1581150"/>
            <a:ext cx="227012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9</a:t>
            </a:r>
          </a:p>
        </p:txBody>
      </p:sp>
      <p:sp>
        <p:nvSpPr>
          <p:cNvPr id="4134" name="Oval 39"/>
          <p:cNvSpPr>
            <a:spLocks noChangeArrowheads="1"/>
          </p:cNvSpPr>
          <p:nvPr/>
        </p:nvSpPr>
        <p:spPr bwMode="auto">
          <a:xfrm>
            <a:off x="5745163" y="2495550"/>
            <a:ext cx="227012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6</a:t>
            </a:r>
          </a:p>
        </p:txBody>
      </p:sp>
      <p:sp>
        <p:nvSpPr>
          <p:cNvPr id="4135" name="Oval 40"/>
          <p:cNvSpPr>
            <a:spLocks noChangeArrowheads="1"/>
          </p:cNvSpPr>
          <p:nvPr/>
        </p:nvSpPr>
        <p:spPr bwMode="auto">
          <a:xfrm>
            <a:off x="6962775" y="2800350"/>
            <a:ext cx="227013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8</a:t>
            </a:r>
          </a:p>
        </p:txBody>
      </p:sp>
      <p:sp>
        <p:nvSpPr>
          <p:cNvPr id="4136" name="Oval 41"/>
          <p:cNvSpPr>
            <a:spLocks noChangeArrowheads="1"/>
          </p:cNvSpPr>
          <p:nvPr/>
        </p:nvSpPr>
        <p:spPr bwMode="auto">
          <a:xfrm>
            <a:off x="8172450" y="2266950"/>
            <a:ext cx="227013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10</a:t>
            </a:r>
          </a:p>
        </p:txBody>
      </p:sp>
      <p:graphicFrame>
        <p:nvGraphicFramePr>
          <p:cNvPr id="4101" name="Object 44"/>
          <p:cNvGraphicFramePr>
            <a:graphicFrameLocks noChangeAspect="1"/>
          </p:cNvGraphicFramePr>
          <p:nvPr/>
        </p:nvGraphicFramePr>
        <p:xfrm>
          <a:off x="150813" y="2495550"/>
          <a:ext cx="303212" cy="271463"/>
        </p:xfrm>
        <a:graphic>
          <a:graphicData uri="http://schemas.openxmlformats.org/presentationml/2006/ole">
            <p:oleObj spid="_x0000_s4101" name="Clip" r:id="rId12" imgW="2635200" imgH="2349720" progId="">
              <p:embed/>
            </p:oleObj>
          </a:graphicData>
        </a:graphic>
      </p:graphicFrame>
      <p:graphicFrame>
        <p:nvGraphicFramePr>
          <p:cNvPr id="4102" name="Object 46"/>
          <p:cNvGraphicFramePr>
            <a:graphicFrameLocks noChangeAspect="1"/>
          </p:cNvGraphicFramePr>
          <p:nvPr/>
        </p:nvGraphicFramePr>
        <p:xfrm>
          <a:off x="6281738" y="3409950"/>
          <a:ext cx="301625" cy="271463"/>
        </p:xfrm>
        <a:graphic>
          <a:graphicData uri="http://schemas.openxmlformats.org/presentationml/2006/ole">
            <p:oleObj spid="_x0000_s4102" name="Clip" r:id="rId13" imgW="2635200" imgH="2349720" progId="">
              <p:embed/>
            </p:oleObj>
          </a:graphicData>
        </a:graphic>
      </p:graphicFrame>
      <p:sp>
        <p:nvSpPr>
          <p:cNvPr id="4137" name="Rectangle 48"/>
          <p:cNvSpPr>
            <a:spLocks noChangeArrowheads="1"/>
          </p:cNvSpPr>
          <p:nvPr/>
        </p:nvSpPr>
        <p:spPr bwMode="auto">
          <a:xfrm>
            <a:off x="8324850" y="3994150"/>
            <a:ext cx="644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User B</a:t>
            </a:r>
          </a:p>
        </p:txBody>
      </p:sp>
      <p:sp>
        <p:nvSpPr>
          <p:cNvPr id="4138" name="AutoShape 49"/>
          <p:cNvSpPr>
            <a:spLocks noChangeArrowheads="1"/>
          </p:cNvSpPr>
          <p:nvPr/>
        </p:nvSpPr>
        <p:spPr bwMode="auto">
          <a:xfrm>
            <a:off x="6659563" y="3257550"/>
            <a:ext cx="303212" cy="457200"/>
          </a:xfrm>
          <a:prstGeom prst="can">
            <a:avLst>
              <a:gd name="adj" fmla="val 37438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4139" name="Picture 50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02325" y="1771650"/>
            <a:ext cx="4064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40" name="Rectangle 52"/>
          <p:cNvSpPr>
            <a:spLocks noChangeArrowheads="1"/>
          </p:cNvSpPr>
          <p:nvPr/>
        </p:nvSpPr>
        <p:spPr bwMode="auto">
          <a:xfrm>
            <a:off x="5675313" y="1001713"/>
            <a:ext cx="9080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WAP G/w</a:t>
            </a:r>
          </a:p>
        </p:txBody>
      </p:sp>
      <p:sp>
        <p:nvSpPr>
          <p:cNvPr id="49" name="Line 53"/>
          <p:cNvSpPr>
            <a:spLocks noChangeShapeType="1"/>
          </p:cNvSpPr>
          <p:nvPr/>
        </p:nvSpPr>
        <p:spPr bwMode="auto">
          <a:xfrm flipV="1">
            <a:off x="757238" y="2343150"/>
            <a:ext cx="377825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42" name="Oval 54"/>
          <p:cNvSpPr>
            <a:spLocks noChangeArrowheads="1"/>
          </p:cNvSpPr>
          <p:nvPr/>
        </p:nvSpPr>
        <p:spPr bwMode="auto">
          <a:xfrm>
            <a:off x="5524500" y="1581150"/>
            <a:ext cx="227013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5</a:t>
            </a:r>
          </a:p>
        </p:txBody>
      </p:sp>
      <p:sp>
        <p:nvSpPr>
          <p:cNvPr id="4143" name="AutoShape 55"/>
          <p:cNvSpPr>
            <a:spLocks noChangeArrowheads="1"/>
          </p:cNvSpPr>
          <p:nvPr/>
        </p:nvSpPr>
        <p:spPr bwMode="auto">
          <a:xfrm>
            <a:off x="5902325" y="2800350"/>
            <a:ext cx="454025" cy="381000"/>
          </a:xfrm>
          <a:prstGeom prst="can">
            <a:avLst>
              <a:gd name="adj" fmla="val 25000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Line 56"/>
          <p:cNvSpPr>
            <a:spLocks noChangeShapeType="1"/>
          </p:cNvSpPr>
          <p:nvPr/>
        </p:nvSpPr>
        <p:spPr bwMode="auto">
          <a:xfrm>
            <a:off x="6184900" y="24955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45" name="Oval 57"/>
          <p:cNvSpPr>
            <a:spLocks noChangeArrowheads="1"/>
          </p:cNvSpPr>
          <p:nvPr/>
        </p:nvSpPr>
        <p:spPr bwMode="auto">
          <a:xfrm>
            <a:off x="6356350" y="1581150"/>
            <a:ext cx="227013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7</a:t>
            </a:r>
          </a:p>
        </p:txBody>
      </p:sp>
      <p:pic>
        <p:nvPicPr>
          <p:cNvPr id="4146" name="Picture 42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897813" y="2813050"/>
            <a:ext cx="1273175" cy="9144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</p:pic>
      <p:pic>
        <p:nvPicPr>
          <p:cNvPr id="4147" name="Picture 43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59763" y="2925763"/>
            <a:ext cx="617537" cy="68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48" name="Rectangle 48"/>
          <p:cNvSpPr>
            <a:spLocks noChangeArrowheads="1"/>
          </p:cNvSpPr>
          <p:nvPr/>
        </p:nvSpPr>
        <p:spPr bwMode="auto">
          <a:xfrm>
            <a:off x="96838" y="3968750"/>
            <a:ext cx="646112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User A</a:t>
            </a:r>
          </a:p>
        </p:txBody>
      </p:sp>
      <p:sp>
        <p:nvSpPr>
          <p:cNvPr id="4149" name="Rectangle 58"/>
          <p:cNvSpPr>
            <a:spLocks noChangeArrowheads="1"/>
          </p:cNvSpPr>
          <p:nvPr/>
        </p:nvSpPr>
        <p:spPr bwMode="auto">
          <a:xfrm>
            <a:off x="955675" y="3424238"/>
            <a:ext cx="4067175" cy="9286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50" name="Rectangle 58"/>
          <p:cNvSpPr>
            <a:spLocks noChangeArrowheads="1"/>
          </p:cNvSpPr>
          <p:nvPr/>
        </p:nvSpPr>
        <p:spPr bwMode="auto">
          <a:xfrm>
            <a:off x="989013" y="3425825"/>
            <a:ext cx="4087812" cy="86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APN = portalnmms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Gateway IP Address = 10.10.1.100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Message Server = http://mms1.live.vodafone.in/mms/</a:t>
            </a:r>
          </a:p>
        </p:txBody>
      </p:sp>
      <p:sp>
        <p:nvSpPr>
          <p:cNvPr id="4151" name="Rectangle 31"/>
          <p:cNvSpPr>
            <a:spLocks noChangeArrowheads="1"/>
          </p:cNvSpPr>
          <p:nvPr/>
        </p:nvSpPr>
        <p:spPr bwMode="auto">
          <a:xfrm>
            <a:off x="6402388" y="3756025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Message storage</a:t>
            </a:r>
          </a:p>
        </p:txBody>
      </p:sp>
      <p:sp>
        <p:nvSpPr>
          <p:cNvPr id="61" name="Line 51"/>
          <p:cNvSpPr>
            <a:spLocks noChangeShapeType="1"/>
          </p:cNvSpPr>
          <p:nvPr/>
        </p:nvSpPr>
        <p:spPr bwMode="auto">
          <a:xfrm>
            <a:off x="6297613" y="1989138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53" name="Rectangle 59"/>
          <p:cNvSpPr>
            <a:spLocks noChangeArrowheads="1"/>
          </p:cNvSpPr>
          <p:nvPr/>
        </p:nvSpPr>
        <p:spPr bwMode="auto">
          <a:xfrm>
            <a:off x="5753100" y="3194050"/>
            <a:ext cx="704850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Gi DNS</a:t>
            </a:r>
          </a:p>
        </p:txBody>
      </p:sp>
      <p:sp>
        <p:nvSpPr>
          <p:cNvPr id="63" name="Line 56"/>
          <p:cNvSpPr>
            <a:spLocks noChangeShapeType="1"/>
          </p:cNvSpPr>
          <p:nvPr/>
        </p:nvSpPr>
        <p:spPr bwMode="auto">
          <a:xfrm flipH="1" flipV="1">
            <a:off x="6032500" y="2455863"/>
            <a:ext cx="0" cy="3286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55" name="Rectangle 45"/>
          <p:cNvSpPr>
            <a:spLocks noChangeArrowheads="1"/>
          </p:cNvSpPr>
          <p:nvPr/>
        </p:nvSpPr>
        <p:spPr bwMode="auto">
          <a:xfrm>
            <a:off x="650875" y="4538663"/>
            <a:ext cx="7848600" cy="166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1-3) MMS Send (Payload)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4-5) GGSN routes the Payload to WAP G/W via Firewall ( Routed using G/w IP Address)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6-7)WAP G/w resolves the MMSC name using DNS and forwards the Payload to MMSC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8) MMS stores the Payload (MMS Message )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9-10) SMS notification is sent to the User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8" grpId="0" animBg="1"/>
      <p:bldP spid="29" grpId="0" animBg="1"/>
      <p:bldP spid="34" grpId="0" animBg="1"/>
      <p:bldP spid="49" grpId="0" animBg="1"/>
      <p:bldP spid="52" grpId="0" animBg="1"/>
      <p:bldP spid="61" grpId="0" animBg="1"/>
      <p:bldP spid="6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4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CA218C1-C58D-4E0A-B02F-CC89B5DA1CF0}" type="slidenum">
              <a:rPr lang="en-GB" smtClean="0"/>
              <a:pPr/>
              <a:t>8</a:t>
            </a:fld>
            <a:endParaRPr lang="en-GB" smtClean="0"/>
          </a:p>
        </p:txBody>
      </p:sp>
      <p:sp>
        <p:nvSpPr>
          <p:cNvPr id="5128" name="Rectangle 50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Presentation title in footer</a:t>
            </a:r>
          </a:p>
        </p:txBody>
      </p:sp>
      <p:sp>
        <p:nvSpPr>
          <p:cNvPr id="5129" name="Rectangle 52"/>
          <p:cNvSpPr>
            <a:spLocks noGrp="1" noChangeArrowheads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BB036953-6E12-4CD0-8883-CD0A07E08EF6}" type="datetime4">
              <a:rPr lang="en-GB" smtClean="0"/>
              <a:pPr/>
              <a:t>18 June 2013</a:t>
            </a:fld>
            <a:endParaRPr lang="en-GB" smtClean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82588" y="246063"/>
            <a:ext cx="77724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ct val="90000"/>
              </a:lnSpc>
              <a:defRPr/>
            </a:pPr>
            <a:r>
              <a:rPr lang="en-US" sz="24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MMS Delivery </a:t>
            </a:r>
          </a:p>
        </p:txBody>
      </p:sp>
      <p:pic>
        <p:nvPicPr>
          <p:cNvPr id="5131" name="Picture 3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688" y="2895600"/>
            <a:ext cx="1273175" cy="9144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</p:pic>
      <p:pic>
        <p:nvPicPr>
          <p:cNvPr id="5132" name="Picture 4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688" y="3008313"/>
            <a:ext cx="617537" cy="68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33" name="Text Box 5"/>
          <p:cNvSpPr txBox="1">
            <a:spLocks noChangeArrowheads="1"/>
          </p:cNvSpPr>
          <p:nvPr/>
        </p:nvSpPr>
        <p:spPr bwMode="auto">
          <a:xfrm>
            <a:off x="39688" y="3810000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 b="1">
                <a:latin typeface="Helvetica 45 Light" pitchFamily="34" charset="0"/>
              </a:rPr>
              <a:t>GPRS User B</a:t>
            </a:r>
          </a:p>
        </p:txBody>
      </p:sp>
      <p:pic>
        <p:nvPicPr>
          <p:cNvPr id="5134" name="Picture 7"/>
          <p:cNvPicPr>
            <a:picLocks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54088" y="1752600"/>
            <a:ext cx="4095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35" name="Rectangle 8"/>
          <p:cNvSpPr>
            <a:spLocks noChangeArrowheads="1"/>
          </p:cNvSpPr>
          <p:nvPr/>
        </p:nvSpPr>
        <p:spPr bwMode="auto">
          <a:xfrm>
            <a:off x="2097088" y="1096963"/>
            <a:ext cx="6159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SGSN</a:t>
            </a:r>
          </a:p>
        </p:txBody>
      </p:sp>
      <p:sp>
        <p:nvSpPr>
          <p:cNvPr id="5136" name="Rectangle 9"/>
          <p:cNvSpPr>
            <a:spLocks noChangeArrowheads="1"/>
          </p:cNvSpPr>
          <p:nvPr/>
        </p:nvSpPr>
        <p:spPr bwMode="auto">
          <a:xfrm>
            <a:off x="954088" y="1050925"/>
            <a:ext cx="4968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BSC</a:t>
            </a:r>
          </a:p>
        </p:txBody>
      </p:sp>
      <p:sp>
        <p:nvSpPr>
          <p:cNvPr id="5137" name="Rectangle 10"/>
          <p:cNvSpPr>
            <a:spLocks noChangeArrowheads="1"/>
          </p:cNvSpPr>
          <p:nvPr/>
        </p:nvSpPr>
        <p:spPr bwMode="auto">
          <a:xfrm>
            <a:off x="3597275" y="1096963"/>
            <a:ext cx="6334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GGSN</a:t>
            </a:r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 flipH="1" flipV="1">
            <a:off x="1338263" y="2074863"/>
            <a:ext cx="8318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" name="Line 12"/>
          <p:cNvSpPr>
            <a:spLocks noChangeShapeType="1"/>
          </p:cNvSpPr>
          <p:nvPr/>
        </p:nvSpPr>
        <p:spPr bwMode="auto">
          <a:xfrm flipH="1" flipV="1">
            <a:off x="2852738" y="2116138"/>
            <a:ext cx="790575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" name="Line 13"/>
          <p:cNvSpPr>
            <a:spLocks noChangeShapeType="1"/>
          </p:cNvSpPr>
          <p:nvPr/>
        </p:nvSpPr>
        <p:spPr bwMode="auto">
          <a:xfrm flipH="1" flipV="1">
            <a:off x="8040688" y="2362200"/>
            <a:ext cx="417512" cy="533400"/>
          </a:xfrm>
          <a:prstGeom prst="line">
            <a:avLst/>
          </a:prstGeom>
          <a:noFill/>
          <a:ln w="9525">
            <a:solidFill>
              <a:srgbClr val="0070C0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5141" name="Picture 15"/>
          <p:cNvPicPr>
            <a:picLocks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716713" y="1828800"/>
            <a:ext cx="4095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42" name="Picture 17"/>
          <p:cNvPicPr>
            <a:picLocks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631113" y="1752600"/>
            <a:ext cx="4095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43" name="Rectangle 18"/>
          <p:cNvSpPr>
            <a:spLocks noChangeArrowheads="1"/>
          </p:cNvSpPr>
          <p:nvPr/>
        </p:nvSpPr>
        <p:spPr bwMode="auto">
          <a:xfrm>
            <a:off x="7583488" y="1096963"/>
            <a:ext cx="6238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SMSC</a:t>
            </a:r>
          </a:p>
        </p:txBody>
      </p:sp>
      <p:sp>
        <p:nvSpPr>
          <p:cNvPr id="5144" name="Rectangle 19"/>
          <p:cNvSpPr>
            <a:spLocks noChangeArrowheads="1"/>
          </p:cNvSpPr>
          <p:nvPr/>
        </p:nvSpPr>
        <p:spPr bwMode="auto">
          <a:xfrm>
            <a:off x="8153400" y="2163763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Delivery notification</a:t>
            </a:r>
          </a:p>
        </p:txBody>
      </p:sp>
      <p:graphicFrame>
        <p:nvGraphicFramePr>
          <p:cNvPr id="5122" name="Object 20"/>
          <p:cNvGraphicFramePr>
            <a:graphicFrameLocks noChangeAspect="1"/>
          </p:cNvGraphicFramePr>
          <p:nvPr/>
        </p:nvGraphicFramePr>
        <p:xfrm>
          <a:off x="4992688" y="1676400"/>
          <a:ext cx="595312" cy="914400"/>
        </p:xfrm>
        <a:graphic>
          <a:graphicData uri="http://schemas.openxmlformats.org/presentationml/2006/ole">
            <p:oleObj spid="_x0000_s5122" name="Clip" r:id="rId9" imgW="3031560" imgH="4533480" progId="">
              <p:embed/>
            </p:oleObj>
          </a:graphicData>
        </a:graphic>
      </p:graphicFrame>
      <p:sp>
        <p:nvSpPr>
          <p:cNvPr id="5145" name="Rectangle 21"/>
          <p:cNvSpPr>
            <a:spLocks noChangeArrowheads="1"/>
          </p:cNvSpPr>
          <p:nvPr/>
        </p:nvSpPr>
        <p:spPr bwMode="auto">
          <a:xfrm>
            <a:off x="4572000" y="1219200"/>
            <a:ext cx="990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FIREWALL</a:t>
            </a:r>
          </a:p>
        </p:txBody>
      </p:sp>
      <p:sp>
        <p:nvSpPr>
          <p:cNvPr id="27" name="Line 22"/>
          <p:cNvSpPr>
            <a:spLocks noChangeShapeType="1"/>
          </p:cNvSpPr>
          <p:nvPr/>
        </p:nvSpPr>
        <p:spPr bwMode="auto">
          <a:xfrm flipH="1">
            <a:off x="5472113" y="2098675"/>
            <a:ext cx="517525" cy="3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" name="Line 23"/>
          <p:cNvSpPr>
            <a:spLocks noChangeShapeType="1"/>
          </p:cNvSpPr>
          <p:nvPr/>
        </p:nvSpPr>
        <p:spPr bwMode="auto">
          <a:xfrm flipH="1" flipV="1">
            <a:off x="7050088" y="2057400"/>
            <a:ext cx="609600" cy="0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48" name="Rectangle 26"/>
          <p:cNvSpPr>
            <a:spLocks noChangeArrowheads="1"/>
          </p:cNvSpPr>
          <p:nvPr/>
        </p:nvSpPr>
        <p:spPr bwMode="auto">
          <a:xfrm>
            <a:off x="6592888" y="1096963"/>
            <a:ext cx="762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MMSC</a:t>
            </a:r>
          </a:p>
        </p:txBody>
      </p:sp>
      <p:sp>
        <p:nvSpPr>
          <p:cNvPr id="5149" name="Text Box 27"/>
          <p:cNvSpPr txBox="1">
            <a:spLocks noChangeArrowheads="1"/>
          </p:cNvSpPr>
          <p:nvPr/>
        </p:nvSpPr>
        <p:spPr bwMode="auto">
          <a:xfrm>
            <a:off x="8058150" y="3886200"/>
            <a:ext cx="8667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 b="1">
                <a:latin typeface="Helvetica 45 Light" pitchFamily="34" charset="0"/>
              </a:rPr>
              <a:t>GPRS User A</a:t>
            </a:r>
          </a:p>
        </p:txBody>
      </p:sp>
      <p:graphicFrame>
        <p:nvGraphicFramePr>
          <p:cNvPr id="5123" name="Object 28"/>
          <p:cNvGraphicFramePr>
            <a:graphicFrameLocks noChangeAspect="1"/>
          </p:cNvGraphicFramePr>
          <p:nvPr/>
        </p:nvGraphicFramePr>
        <p:xfrm flipH="1">
          <a:off x="2097088" y="1600200"/>
          <a:ext cx="776287" cy="1143000"/>
        </p:xfrm>
        <a:graphic>
          <a:graphicData uri="http://schemas.openxmlformats.org/presentationml/2006/ole">
            <p:oleObj spid="_x0000_s5123" name="Clip" r:id="rId10" imgW="1634400" imgH="2286360" progId="">
              <p:embed/>
            </p:oleObj>
          </a:graphicData>
        </a:graphic>
      </p:graphicFrame>
      <p:graphicFrame>
        <p:nvGraphicFramePr>
          <p:cNvPr id="5124" name="Object 29"/>
          <p:cNvGraphicFramePr>
            <a:graphicFrameLocks noChangeAspect="1"/>
          </p:cNvGraphicFramePr>
          <p:nvPr/>
        </p:nvGraphicFramePr>
        <p:xfrm flipH="1">
          <a:off x="3544888" y="1447800"/>
          <a:ext cx="1036637" cy="1524000"/>
        </p:xfrm>
        <a:graphic>
          <a:graphicData uri="http://schemas.openxmlformats.org/presentationml/2006/ole">
            <p:oleObj spid="_x0000_s5124" name="Clip" r:id="rId11" imgW="1634400" imgH="2286360" progId="">
              <p:embed/>
            </p:oleObj>
          </a:graphicData>
        </a:graphic>
      </p:graphicFrame>
      <p:sp>
        <p:nvSpPr>
          <p:cNvPr id="5150" name="Rectangle 31"/>
          <p:cNvSpPr>
            <a:spLocks noChangeArrowheads="1"/>
          </p:cNvSpPr>
          <p:nvPr/>
        </p:nvSpPr>
        <p:spPr bwMode="auto">
          <a:xfrm>
            <a:off x="6553200" y="39624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Message storage</a:t>
            </a:r>
          </a:p>
        </p:txBody>
      </p:sp>
      <p:sp>
        <p:nvSpPr>
          <p:cNvPr id="5151" name="Oval 35"/>
          <p:cNvSpPr>
            <a:spLocks noChangeArrowheads="1"/>
          </p:cNvSpPr>
          <p:nvPr/>
        </p:nvSpPr>
        <p:spPr bwMode="auto">
          <a:xfrm>
            <a:off x="1563688" y="1724025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7</a:t>
            </a:r>
          </a:p>
        </p:txBody>
      </p:sp>
      <p:sp>
        <p:nvSpPr>
          <p:cNvPr id="5152" name="Oval 36"/>
          <p:cNvSpPr>
            <a:spLocks noChangeArrowheads="1"/>
          </p:cNvSpPr>
          <p:nvPr/>
        </p:nvSpPr>
        <p:spPr bwMode="auto">
          <a:xfrm>
            <a:off x="3087688" y="16764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6</a:t>
            </a:r>
          </a:p>
        </p:txBody>
      </p:sp>
      <p:sp>
        <p:nvSpPr>
          <p:cNvPr id="5153" name="Oval 37"/>
          <p:cNvSpPr>
            <a:spLocks noChangeArrowheads="1"/>
          </p:cNvSpPr>
          <p:nvPr/>
        </p:nvSpPr>
        <p:spPr bwMode="auto">
          <a:xfrm>
            <a:off x="4687888" y="16764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5</a:t>
            </a:r>
          </a:p>
        </p:txBody>
      </p:sp>
      <p:sp>
        <p:nvSpPr>
          <p:cNvPr id="5154" name="Oval 38"/>
          <p:cNvSpPr>
            <a:spLocks noChangeArrowheads="1"/>
          </p:cNvSpPr>
          <p:nvPr/>
        </p:nvSpPr>
        <p:spPr bwMode="auto">
          <a:xfrm>
            <a:off x="7202488" y="16764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9</a:t>
            </a:r>
          </a:p>
        </p:txBody>
      </p:sp>
      <p:sp>
        <p:nvSpPr>
          <p:cNvPr id="5155" name="Oval 40"/>
          <p:cNvSpPr>
            <a:spLocks noChangeArrowheads="1"/>
          </p:cNvSpPr>
          <p:nvPr/>
        </p:nvSpPr>
        <p:spPr bwMode="auto">
          <a:xfrm>
            <a:off x="7050088" y="28956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2</a:t>
            </a:r>
          </a:p>
        </p:txBody>
      </p:sp>
      <p:sp>
        <p:nvSpPr>
          <p:cNvPr id="5156" name="Oval 41"/>
          <p:cNvSpPr>
            <a:spLocks noChangeArrowheads="1"/>
          </p:cNvSpPr>
          <p:nvPr/>
        </p:nvSpPr>
        <p:spPr bwMode="auto">
          <a:xfrm>
            <a:off x="8001000" y="25146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10</a:t>
            </a:r>
          </a:p>
        </p:txBody>
      </p:sp>
      <p:pic>
        <p:nvPicPr>
          <p:cNvPr id="5157" name="Picture 42"/>
          <p:cNvPicPr>
            <a:picLocks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848600" y="2895600"/>
            <a:ext cx="1273175" cy="914400"/>
          </a:xfrm>
          <a:prstGeom prst="rect">
            <a:avLst/>
          </a:prstGeom>
          <a:solidFill>
            <a:srgbClr val="00B8B4"/>
          </a:solidFill>
          <a:ln w="9525">
            <a:noFill/>
            <a:miter lim="800000"/>
            <a:headEnd/>
            <a:tailEnd/>
          </a:ln>
        </p:spPr>
      </p:pic>
      <p:pic>
        <p:nvPicPr>
          <p:cNvPr id="5158" name="Picture 43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10550" y="3008313"/>
            <a:ext cx="617538" cy="68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125" name="Object 46"/>
          <p:cNvGraphicFramePr>
            <a:graphicFrameLocks noChangeAspect="1"/>
          </p:cNvGraphicFramePr>
          <p:nvPr/>
        </p:nvGraphicFramePr>
        <p:xfrm>
          <a:off x="6364288" y="3505200"/>
          <a:ext cx="304800" cy="271463"/>
        </p:xfrm>
        <a:graphic>
          <a:graphicData uri="http://schemas.openxmlformats.org/presentationml/2006/ole">
            <p:oleObj spid="_x0000_s5125" name="Clip" r:id="rId13" imgW="2635200" imgH="2349720" progId="">
              <p:embed/>
            </p:oleObj>
          </a:graphicData>
        </a:graphic>
      </p:graphicFrame>
      <p:sp>
        <p:nvSpPr>
          <p:cNvPr id="5159" name="AutoShape 48"/>
          <p:cNvSpPr>
            <a:spLocks noChangeArrowheads="1"/>
          </p:cNvSpPr>
          <p:nvPr/>
        </p:nvSpPr>
        <p:spPr bwMode="auto">
          <a:xfrm>
            <a:off x="6745288" y="3352800"/>
            <a:ext cx="304800" cy="457200"/>
          </a:xfrm>
          <a:prstGeom prst="can">
            <a:avLst>
              <a:gd name="adj" fmla="val 37500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5160" name="Picture 4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83288" y="1866900"/>
            <a:ext cx="4095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61" name="Rectangle 51"/>
          <p:cNvSpPr>
            <a:spLocks noChangeArrowheads="1"/>
          </p:cNvSpPr>
          <p:nvPr/>
        </p:nvSpPr>
        <p:spPr bwMode="auto">
          <a:xfrm>
            <a:off x="5754688" y="1096963"/>
            <a:ext cx="9144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WAP G/w</a:t>
            </a:r>
          </a:p>
        </p:txBody>
      </p:sp>
      <p:sp>
        <p:nvSpPr>
          <p:cNvPr id="49" name="Line 52"/>
          <p:cNvSpPr>
            <a:spLocks noChangeShapeType="1"/>
          </p:cNvSpPr>
          <p:nvPr/>
        </p:nvSpPr>
        <p:spPr bwMode="auto">
          <a:xfrm flipH="1">
            <a:off x="723900" y="2428875"/>
            <a:ext cx="244475" cy="465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63" name="Oval 53"/>
          <p:cNvSpPr>
            <a:spLocks noChangeArrowheads="1"/>
          </p:cNvSpPr>
          <p:nvPr/>
        </p:nvSpPr>
        <p:spPr bwMode="auto">
          <a:xfrm>
            <a:off x="5602288" y="16764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4</a:t>
            </a:r>
          </a:p>
        </p:txBody>
      </p:sp>
      <p:sp>
        <p:nvSpPr>
          <p:cNvPr id="5164" name="AutoShape 54"/>
          <p:cNvSpPr>
            <a:spLocks noChangeArrowheads="1"/>
          </p:cNvSpPr>
          <p:nvPr/>
        </p:nvSpPr>
        <p:spPr bwMode="auto">
          <a:xfrm>
            <a:off x="5105400" y="2895600"/>
            <a:ext cx="457200" cy="381000"/>
          </a:xfrm>
          <a:prstGeom prst="can">
            <a:avLst>
              <a:gd name="adj" fmla="val 25000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65" name="Oval 56"/>
          <p:cNvSpPr>
            <a:spLocks noChangeArrowheads="1"/>
          </p:cNvSpPr>
          <p:nvPr/>
        </p:nvSpPr>
        <p:spPr bwMode="auto">
          <a:xfrm>
            <a:off x="6440488" y="16764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3</a:t>
            </a:r>
          </a:p>
        </p:txBody>
      </p:sp>
      <p:sp>
        <p:nvSpPr>
          <p:cNvPr id="53" name="Freeform 58"/>
          <p:cNvSpPr>
            <a:spLocks/>
          </p:cNvSpPr>
          <p:nvPr/>
        </p:nvSpPr>
        <p:spPr bwMode="auto">
          <a:xfrm rot="10524721">
            <a:off x="1449388" y="1846263"/>
            <a:ext cx="5513387" cy="2212975"/>
          </a:xfrm>
          <a:custGeom>
            <a:avLst/>
            <a:gdLst>
              <a:gd name="T0" fmla="*/ 2147483647 w 3360"/>
              <a:gd name="T1" fmla="*/ 2147483647 h 584"/>
              <a:gd name="T2" fmla="*/ 2147483647 w 3360"/>
              <a:gd name="T3" fmla="*/ 2147483647 h 584"/>
              <a:gd name="T4" fmla="*/ 2147483647 w 3360"/>
              <a:gd name="T5" fmla="*/ 2147483647 h 584"/>
              <a:gd name="T6" fmla="*/ 2147483647 w 3360"/>
              <a:gd name="T7" fmla="*/ 2147483647 h 584"/>
              <a:gd name="T8" fmla="*/ 0 w 3360"/>
              <a:gd name="T9" fmla="*/ 2147483647 h 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60"/>
              <a:gd name="T16" fmla="*/ 0 h 584"/>
              <a:gd name="T17" fmla="*/ 3360 w 3360"/>
              <a:gd name="T18" fmla="*/ 584 h 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60" h="584">
                <a:moveTo>
                  <a:pt x="3360" y="584"/>
                </a:moveTo>
                <a:cubicBezTo>
                  <a:pt x="3216" y="472"/>
                  <a:pt x="3072" y="360"/>
                  <a:pt x="2736" y="344"/>
                </a:cubicBezTo>
                <a:cubicBezTo>
                  <a:pt x="2400" y="328"/>
                  <a:pt x="1728" y="536"/>
                  <a:pt x="1344" y="488"/>
                </a:cubicBezTo>
                <a:cubicBezTo>
                  <a:pt x="960" y="440"/>
                  <a:pt x="656" y="112"/>
                  <a:pt x="432" y="56"/>
                </a:cubicBezTo>
                <a:cubicBezTo>
                  <a:pt x="208" y="0"/>
                  <a:pt x="64" y="136"/>
                  <a:pt x="0" y="152"/>
                </a:cubicBezTo>
              </a:path>
            </a:pathLst>
          </a:custGeom>
          <a:noFill/>
          <a:ln w="19050">
            <a:solidFill>
              <a:schemeClr val="tx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167" name="Oval 59"/>
          <p:cNvSpPr>
            <a:spLocks noChangeArrowheads="1"/>
          </p:cNvSpPr>
          <p:nvPr/>
        </p:nvSpPr>
        <p:spPr bwMode="auto">
          <a:xfrm>
            <a:off x="3149600" y="2665413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1</a:t>
            </a:r>
          </a:p>
        </p:txBody>
      </p:sp>
      <p:sp>
        <p:nvSpPr>
          <p:cNvPr id="5168" name="Rectangle 62"/>
          <p:cNvSpPr>
            <a:spLocks noChangeArrowheads="1"/>
          </p:cNvSpPr>
          <p:nvPr/>
        </p:nvSpPr>
        <p:spPr bwMode="auto">
          <a:xfrm>
            <a:off x="658813" y="3173413"/>
            <a:ext cx="9779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portalnmms</a:t>
            </a:r>
          </a:p>
        </p:txBody>
      </p:sp>
      <p:sp>
        <p:nvSpPr>
          <p:cNvPr id="56" name="Line 30"/>
          <p:cNvSpPr>
            <a:spLocks noChangeShapeType="1"/>
          </p:cNvSpPr>
          <p:nvPr/>
        </p:nvSpPr>
        <p:spPr bwMode="auto">
          <a:xfrm>
            <a:off x="6878638" y="2465388"/>
            <a:ext cx="12700" cy="850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" name="Line 50"/>
          <p:cNvSpPr>
            <a:spLocks noChangeShapeType="1"/>
          </p:cNvSpPr>
          <p:nvPr/>
        </p:nvSpPr>
        <p:spPr bwMode="auto">
          <a:xfrm flipH="1">
            <a:off x="6318250" y="2100263"/>
            <a:ext cx="417513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" name="Line 14"/>
          <p:cNvSpPr>
            <a:spLocks noChangeShapeType="1"/>
          </p:cNvSpPr>
          <p:nvPr/>
        </p:nvSpPr>
        <p:spPr bwMode="auto">
          <a:xfrm flipH="1">
            <a:off x="4462463" y="2047875"/>
            <a:ext cx="655637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398463" y="2860675"/>
          <a:ext cx="304800" cy="271463"/>
        </p:xfrm>
        <a:graphic>
          <a:graphicData uri="http://schemas.openxmlformats.org/presentationml/2006/ole">
            <p:oleObj spid="_x0000_s5126" name="Clip" r:id="rId15" imgW="2635200" imgH="2349720" progId="">
              <p:embed/>
            </p:oleObj>
          </a:graphicData>
        </a:graphic>
      </p:graphicFrame>
      <p:sp>
        <p:nvSpPr>
          <p:cNvPr id="5172" name="Rectangle 57"/>
          <p:cNvSpPr>
            <a:spLocks noChangeArrowheads="1"/>
          </p:cNvSpPr>
          <p:nvPr/>
        </p:nvSpPr>
        <p:spPr bwMode="auto">
          <a:xfrm>
            <a:off x="1344613" y="3548063"/>
            <a:ext cx="4087812" cy="86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APN = portalnmms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Gateway IP Address = 10.10.1.100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Message Server = http://mms1.live.vodafone.in/mms/</a:t>
            </a:r>
          </a:p>
        </p:txBody>
      </p:sp>
      <p:sp>
        <p:nvSpPr>
          <p:cNvPr id="5173" name="Rectangle 45"/>
          <p:cNvSpPr>
            <a:spLocks noChangeArrowheads="1"/>
          </p:cNvSpPr>
          <p:nvPr/>
        </p:nvSpPr>
        <p:spPr bwMode="auto">
          <a:xfrm>
            <a:off x="746125" y="4533900"/>
            <a:ext cx="7961313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1) MMS Retrieve (Payload)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2-3) MMSC retrieves the content from storage and forwards to WAPGw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6-7)WAP G/w  forwards the request to GGSN through Gi firewall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6-8) User A retrieves the Payload (MMS Message )</a:t>
            </a:r>
          </a:p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400">
                <a:latin typeface="Helvetica 45 Light" pitchFamily="34" charset="0"/>
              </a:rPr>
              <a:t>9-10) SMS Delivery report is sent to the User A (if requested)</a:t>
            </a:r>
          </a:p>
        </p:txBody>
      </p:sp>
      <p:sp>
        <p:nvSpPr>
          <p:cNvPr id="5174" name="Rectangle 31"/>
          <p:cNvSpPr>
            <a:spLocks noChangeArrowheads="1"/>
          </p:cNvSpPr>
          <p:nvPr/>
        </p:nvSpPr>
        <p:spPr bwMode="auto">
          <a:xfrm>
            <a:off x="4986338" y="3322638"/>
            <a:ext cx="88265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Gi DNS</a:t>
            </a:r>
          </a:p>
        </p:txBody>
      </p:sp>
      <p:sp>
        <p:nvSpPr>
          <p:cNvPr id="5175" name="Line 56"/>
          <p:cNvSpPr>
            <a:spLocks noChangeShapeType="1"/>
          </p:cNvSpPr>
          <p:nvPr/>
        </p:nvSpPr>
        <p:spPr bwMode="auto">
          <a:xfrm flipH="1" flipV="1">
            <a:off x="5391150" y="2497138"/>
            <a:ext cx="0" cy="4095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76" name="Oval 35"/>
          <p:cNvSpPr>
            <a:spLocks noChangeArrowheads="1"/>
          </p:cNvSpPr>
          <p:nvPr/>
        </p:nvSpPr>
        <p:spPr bwMode="auto">
          <a:xfrm>
            <a:off x="650875" y="2286000"/>
            <a:ext cx="2286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7" grpId="0" animBg="1"/>
      <p:bldP spid="28" grpId="0" animBg="1"/>
      <p:bldP spid="49" grpId="0" animBg="1"/>
      <p:bldP spid="56" grpId="0" animBg="1"/>
      <p:bldP spid="57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473BF5C-3165-4C7C-8C26-9055058AEA8C}" type="slidenum">
              <a:rPr lang="en-GB" smtClean="0"/>
              <a:pPr/>
              <a:t>9</a:t>
            </a:fld>
            <a:endParaRPr lang="en-GB" smtClean="0"/>
          </a:p>
        </p:txBody>
      </p:sp>
      <p:sp>
        <p:nvSpPr>
          <p:cNvPr id="6149" name="Rectangle 50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Presentation title in footer</a:t>
            </a:r>
          </a:p>
        </p:txBody>
      </p:sp>
      <p:sp>
        <p:nvSpPr>
          <p:cNvPr id="6150" name="Rectangle 52"/>
          <p:cNvSpPr>
            <a:spLocks noGrp="1" noChangeArrowheads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481FA437-5CEA-4D8D-AB12-4869FE44C98C}" type="datetime4">
              <a:rPr lang="en-GB" smtClean="0"/>
              <a:pPr/>
              <a:t>18 June 2013</a:t>
            </a:fld>
            <a:endParaRPr lang="en-GB" smtClean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33388" y="204788"/>
            <a:ext cx="77724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ct val="90000"/>
              </a:lnSpc>
              <a:defRPr/>
            </a:pPr>
            <a:r>
              <a:rPr lang="en-US" sz="24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Blackberry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167188" y="4416425"/>
            <a:ext cx="1112837" cy="828675"/>
            <a:chOff x="2402" y="2832"/>
            <a:chExt cx="659" cy="418"/>
          </a:xfrm>
        </p:grpSpPr>
        <p:pic>
          <p:nvPicPr>
            <p:cNvPr id="6200" name="Picture 7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402" y="2832"/>
              <a:ext cx="659" cy="4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01" name="Text Box 8"/>
            <p:cNvSpPr txBox="1">
              <a:spLocks noChangeArrowheads="1"/>
            </p:cNvSpPr>
            <p:nvPr/>
          </p:nvSpPr>
          <p:spPr bwMode="auto">
            <a:xfrm>
              <a:off x="2412" y="2931"/>
              <a:ext cx="649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/>
                <a:t>Internet</a:t>
              </a:r>
            </a:p>
          </p:txBody>
        </p:sp>
      </p:grpSp>
      <p:sp>
        <p:nvSpPr>
          <p:cNvPr id="6153" name="Line 36"/>
          <p:cNvSpPr>
            <a:spLocks noChangeShapeType="1"/>
          </p:cNvSpPr>
          <p:nvPr/>
        </p:nvSpPr>
        <p:spPr bwMode="auto">
          <a:xfrm>
            <a:off x="3363913" y="4865688"/>
            <a:ext cx="841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/>
          <a:lstStyle/>
          <a:p>
            <a:endParaRPr lang="en-US"/>
          </a:p>
        </p:txBody>
      </p:sp>
      <p:sp>
        <p:nvSpPr>
          <p:cNvPr id="6154" name="Rectangle 18"/>
          <p:cNvSpPr>
            <a:spLocks noChangeArrowheads="1"/>
          </p:cNvSpPr>
          <p:nvPr/>
        </p:nvSpPr>
        <p:spPr bwMode="auto">
          <a:xfrm>
            <a:off x="296863" y="3876675"/>
            <a:ext cx="3067050" cy="2070100"/>
          </a:xfrm>
          <a:prstGeom prst="rect">
            <a:avLst/>
          </a:prstGeom>
          <a:noFill/>
          <a:ln w="28575">
            <a:solidFill>
              <a:srgbClr val="00B050"/>
            </a:solidFill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2979738" y="4505325"/>
          <a:ext cx="347662" cy="811213"/>
        </p:xfrm>
        <a:graphic>
          <a:graphicData uri="http://schemas.openxmlformats.org/presentationml/2006/ole">
            <p:oleObj spid="_x0000_s6146" name="Clip" r:id="rId5" imgW="3031560" imgH="4533480" progId="">
              <p:embed/>
            </p:oleObj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 flipH="1">
          <a:off x="538163" y="4325938"/>
          <a:ext cx="677862" cy="1169987"/>
        </p:xfrm>
        <a:graphic>
          <a:graphicData uri="http://schemas.openxmlformats.org/presentationml/2006/ole">
            <p:oleObj spid="_x0000_s6147" name="Clip" r:id="rId6" imgW="1634400" imgH="2286360" progId="">
              <p:embed/>
            </p:oleObj>
          </a:graphicData>
        </a:graphic>
      </p:graphicFrame>
      <p:pic>
        <p:nvPicPr>
          <p:cNvPr id="6155" name="Picture 21"/>
          <p:cNvPicPr>
            <a:picLocks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828800" y="4594225"/>
            <a:ext cx="384175" cy="63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6" name="Text Box 22"/>
          <p:cNvSpPr txBox="1">
            <a:spLocks noChangeArrowheads="1"/>
          </p:cNvSpPr>
          <p:nvPr/>
        </p:nvSpPr>
        <p:spPr bwMode="auto">
          <a:xfrm>
            <a:off x="892175" y="3878263"/>
            <a:ext cx="19113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/>
              <a:t>Enterprise Network</a:t>
            </a:r>
          </a:p>
        </p:txBody>
      </p:sp>
      <p:sp>
        <p:nvSpPr>
          <p:cNvPr id="6157" name="Line 34"/>
          <p:cNvSpPr>
            <a:spLocks noChangeShapeType="1"/>
          </p:cNvSpPr>
          <p:nvPr/>
        </p:nvSpPr>
        <p:spPr bwMode="auto">
          <a:xfrm>
            <a:off x="1216025" y="4865688"/>
            <a:ext cx="612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/>
          <a:lstStyle/>
          <a:p>
            <a:endParaRPr lang="en-US"/>
          </a:p>
        </p:txBody>
      </p:sp>
      <p:sp>
        <p:nvSpPr>
          <p:cNvPr id="6158" name="Line 35"/>
          <p:cNvSpPr>
            <a:spLocks noChangeShapeType="1"/>
          </p:cNvSpPr>
          <p:nvPr/>
        </p:nvSpPr>
        <p:spPr bwMode="auto">
          <a:xfrm>
            <a:off x="2211388" y="4865688"/>
            <a:ext cx="84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/>
          <a:lstStyle/>
          <a:p>
            <a:endParaRPr lang="en-US"/>
          </a:p>
        </p:txBody>
      </p:sp>
      <p:sp>
        <p:nvSpPr>
          <p:cNvPr id="6159" name="Text Box 46"/>
          <p:cNvSpPr txBox="1">
            <a:spLocks noChangeArrowheads="1"/>
          </p:cNvSpPr>
          <p:nvPr/>
        </p:nvSpPr>
        <p:spPr bwMode="auto">
          <a:xfrm>
            <a:off x="1481138" y="5224463"/>
            <a:ext cx="10541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Blackberry </a:t>
            </a:r>
          </a:p>
          <a:p>
            <a:r>
              <a:rPr lang="en-US" sz="900"/>
              <a:t>Enterprise server</a:t>
            </a:r>
          </a:p>
        </p:txBody>
      </p:sp>
      <p:sp>
        <p:nvSpPr>
          <p:cNvPr id="6160" name="Text Box 47"/>
          <p:cNvSpPr txBox="1">
            <a:spLocks noChangeArrowheads="1"/>
          </p:cNvSpPr>
          <p:nvPr/>
        </p:nvSpPr>
        <p:spPr bwMode="auto">
          <a:xfrm>
            <a:off x="407988" y="5494338"/>
            <a:ext cx="100488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Mail Server</a:t>
            </a:r>
          </a:p>
          <a:p>
            <a:r>
              <a:rPr lang="en-US" sz="900"/>
              <a:t>Exchange/Lotus</a:t>
            </a:r>
          </a:p>
        </p:txBody>
      </p:sp>
      <p:sp>
        <p:nvSpPr>
          <p:cNvPr id="6161" name="Text Box 48"/>
          <p:cNvSpPr txBox="1">
            <a:spLocks noChangeArrowheads="1"/>
          </p:cNvSpPr>
          <p:nvPr/>
        </p:nvSpPr>
        <p:spPr bwMode="auto">
          <a:xfrm>
            <a:off x="3386138" y="5048250"/>
            <a:ext cx="6858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Outbound</a:t>
            </a:r>
          </a:p>
          <a:p>
            <a:r>
              <a:rPr lang="en-US" sz="900"/>
              <a:t>SRP </a:t>
            </a:r>
          </a:p>
          <a:p>
            <a:r>
              <a:rPr lang="en-US" sz="900"/>
              <a:t>port 3101</a:t>
            </a:r>
          </a:p>
        </p:txBody>
      </p:sp>
      <p:sp>
        <p:nvSpPr>
          <p:cNvPr id="6162" name="Rectangle 4"/>
          <p:cNvSpPr>
            <a:spLocks noChangeArrowheads="1"/>
          </p:cNvSpPr>
          <p:nvPr/>
        </p:nvSpPr>
        <p:spPr bwMode="auto">
          <a:xfrm>
            <a:off x="169863" y="917575"/>
            <a:ext cx="4370387" cy="242728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163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86125" y="1897063"/>
            <a:ext cx="334963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64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976688" y="1897063"/>
            <a:ext cx="612775" cy="617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65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568575" y="1897063"/>
            <a:ext cx="334963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66" name="Picture 1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801813" y="1897063"/>
            <a:ext cx="334962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67" name="Picture 1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23925" y="1717675"/>
            <a:ext cx="523875" cy="98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68" name="Text Box 17"/>
          <p:cNvSpPr txBox="1">
            <a:spLocks noChangeArrowheads="1"/>
          </p:cNvSpPr>
          <p:nvPr/>
        </p:nvSpPr>
        <p:spPr bwMode="auto">
          <a:xfrm>
            <a:off x="1435100" y="998538"/>
            <a:ext cx="17637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/>
              <a:t>Wireless Network</a:t>
            </a:r>
          </a:p>
        </p:txBody>
      </p:sp>
      <p:sp>
        <p:nvSpPr>
          <p:cNvPr id="6169" name="Line 26"/>
          <p:cNvSpPr>
            <a:spLocks noChangeShapeType="1"/>
          </p:cNvSpPr>
          <p:nvPr/>
        </p:nvSpPr>
        <p:spPr bwMode="auto">
          <a:xfrm>
            <a:off x="2058988" y="2255838"/>
            <a:ext cx="461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/>
          <a:lstStyle/>
          <a:p>
            <a:endParaRPr lang="en-US"/>
          </a:p>
        </p:txBody>
      </p:sp>
      <p:sp>
        <p:nvSpPr>
          <p:cNvPr id="6170" name="Line 27"/>
          <p:cNvSpPr>
            <a:spLocks noChangeShapeType="1"/>
          </p:cNvSpPr>
          <p:nvPr/>
        </p:nvSpPr>
        <p:spPr bwMode="auto">
          <a:xfrm>
            <a:off x="1216025" y="2255838"/>
            <a:ext cx="538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/>
          <a:lstStyle/>
          <a:p>
            <a:endParaRPr lang="en-US"/>
          </a:p>
        </p:txBody>
      </p:sp>
      <p:sp>
        <p:nvSpPr>
          <p:cNvPr id="6171" name="Line 28"/>
          <p:cNvSpPr>
            <a:spLocks noChangeShapeType="1"/>
          </p:cNvSpPr>
          <p:nvPr/>
        </p:nvSpPr>
        <p:spPr bwMode="auto">
          <a:xfrm>
            <a:off x="3594100" y="2255838"/>
            <a:ext cx="460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/>
          <a:lstStyle/>
          <a:p>
            <a:endParaRPr lang="en-US"/>
          </a:p>
        </p:txBody>
      </p:sp>
      <p:sp>
        <p:nvSpPr>
          <p:cNvPr id="6172" name="Line 29"/>
          <p:cNvSpPr>
            <a:spLocks noChangeShapeType="1"/>
          </p:cNvSpPr>
          <p:nvPr/>
        </p:nvSpPr>
        <p:spPr bwMode="auto">
          <a:xfrm>
            <a:off x="2827338" y="2255838"/>
            <a:ext cx="458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173" name="Picture 30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20663" y="2795588"/>
            <a:ext cx="300037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74" name="Text Box 41"/>
          <p:cNvSpPr txBox="1">
            <a:spLocks noChangeArrowheads="1"/>
          </p:cNvSpPr>
          <p:nvPr/>
        </p:nvSpPr>
        <p:spPr bwMode="auto">
          <a:xfrm>
            <a:off x="3992563" y="2525713"/>
            <a:ext cx="5270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Router</a:t>
            </a:r>
          </a:p>
        </p:txBody>
      </p:sp>
      <p:sp>
        <p:nvSpPr>
          <p:cNvPr id="6175" name="Text Box 42"/>
          <p:cNvSpPr txBox="1">
            <a:spLocks noChangeArrowheads="1"/>
          </p:cNvSpPr>
          <p:nvPr/>
        </p:nvSpPr>
        <p:spPr bwMode="auto">
          <a:xfrm>
            <a:off x="3130550" y="2617788"/>
            <a:ext cx="520700" cy="22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GGSN</a:t>
            </a:r>
          </a:p>
        </p:txBody>
      </p:sp>
      <p:sp>
        <p:nvSpPr>
          <p:cNvPr id="6176" name="Text Box 43"/>
          <p:cNvSpPr txBox="1">
            <a:spLocks noChangeArrowheads="1"/>
          </p:cNvSpPr>
          <p:nvPr/>
        </p:nvSpPr>
        <p:spPr bwMode="auto">
          <a:xfrm>
            <a:off x="2454275" y="2601913"/>
            <a:ext cx="508000" cy="22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SGSN</a:t>
            </a:r>
          </a:p>
        </p:txBody>
      </p:sp>
      <p:sp>
        <p:nvSpPr>
          <p:cNvPr id="6177" name="Text Box 44"/>
          <p:cNvSpPr txBox="1">
            <a:spLocks noChangeArrowheads="1"/>
          </p:cNvSpPr>
          <p:nvPr/>
        </p:nvSpPr>
        <p:spPr bwMode="auto">
          <a:xfrm>
            <a:off x="1703388" y="2601913"/>
            <a:ext cx="419100" cy="22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BSC</a:t>
            </a:r>
          </a:p>
        </p:txBody>
      </p:sp>
      <p:sp>
        <p:nvSpPr>
          <p:cNvPr id="6178" name="Text Box 45"/>
          <p:cNvSpPr txBox="1">
            <a:spLocks noChangeArrowheads="1"/>
          </p:cNvSpPr>
          <p:nvPr/>
        </p:nvSpPr>
        <p:spPr bwMode="auto">
          <a:xfrm>
            <a:off x="549275" y="3067050"/>
            <a:ext cx="6715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Handheld</a:t>
            </a:r>
          </a:p>
        </p:txBody>
      </p:sp>
      <p:sp>
        <p:nvSpPr>
          <p:cNvPr id="6179" name="Text Box 50"/>
          <p:cNvSpPr txBox="1">
            <a:spLocks noChangeArrowheads="1"/>
          </p:cNvSpPr>
          <p:nvPr/>
        </p:nvSpPr>
        <p:spPr bwMode="auto">
          <a:xfrm>
            <a:off x="2011363" y="3067050"/>
            <a:ext cx="12350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APN= blackberry.net</a:t>
            </a:r>
          </a:p>
        </p:txBody>
      </p:sp>
      <p:sp>
        <p:nvSpPr>
          <p:cNvPr id="6180" name="Rectangle 3"/>
          <p:cNvSpPr>
            <a:spLocks noChangeArrowheads="1"/>
          </p:cNvSpPr>
          <p:nvPr/>
        </p:nvSpPr>
        <p:spPr bwMode="auto">
          <a:xfrm>
            <a:off x="5970588" y="908050"/>
            <a:ext cx="3065462" cy="5037138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181" name="Picture 10" descr="byb501_picture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078663" y="3784600"/>
            <a:ext cx="654050" cy="153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82" name="Picture 11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170738" y="1903413"/>
            <a:ext cx="485775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83" name="Picture 1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740400" y="1897063"/>
            <a:ext cx="612775" cy="617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84" name="Text Box 16"/>
          <p:cNvSpPr txBox="1">
            <a:spLocks noChangeArrowheads="1"/>
          </p:cNvSpPr>
          <p:nvPr/>
        </p:nvSpPr>
        <p:spPr bwMode="auto">
          <a:xfrm>
            <a:off x="6699250" y="908050"/>
            <a:ext cx="165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/>
              <a:t>Blackberry NOC</a:t>
            </a:r>
          </a:p>
        </p:txBody>
      </p:sp>
      <p:sp>
        <p:nvSpPr>
          <p:cNvPr id="6185" name="Line 23"/>
          <p:cNvSpPr>
            <a:spLocks noChangeShapeType="1"/>
          </p:cNvSpPr>
          <p:nvPr/>
        </p:nvSpPr>
        <p:spPr bwMode="auto">
          <a:xfrm>
            <a:off x="7426325" y="2617788"/>
            <a:ext cx="0" cy="1258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/>
          <a:lstStyle/>
          <a:p>
            <a:endParaRPr lang="en-US"/>
          </a:p>
        </p:txBody>
      </p:sp>
      <p:sp>
        <p:nvSpPr>
          <p:cNvPr id="6186" name="Line 24"/>
          <p:cNvSpPr>
            <a:spLocks noChangeShapeType="1"/>
          </p:cNvSpPr>
          <p:nvPr/>
        </p:nvSpPr>
        <p:spPr bwMode="auto">
          <a:xfrm>
            <a:off x="6046788" y="2255838"/>
            <a:ext cx="1150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/>
          <a:lstStyle/>
          <a:p>
            <a:endParaRPr lang="en-US"/>
          </a:p>
        </p:txBody>
      </p:sp>
      <p:sp>
        <p:nvSpPr>
          <p:cNvPr id="6187" name="Line 25"/>
          <p:cNvSpPr>
            <a:spLocks noChangeShapeType="1"/>
          </p:cNvSpPr>
          <p:nvPr/>
        </p:nvSpPr>
        <p:spPr bwMode="auto">
          <a:xfrm>
            <a:off x="4513263" y="2166938"/>
            <a:ext cx="1303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/>
          <a:lstStyle/>
          <a:p>
            <a:endParaRPr lang="en-US"/>
          </a:p>
        </p:txBody>
      </p:sp>
      <p:sp>
        <p:nvSpPr>
          <p:cNvPr id="6188" name="Line 37"/>
          <p:cNvSpPr>
            <a:spLocks noChangeShapeType="1"/>
          </p:cNvSpPr>
          <p:nvPr/>
        </p:nvSpPr>
        <p:spPr bwMode="auto">
          <a:xfrm>
            <a:off x="5280025" y="4865688"/>
            <a:ext cx="1839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/>
          <a:lstStyle/>
          <a:p>
            <a:endParaRPr lang="en-US"/>
          </a:p>
        </p:txBody>
      </p:sp>
      <p:sp>
        <p:nvSpPr>
          <p:cNvPr id="6189" name="Text Box 38"/>
          <p:cNvSpPr txBox="1">
            <a:spLocks noChangeArrowheads="1"/>
          </p:cNvSpPr>
          <p:nvPr/>
        </p:nvSpPr>
        <p:spPr bwMode="auto">
          <a:xfrm>
            <a:off x="6837363" y="1627188"/>
            <a:ext cx="11620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Registration Server</a:t>
            </a:r>
          </a:p>
        </p:txBody>
      </p:sp>
      <p:sp>
        <p:nvSpPr>
          <p:cNvPr id="6190" name="Text Box 39"/>
          <p:cNvSpPr txBox="1">
            <a:spLocks noChangeArrowheads="1"/>
          </p:cNvSpPr>
          <p:nvPr/>
        </p:nvSpPr>
        <p:spPr bwMode="auto">
          <a:xfrm>
            <a:off x="6992938" y="5316538"/>
            <a:ext cx="844550" cy="22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Relay Server</a:t>
            </a:r>
          </a:p>
        </p:txBody>
      </p:sp>
      <p:sp>
        <p:nvSpPr>
          <p:cNvPr id="6191" name="Text Box 40"/>
          <p:cNvSpPr txBox="1">
            <a:spLocks noChangeArrowheads="1"/>
          </p:cNvSpPr>
          <p:nvPr/>
        </p:nvSpPr>
        <p:spPr bwMode="auto">
          <a:xfrm>
            <a:off x="5986463" y="2617788"/>
            <a:ext cx="527050" cy="22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Router</a:t>
            </a:r>
          </a:p>
        </p:txBody>
      </p:sp>
      <p:sp>
        <p:nvSpPr>
          <p:cNvPr id="6192" name="Text Box 49"/>
          <p:cNvSpPr txBox="1">
            <a:spLocks noChangeArrowheads="1"/>
          </p:cNvSpPr>
          <p:nvPr/>
        </p:nvSpPr>
        <p:spPr bwMode="auto">
          <a:xfrm>
            <a:off x="5964238" y="5045075"/>
            <a:ext cx="111760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Relay Server </a:t>
            </a:r>
          </a:p>
          <a:p>
            <a:r>
              <a:rPr lang="en-US" sz="900"/>
              <a:t>Listens for </a:t>
            </a:r>
          </a:p>
          <a:p>
            <a:r>
              <a:rPr lang="en-US" sz="900"/>
              <a:t>SRP Connections </a:t>
            </a:r>
          </a:p>
          <a:p>
            <a:r>
              <a:rPr lang="en-US" sz="900"/>
              <a:t>on port 3101</a:t>
            </a:r>
          </a:p>
        </p:txBody>
      </p:sp>
      <p:sp>
        <p:nvSpPr>
          <p:cNvPr id="6193" name="Text Box 51"/>
          <p:cNvSpPr txBox="1">
            <a:spLocks noChangeArrowheads="1"/>
          </p:cNvSpPr>
          <p:nvPr/>
        </p:nvSpPr>
        <p:spPr bwMode="auto">
          <a:xfrm>
            <a:off x="4765675" y="1808163"/>
            <a:ext cx="8128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Leased Line</a:t>
            </a:r>
          </a:p>
          <a:p>
            <a:r>
              <a:rPr lang="en-US" sz="900"/>
              <a:t>2x4 Mbps</a:t>
            </a:r>
          </a:p>
        </p:txBody>
      </p:sp>
      <p:sp>
        <p:nvSpPr>
          <p:cNvPr id="6194" name="Line 56"/>
          <p:cNvSpPr>
            <a:spLocks noChangeShapeType="1"/>
          </p:cNvSpPr>
          <p:nvPr/>
        </p:nvSpPr>
        <p:spPr bwMode="auto">
          <a:xfrm>
            <a:off x="4513263" y="2347913"/>
            <a:ext cx="1303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/>
          <a:lstStyle/>
          <a:p>
            <a:endParaRPr lang="en-US"/>
          </a:p>
        </p:txBody>
      </p:sp>
      <p:sp>
        <p:nvSpPr>
          <p:cNvPr id="6195" name="Text Box 57"/>
          <p:cNvSpPr txBox="1">
            <a:spLocks noChangeArrowheads="1"/>
          </p:cNvSpPr>
          <p:nvPr/>
        </p:nvSpPr>
        <p:spPr bwMode="auto">
          <a:xfrm>
            <a:off x="2690813" y="5316538"/>
            <a:ext cx="576262" cy="22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r>
              <a:rPr lang="en-US" sz="900"/>
              <a:t>Firewall</a:t>
            </a:r>
          </a:p>
        </p:txBody>
      </p:sp>
      <p:grpSp>
        <p:nvGrpSpPr>
          <p:cNvPr id="3" name="Group 58"/>
          <p:cNvGrpSpPr>
            <a:grpSpLocks/>
          </p:cNvGrpSpPr>
          <p:nvPr/>
        </p:nvGrpSpPr>
        <p:grpSpPr bwMode="auto">
          <a:xfrm rot="-5034602">
            <a:off x="473869" y="2128044"/>
            <a:ext cx="801688" cy="533400"/>
            <a:chOff x="4785" y="1434"/>
            <a:chExt cx="399" cy="313"/>
          </a:xfrm>
        </p:grpSpPr>
        <p:sp>
          <p:nvSpPr>
            <p:cNvPr id="6197" name="Line 59"/>
            <p:cNvSpPr>
              <a:spLocks noChangeShapeType="1"/>
            </p:cNvSpPr>
            <p:nvPr/>
          </p:nvSpPr>
          <p:spPr bwMode="auto">
            <a:xfrm rot="467081">
              <a:off x="4785" y="1434"/>
              <a:ext cx="317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98" name="Line 60"/>
            <p:cNvSpPr>
              <a:spLocks noChangeShapeType="1"/>
            </p:cNvSpPr>
            <p:nvPr/>
          </p:nvSpPr>
          <p:spPr bwMode="auto">
            <a:xfrm rot="467081">
              <a:off x="4924" y="1613"/>
              <a:ext cx="26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99" name="Line 61"/>
            <p:cNvSpPr>
              <a:spLocks noChangeShapeType="1"/>
            </p:cNvSpPr>
            <p:nvPr/>
          </p:nvSpPr>
          <p:spPr bwMode="auto">
            <a:xfrm rot="467081" flipV="1">
              <a:off x="4965" y="1610"/>
              <a:ext cx="139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B85C0C3-D7A2-4250-A54B-7D057A930508}" type="slidenum">
              <a:rPr lang="en-GB" smtClean="0"/>
              <a:pPr/>
              <a:t>10</a:t>
            </a:fld>
            <a:endParaRPr lang="en-GB" smtClean="0"/>
          </a:p>
        </p:txBody>
      </p:sp>
      <p:sp>
        <p:nvSpPr>
          <p:cNvPr id="21507" name="Rectangle 50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Presentation title in footer</a:t>
            </a:r>
          </a:p>
        </p:txBody>
      </p:sp>
      <p:sp>
        <p:nvSpPr>
          <p:cNvPr id="21508" name="Rectangle 52"/>
          <p:cNvSpPr>
            <a:spLocks noGrp="1" noChangeArrowheads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12CE2392-2C55-4E8C-B5A6-8E22345F41CE}" type="datetime4">
              <a:rPr lang="en-GB" smtClean="0"/>
              <a:pPr/>
              <a:t>18 June 2013</a:t>
            </a:fld>
            <a:endParaRPr lang="en-GB" smtClean="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185863" y="2184400"/>
            <a:ext cx="6542087" cy="1524000"/>
          </a:xfrm>
        </p:spPr>
        <p:txBody>
          <a:bodyPr/>
          <a:lstStyle/>
          <a:p>
            <a:pPr algn="ctr"/>
            <a:r>
              <a:rPr lang="en-GB" sz="4000" smtClean="0"/>
              <a:t>Roaming Senario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/>
          <p:cNvSpPr/>
          <p:nvPr/>
        </p:nvSpPr>
        <p:spPr bwMode="auto">
          <a:xfrm>
            <a:off x="4176713" y="1338263"/>
            <a:ext cx="3343275" cy="35480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>
              <a:defRPr/>
            </a:pPr>
            <a:endParaRPr lang="en-US"/>
          </a:p>
        </p:txBody>
      </p:sp>
      <p:sp>
        <p:nvSpPr>
          <p:cNvPr id="7176" name="Rectangle 126"/>
          <p:cNvSpPr>
            <a:spLocks noChangeArrowheads="1"/>
          </p:cNvSpPr>
          <p:nvPr/>
        </p:nvSpPr>
        <p:spPr bwMode="auto">
          <a:xfrm>
            <a:off x="1597025" y="5753100"/>
            <a:ext cx="2551113" cy="1104900"/>
          </a:xfrm>
          <a:prstGeom prst="rect">
            <a:avLst/>
          </a:prstGeom>
          <a:solidFill>
            <a:schemeClr val="bg1"/>
          </a:solidFill>
          <a:ln w="19050" algn="ctr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r>
              <a:rPr lang="en-US"/>
              <a:t> </a:t>
            </a:r>
          </a:p>
        </p:txBody>
      </p:sp>
      <p:sp>
        <p:nvSpPr>
          <p:cNvPr id="98" name="Rectangle 97"/>
          <p:cNvSpPr/>
          <p:nvPr/>
        </p:nvSpPr>
        <p:spPr bwMode="auto">
          <a:xfrm>
            <a:off x="0" y="463550"/>
            <a:ext cx="4176713" cy="4422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>
              <a:defRPr/>
            </a:pPr>
            <a:endParaRPr lang="en-US"/>
          </a:p>
        </p:txBody>
      </p:sp>
      <p:sp>
        <p:nvSpPr>
          <p:cNvPr id="54" name="Line 52"/>
          <p:cNvSpPr>
            <a:spLocks noChangeShapeType="1"/>
          </p:cNvSpPr>
          <p:nvPr/>
        </p:nvSpPr>
        <p:spPr bwMode="auto">
          <a:xfrm flipH="1">
            <a:off x="2292350" y="3043238"/>
            <a:ext cx="26988" cy="109220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pic>
        <p:nvPicPr>
          <p:cNvPr id="7179" name="Picture 4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482975"/>
            <a:ext cx="12731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B1E39B1-105E-4726-A8F5-B465D09C345F}" type="slidenum">
              <a:rPr lang="en-GB" smtClean="0"/>
              <a:pPr/>
              <a:t>11</a:t>
            </a:fld>
            <a:endParaRPr lang="en-GB" smtClean="0"/>
          </a:p>
        </p:txBody>
      </p:sp>
      <p:sp>
        <p:nvSpPr>
          <p:cNvPr id="718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Presentation title in footer</a:t>
            </a:r>
          </a:p>
        </p:txBody>
      </p:sp>
      <p:sp>
        <p:nvSpPr>
          <p:cNvPr id="718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B9BB36E9-B4C3-432A-9FFF-D66DF0156A0A}" type="datetime4">
              <a:rPr lang="en-GB" smtClean="0"/>
              <a:pPr/>
              <a:t>18 June 2013</a:t>
            </a:fld>
            <a:endParaRPr lang="en-GB" smtClean="0"/>
          </a:p>
        </p:txBody>
      </p:sp>
      <p:sp>
        <p:nvSpPr>
          <p:cNvPr id="7183" name="Rectangle 4"/>
          <p:cNvSpPr>
            <a:spLocks noGrp="1" noChangeArrowheads="1"/>
          </p:cNvSpPr>
          <p:nvPr>
            <p:ph type="title"/>
          </p:nvPr>
        </p:nvSpPr>
        <p:spPr bwMode="gray">
          <a:xfrm>
            <a:off x="604838" y="142875"/>
            <a:ext cx="7872412" cy="431800"/>
          </a:xfrm>
        </p:spPr>
        <p:txBody>
          <a:bodyPr/>
          <a:lstStyle/>
          <a:p>
            <a:r>
              <a:rPr lang="en-GB" dirty="0" smtClean="0"/>
              <a:t>Call Flow - In roamer</a:t>
            </a:r>
          </a:p>
        </p:txBody>
      </p:sp>
      <p:grpSp>
        <p:nvGrpSpPr>
          <p:cNvPr id="2" name="Group 105"/>
          <p:cNvGrpSpPr>
            <a:grpSpLocks/>
          </p:cNvGrpSpPr>
          <p:nvPr/>
        </p:nvGrpSpPr>
        <p:grpSpPr bwMode="auto">
          <a:xfrm>
            <a:off x="885825" y="1460500"/>
            <a:ext cx="496888" cy="1357313"/>
            <a:chOff x="885848" y="1460359"/>
            <a:chExt cx="496887" cy="1357335"/>
          </a:xfrm>
        </p:grpSpPr>
        <p:pic>
          <p:nvPicPr>
            <p:cNvPr id="7264" name="Picture 7"/>
            <p:cNvPicPr>
              <a:picLocks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967736" y="2093794"/>
              <a:ext cx="409575" cy="723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65" name="Rectangle 9"/>
            <p:cNvSpPr>
              <a:spLocks noChangeArrowheads="1"/>
            </p:cNvSpPr>
            <p:nvPr/>
          </p:nvSpPr>
          <p:spPr bwMode="auto">
            <a:xfrm>
              <a:off x="885848" y="1460359"/>
              <a:ext cx="496887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BSC</a:t>
              </a:r>
            </a:p>
          </p:txBody>
        </p:sp>
      </p:grpSp>
      <p:sp>
        <p:nvSpPr>
          <p:cNvPr id="15" name="Line 11"/>
          <p:cNvSpPr>
            <a:spLocks noChangeShapeType="1"/>
          </p:cNvSpPr>
          <p:nvPr/>
        </p:nvSpPr>
        <p:spPr bwMode="auto">
          <a:xfrm flipV="1">
            <a:off x="1349375" y="2216150"/>
            <a:ext cx="8382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109"/>
          <p:cNvGrpSpPr>
            <a:grpSpLocks/>
          </p:cNvGrpSpPr>
          <p:nvPr/>
        </p:nvGrpSpPr>
        <p:grpSpPr bwMode="auto">
          <a:xfrm>
            <a:off x="5484813" y="2044700"/>
            <a:ext cx="1352550" cy="1201738"/>
            <a:chOff x="5306714" y="2031241"/>
            <a:chExt cx="1353403" cy="1200665"/>
          </a:xfrm>
        </p:grpSpPr>
        <p:graphicFrame>
          <p:nvGraphicFramePr>
            <p:cNvPr id="7174" name="Object 5"/>
            <p:cNvGraphicFramePr>
              <a:graphicFrameLocks noChangeAspect="1"/>
            </p:cNvGraphicFramePr>
            <p:nvPr/>
          </p:nvGraphicFramePr>
          <p:xfrm>
            <a:off x="5565845" y="2031241"/>
            <a:ext cx="595312" cy="914400"/>
          </p:xfrm>
          <a:graphic>
            <a:graphicData uri="http://schemas.openxmlformats.org/presentationml/2006/ole">
              <p:oleObj spid="_x0000_s49158" name="Clip" r:id="rId6" imgW="3031560" imgH="4533480" progId="">
                <p:embed/>
              </p:oleObj>
            </a:graphicData>
          </a:graphic>
        </p:graphicFrame>
        <p:sp>
          <p:nvSpPr>
            <p:cNvPr id="7263" name="Rectangle 16"/>
            <p:cNvSpPr>
              <a:spLocks noChangeArrowheads="1"/>
            </p:cNvSpPr>
            <p:nvPr/>
          </p:nvSpPr>
          <p:spPr bwMode="auto">
            <a:xfrm>
              <a:off x="5306714" y="2924032"/>
              <a:ext cx="1353403" cy="3078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Gp</a:t>
              </a:r>
              <a:r>
                <a:rPr lang="en-US" sz="1400">
                  <a:latin typeface="Helvetica 45 Light" pitchFamily="34" charset="0"/>
                </a:rPr>
                <a:t> Firewall</a:t>
              </a:r>
            </a:p>
          </p:txBody>
        </p:sp>
      </p:grpSp>
      <p:sp>
        <p:nvSpPr>
          <p:cNvPr id="7187" name="Oval 18"/>
          <p:cNvSpPr>
            <a:spLocks noChangeArrowheads="1"/>
          </p:cNvSpPr>
          <p:nvPr/>
        </p:nvSpPr>
        <p:spPr bwMode="auto">
          <a:xfrm>
            <a:off x="587375" y="1408113"/>
            <a:ext cx="381000" cy="4572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8" name="Rectangle 19"/>
          <p:cNvSpPr>
            <a:spLocks noChangeArrowheads="1"/>
          </p:cNvSpPr>
          <p:nvPr/>
        </p:nvSpPr>
        <p:spPr bwMode="auto">
          <a:xfrm>
            <a:off x="587375" y="1331913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9" name="Oval 23"/>
          <p:cNvSpPr>
            <a:spLocks noChangeArrowheads="1"/>
          </p:cNvSpPr>
          <p:nvPr/>
        </p:nvSpPr>
        <p:spPr bwMode="auto">
          <a:xfrm>
            <a:off x="1806575" y="5065713"/>
            <a:ext cx="304800" cy="3810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 flipV="1">
            <a:off x="382588" y="2238375"/>
            <a:ext cx="558800" cy="1514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110"/>
          <p:cNvGrpSpPr>
            <a:grpSpLocks/>
          </p:cNvGrpSpPr>
          <p:nvPr/>
        </p:nvGrpSpPr>
        <p:grpSpPr bwMode="auto">
          <a:xfrm>
            <a:off x="3397250" y="4119563"/>
            <a:ext cx="1023938" cy="644525"/>
            <a:chOff x="5609235" y="4146695"/>
            <a:chExt cx="1023801" cy="645748"/>
          </a:xfrm>
        </p:grpSpPr>
        <p:sp>
          <p:nvSpPr>
            <p:cNvPr id="7261" name="AutoShape 37"/>
            <p:cNvSpPr>
              <a:spLocks noChangeArrowheads="1"/>
            </p:cNvSpPr>
            <p:nvPr/>
          </p:nvSpPr>
          <p:spPr bwMode="auto">
            <a:xfrm>
              <a:off x="5834432" y="4146695"/>
              <a:ext cx="457200" cy="381000"/>
            </a:xfrm>
            <a:prstGeom prst="can">
              <a:avLst>
                <a:gd name="adj" fmla="val 25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2" name="Rectangle 41"/>
            <p:cNvSpPr>
              <a:spLocks noChangeArrowheads="1"/>
            </p:cNvSpPr>
            <p:nvPr/>
          </p:nvSpPr>
          <p:spPr bwMode="auto">
            <a:xfrm>
              <a:off x="5609235" y="4515202"/>
              <a:ext cx="1023801" cy="277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E DNS</a:t>
              </a:r>
            </a:p>
          </p:txBody>
        </p:sp>
      </p:grpSp>
      <p:sp>
        <p:nvSpPr>
          <p:cNvPr id="47" name="Line 45"/>
          <p:cNvSpPr>
            <a:spLocks noChangeShapeType="1"/>
          </p:cNvSpPr>
          <p:nvPr/>
        </p:nvSpPr>
        <p:spPr bwMode="auto">
          <a:xfrm flipV="1">
            <a:off x="546100" y="2565400"/>
            <a:ext cx="436563" cy="1106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7193" name="Picture 5"/>
          <p:cNvPicPr>
            <a:picLocks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26988" y="3554413"/>
            <a:ext cx="914401" cy="1208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13"/>
          <p:cNvGrpSpPr>
            <a:grpSpLocks/>
          </p:cNvGrpSpPr>
          <p:nvPr/>
        </p:nvGrpSpPr>
        <p:grpSpPr bwMode="auto">
          <a:xfrm>
            <a:off x="1939925" y="4121150"/>
            <a:ext cx="981075" cy="631825"/>
            <a:chOff x="1940193" y="4121674"/>
            <a:chExt cx="979773" cy="631715"/>
          </a:xfrm>
        </p:grpSpPr>
        <p:sp>
          <p:nvSpPr>
            <p:cNvPr id="7259" name="AutoShape 37"/>
            <p:cNvSpPr>
              <a:spLocks noChangeArrowheads="1"/>
            </p:cNvSpPr>
            <p:nvPr/>
          </p:nvSpPr>
          <p:spPr bwMode="auto">
            <a:xfrm>
              <a:off x="2151744" y="4121674"/>
              <a:ext cx="457200" cy="381000"/>
            </a:xfrm>
            <a:prstGeom prst="can">
              <a:avLst>
                <a:gd name="adj" fmla="val 25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0" name="Rectangle 41"/>
            <p:cNvSpPr>
              <a:spLocks noChangeArrowheads="1"/>
            </p:cNvSpPr>
            <p:nvPr/>
          </p:nvSpPr>
          <p:spPr bwMode="auto">
            <a:xfrm>
              <a:off x="1940193" y="4476524"/>
              <a:ext cx="979773" cy="276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IE DNS</a:t>
              </a:r>
            </a:p>
          </p:txBody>
        </p:sp>
      </p:grpSp>
      <p:sp>
        <p:nvSpPr>
          <p:cNvPr id="65" name="Line 52"/>
          <p:cNvSpPr>
            <a:spLocks noChangeShapeType="1"/>
          </p:cNvSpPr>
          <p:nvPr/>
        </p:nvSpPr>
        <p:spPr bwMode="auto">
          <a:xfrm flipV="1">
            <a:off x="2455863" y="3032125"/>
            <a:ext cx="30162" cy="1089025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69" name="Line 52"/>
          <p:cNvSpPr>
            <a:spLocks noChangeShapeType="1"/>
          </p:cNvSpPr>
          <p:nvPr/>
        </p:nvSpPr>
        <p:spPr bwMode="auto">
          <a:xfrm flipH="1">
            <a:off x="2593975" y="1282700"/>
            <a:ext cx="26988" cy="6969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" name="Line 52"/>
          <p:cNvSpPr>
            <a:spLocks noChangeShapeType="1"/>
          </p:cNvSpPr>
          <p:nvPr/>
        </p:nvSpPr>
        <p:spPr bwMode="auto">
          <a:xfrm flipV="1">
            <a:off x="2390775" y="1270000"/>
            <a:ext cx="11113" cy="6842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106"/>
          <p:cNvGrpSpPr>
            <a:grpSpLocks/>
          </p:cNvGrpSpPr>
          <p:nvPr/>
        </p:nvGrpSpPr>
        <p:grpSpPr bwMode="auto">
          <a:xfrm>
            <a:off x="2070100" y="1941513"/>
            <a:ext cx="817563" cy="1395412"/>
            <a:chOff x="2069792" y="1941394"/>
            <a:chExt cx="817231" cy="1395512"/>
          </a:xfrm>
        </p:grpSpPr>
        <p:graphicFrame>
          <p:nvGraphicFramePr>
            <p:cNvPr id="7173" name="Object 8"/>
            <p:cNvGraphicFramePr>
              <a:graphicFrameLocks noChangeAspect="1"/>
            </p:cNvGraphicFramePr>
            <p:nvPr/>
          </p:nvGraphicFramePr>
          <p:xfrm flipH="1">
            <a:off x="2110736" y="1941394"/>
            <a:ext cx="776287" cy="1143000"/>
          </p:xfrm>
          <a:graphic>
            <a:graphicData uri="http://schemas.openxmlformats.org/presentationml/2006/ole">
              <p:oleObj spid="_x0000_s49157" name="Clip" r:id="rId8" imgW="1634400" imgH="2286360" progId="">
                <p:embed/>
              </p:oleObj>
            </a:graphicData>
          </a:graphic>
        </p:graphicFrame>
        <p:sp>
          <p:nvSpPr>
            <p:cNvPr id="7258" name="Rectangle 8"/>
            <p:cNvSpPr>
              <a:spLocks noChangeArrowheads="1"/>
            </p:cNvSpPr>
            <p:nvPr/>
          </p:nvSpPr>
          <p:spPr bwMode="auto">
            <a:xfrm>
              <a:off x="2069792" y="3062269"/>
              <a:ext cx="615950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SGSN</a:t>
              </a:r>
            </a:p>
          </p:txBody>
        </p:sp>
      </p:grpSp>
      <p:sp>
        <p:nvSpPr>
          <p:cNvPr id="73" name="Line 52"/>
          <p:cNvSpPr>
            <a:spLocks noChangeShapeType="1"/>
          </p:cNvSpPr>
          <p:nvPr/>
        </p:nvSpPr>
        <p:spPr bwMode="auto">
          <a:xfrm flipH="1" flipV="1">
            <a:off x="1282700" y="2374900"/>
            <a:ext cx="846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" name="Line 35"/>
          <p:cNvSpPr>
            <a:spLocks noChangeShapeType="1"/>
          </p:cNvSpPr>
          <p:nvPr/>
        </p:nvSpPr>
        <p:spPr bwMode="auto">
          <a:xfrm flipV="1">
            <a:off x="600075" y="2757488"/>
            <a:ext cx="465138" cy="1050925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5" name="Line 35"/>
          <p:cNvSpPr>
            <a:spLocks noChangeShapeType="1"/>
          </p:cNvSpPr>
          <p:nvPr/>
        </p:nvSpPr>
        <p:spPr bwMode="auto">
          <a:xfrm flipV="1">
            <a:off x="1392238" y="2524125"/>
            <a:ext cx="819150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7" name="Rectangle 41"/>
          <p:cNvSpPr>
            <a:spLocks noChangeArrowheads="1"/>
          </p:cNvSpPr>
          <p:nvPr/>
        </p:nvSpPr>
        <p:spPr bwMode="auto">
          <a:xfrm rot="-4046709">
            <a:off x="464344" y="3437732"/>
            <a:ext cx="160655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www.gmail.com</a:t>
            </a:r>
          </a:p>
        </p:txBody>
      </p:sp>
      <p:sp>
        <p:nvSpPr>
          <p:cNvPr id="85" name="Line 45"/>
          <p:cNvSpPr>
            <a:spLocks noChangeShapeType="1"/>
          </p:cNvSpPr>
          <p:nvPr/>
        </p:nvSpPr>
        <p:spPr bwMode="auto">
          <a:xfrm flipV="1">
            <a:off x="698500" y="2770188"/>
            <a:ext cx="474663" cy="1135062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88" name="Line 44"/>
          <p:cNvSpPr>
            <a:spLocks noChangeShapeType="1"/>
          </p:cNvSpPr>
          <p:nvPr/>
        </p:nvSpPr>
        <p:spPr bwMode="auto">
          <a:xfrm>
            <a:off x="6032500" y="2879725"/>
            <a:ext cx="1588" cy="1285875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9" name="Line 44"/>
          <p:cNvSpPr>
            <a:spLocks noChangeShapeType="1"/>
          </p:cNvSpPr>
          <p:nvPr/>
        </p:nvSpPr>
        <p:spPr bwMode="auto">
          <a:xfrm flipH="1" flipV="1">
            <a:off x="6181725" y="2865438"/>
            <a:ext cx="0" cy="1255712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0" name="Line 44"/>
          <p:cNvSpPr>
            <a:spLocks noChangeShapeType="1"/>
          </p:cNvSpPr>
          <p:nvPr/>
        </p:nvSpPr>
        <p:spPr bwMode="auto">
          <a:xfrm>
            <a:off x="6391275" y="4672013"/>
            <a:ext cx="1633538" cy="377825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108"/>
          <p:cNvGrpSpPr>
            <a:grpSpLocks/>
          </p:cNvGrpSpPr>
          <p:nvPr/>
        </p:nvGrpSpPr>
        <p:grpSpPr bwMode="auto">
          <a:xfrm>
            <a:off x="5183186" y="527050"/>
            <a:ext cx="554036" cy="688975"/>
            <a:chOff x="2152859" y="621549"/>
            <a:chExt cx="553763" cy="689765"/>
          </a:xfrm>
          <a:solidFill>
            <a:srgbClr val="00B050"/>
          </a:solidFill>
        </p:grpSpPr>
        <p:sp>
          <p:nvSpPr>
            <p:cNvPr id="68" name="AutoShape 37"/>
            <p:cNvSpPr>
              <a:spLocks noChangeArrowheads="1"/>
            </p:cNvSpPr>
            <p:nvPr/>
          </p:nvSpPr>
          <p:spPr bwMode="auto">
            <a:xfrm>
              <a:off x="2249648" y="929877"/>
              <a:ext cx="456974" cy="381437"/>
            </a:xfrm>
            <a:prstGeom prst="can">
              <a:avLst>
                <a:gd name="adj" fmla="val 25000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4153" name="Rectangle 10"/>
            <p:cNvSpPr>
              <a:spLocks noChangeArrowheads="1"/>
            </p:cNvSpPr>
            <p:nvPr/>
          </p:nvSpPr>
          <p:spPr bwMode="auto">
            <a:xfrm>
              <a:off x="2152859" y="621549"/>
              <a:ext cx="490598" cy="27731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  <a:defRPr/>
              </a:pPr>
              <a:r>
                <a:rPr lang="en-US" sz="1200" dirty="0">
                  <a:latin typeface="Helvetica 45 Light" pitchFamily="34" charset="0"/>
                </a:rPr>
                <a:t>HLR</a:t>
              </a:r>
            </a:p>
          </p:txBody>
        </p:sp>
      </p:grpSp>
      <p:sp>
        <p:nvSpPr>
          <p:cNvPr id="115" name="Line 44"/>
          <p:cNvSpPr>
            <a:spLocks noChangeShapeType="1"/>
          </p:cNvSpPr>
          <p:nvPr/>
        </p:nvSpPr>
        <p:spPr bwMode="auto">
          <a:xfrm>
            <a:off x="2827338" y="2554288"/>
            <a:ext cx="860425" cy="14287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7209" name="Straight Arrow Connector 116"/>
          <p:cNvCxnSpPr>
            <a:cxnSpLocks noChangeShapeType="1"/>
          </p:cNvCxnSpPr>
          <p:nvPr/>
        </p:nvCxnSpPr>
        <p:spPr bwMode="auto">
          <a:xfrm>
            <a:off x="9512300" y="423863"/>
            <a:ext cx="914400" cy="914400"/>
          </a:xfrm>
          <a:prstGeom prst="straightConnector1">
            <a:avLst/>
          </a:prstGeom>
          <a:noFill/>
          <a:ln w="19050" algn="ctr">
            <a:noFill/>
            <a:round/>
            <a:headEnd/>
            <a:tailEnd type="arrow" w="med" len="med"/>
          </a:ln>
        </p:spPr>
      </p:cxnSp>
      <p:cxnSp>
        <p:nvCxnSpPr>
          <p:cNvPr id="7210" name="Curved Connector 124"/>
          <p:cNvCxnSpPr>
            <a:cxnSpLocks noChangeShapeType="1"/>
          </p:cNvCxnSpPr>
          <p:nvPr/>
        </p:nvCxnSpPr>
        <p:spPr bwMode="auto">
          <a:xfrm rot="16200000" flipH="1">
            <a:off x="7390607" y="3255169"/>
            <a:ext cx="1282700" cy="122237"/>
          </a:xfrm>
          <a:prstGeom prst="curvedConnector3">
            <a:avLst>
              <a:gd name="adj1" fmla="val 50000"/>
            </a:avLst>
          </a:prstGeom>
          <a:noFill/>
          <a:ln w="19050" algn="ctr">
            <a:noFill/>
            <a:round/>
            <a:headEnd/>
            <a:tailEnd/>
          </a:ln>
        </p:spPr>
      </p:cxnSp>
      <p:cxnSp>
        <p:nvCxnSpPr>
          <p:cNvPr id="7211" name="Straight Arrow Connector 128"/>
          <p:cNvCxnSpPr>
            <a:cxnSpLocks noChangeShapeType="1"/>
          </p:cNvCxnSpPr>
          <p:nvPr/>
        </p:nvCxnSpPr>
        <p:spPr bwMode="auto">
          <a:xfrm>
            <a:off x="4859338" y="2784475"/>
            <a:ext cx="914400" cy="914400"/>
          </a:xfrm>
          <a:prstGeom prst="straightConnector1">
            <a:avLst/>
          </a:prstGeom>
          <a:noFill/>
          <a:ln w="19050" algn="ctr">
            <a:noFill/>
            <a:round/>
            <a:headEnd/>
            <a:tailEnd type="arrow" w="med" len="med"/>
          </a:ln>
        </p:spPr>
      </p:cxnSp>
      <p:graphicFrame>
        <p:nvGraphicFramePr>
          <p:cNvPr id="7170" name="Object 6"/>
          <p:cNvGraphicFramePr>
            <a:graphicFrameLocks noChangeAspect="1"/>
          </p:cNvGraphicFramePr>
          <p:nvPr/>
        </p:nvGraphicFramePr>
        <p:xfrm flipH="1">
          <a:off x="2355850" y="863600"/>
          <a:ext cx="373063" cy="430213"/>
        </p:xfrm>
        <a:graphic>
          <a:graphicData uri="http://schemas.openxmlformats.org/presentationml/2006/ole">
            <p:oleObj spid="_x0000_s49154" name="Clip" r:id="rId9" imgW="1634400" imgH="2286360" progId="">
              <p:embed/>
            </p:oleObj>
          </a:graphicData>
        </a:graphic>
      </p:graphicFrame>
      <p:sp>
        <p:nvSpPr>
          <p:cNvPr id="7212" name="Rectangle 10"/>
          <p:cNvSpPr>
            <a:spLocks noChangeArrowheads="1"/>
          </p:cNvSpPr>
          <p:nvPr/>
        </p:nvSpPr>
        <p:spPr bwMode="auto">
          <a:xfrm>
            <a:off x="2222500" y="515938"/>
            <a:ext cx="989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STP/GMSC</a:t>
            </a:r>
          </a:p>
        </p:txBody>
      </p:sp>
      <p:graphicFrame>
        <p:nvGraphicFramePr>
          <p:cNvPr id="7171" name="Object 7"/>
          <p:cNvGraphicFramePr>
            <a:graphicFrameLocks noChangeAspect="1"/>
          </p:cNvGraphicFramePr>
          <p:nvPr/>
        </p:nvGraphicFramePr>
        <p:xfrm flipH="1">
          <a:off x="3827463" y="833438"/>
          <a:ext cx="373062" cy="430212"/>
        </p:xfrm>
        <a:graphic>
          <a:graphicData uri="http://schemas.openxmlformats.org/presentationml/2006/ole">
            <p:oleObj spid="_x0000_s49155" name="Clip" r:id="rId10" imgW="1634400" imgH="2286360" progId="">
              <p:embed/>
            </p:oleObj>
          </a:graphicData>
        </a:graphic>
      </p:graphicFrame>
      <p:sp>
        <p:nvSpPr>
          <p:cNvPr id="7213" name="Rectangle 10"/>
          <p:cNvSpPr>
            <a:spLocks noChangeArrowheads="1"/>
          </p:cNvSpPr>
          <p:nvPr/>
        </p:nvSpPr>
        <p:spPr bwMode="auto">
          <a:xfrm>
            <a:off x="3603625" y="463550"/>
            <a:ext cx="99536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SRS Server</a:t>
            </a:r>
          </a:p>
        </p:txBody>
      </p:sp>
      <p:sp>
        <p:nvSpPr>
          <p:cNvPr id="81" name="Line 11"/>
          <p:cNvSpPr>
            <a:spLocks noChangeShapeType="1"/>
          </p:cNvSpPr>
          <p:nvPr/>
        </p:nvSpPr>
        <p:spPr bwMode="auto">
          <a:xfrm flipV="1">
            <a:off x="2730500" y="950913"/>
            <a:ext cx="1117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" name="Line 11"/>
          <p:cNvSpPr>
            <a:spLocks noChangeShapeType="1"/>
          </p:cNvSpPr>
          <p:nvPr/>
        </p:nvSpPr>
        <p:spPr bwMode="auto">
          <a:xfrm flipV="1">
            <a:off x="4178300" y="966788"/>
            <a:ext cx="11191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3" name="Line 52"/>
          <p:cNvSpPr>
            <a:spLocks noChangeShapeType="1"/>
          </p:cNvSpPr>
          <p:nvPr/>
        </p:nvSpPr>
        <p:spPr bwMode="auto">
          <a:xfrm flipH="1">
            <a:off x="4178300" y="1081088"/>
            <a:ext cx="1089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4" name="Line 52"/>
          <p:cNvSpPr>
            <a:spLocks noChangeShapeType="1"/>
          </p:cNvSpPr>
          <p:nvPr/>
        </p:nvSpPr>
        <p:spPr bwMode="auto">
          <a:xfrm flipH="1" flipV="1">
            <a:off x="2679700" y="1123950"/>
            <a:ext cx="1168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7218" name="Picture 152" descr="netflowroutr"/>
          <p:cNvPicPr preferRelativeResize="0">
            <a:picLocks noChangeAspect="1" noChangeArrowheads="1"/>
          </p:cNvPicPr>
          <p:nvPr/>
        </p:nvPicPr>
        <p:blipFill>
          <a:blip r:embed="rId11" cstate="print">
            <a:grayscl/>
          </a:blip>
          <a:srcRect/>
          <a:stretch>
            <a:fillRect/>
          </a:stretch>
        </p:blipFill>
        <p:spPr bwMode="auto">
          <a:xfrm>
            <a:off x="3667125" y="2362200"/>
            <a:ext cx="833438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149" name="Straight Arrow Connector 94"/>
          <p:cNvCxnSpPr>
            <a:cxnSpLocks noChangeShapeType="1"/>
          </p:cNvCxnSpPr>
          <p:nvPr/>
        </p:nvCxnSpPr>
        <p:spPr bwMode="auto">
          <a:xfrm>
            <a:off x="4462463" y="2579688"/>
            <a:ext cx="1338262" cy="1587"/>
          </a:xfrm>
          <a:prstGeom prst="straightConnector1">
            <a:avLst/>
          </a:prstGeom>
          <a:noFill/>
          <a:ln w="28575" algn="ctr">
            <a:solidFill>
              <a:srgbClr val="FFC000"/>
            </a:solidFill>
            <a:round/>
            <a:headEnd/>
            <a:tailEnd type="arrow" w="med" len="med"/>
          </a:ln>
        </p:spPr>
      </p:cxnSp>
      <p:pic>
        <p:nvPicPr>
          <p:cNvPr id="7220" name="Picture 152" descr="netflowroutr"/>
          <p:cNvPicPr preferRelativeResize="0">
            <a:picLocks noChangeAspect="1" noChangeArrowheads="1"/>
          </p:cNvPicPr>
          <p:nvPr/>
        </p:nvPicPr>
        <p:blipFill>
          <a:blip r:embed="rId11" cstate="print">
            <a:grayscl/>
          </a:blip>
          <a:srcRect/>
          <a:stretch>
            <a:fillRect/>
          </a:stretch>
        </p:blipFill>
        <p:spPr bwMode="auto">
          <a:xfrm>
            <a:off x="5689600" y="4124325"/>
            <a:ext cx="833438" cy="61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21" name="Rectangle 41"/>
          <p:cNvSpPr>
            <a:spLocks noChangeArrowheads="1"/>
          </p:cNvSpPr>
          <p:nvPr/>
        </p:nvSpPr>
        <p:spPr bwMode="auto">
          <a:xfrm>
            <a:off x="3644900" y="2974975"/>
            <a:ext cx="113188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Site Router</a:t>
            </a:r>
          </a:p>
        </p:txBody>
      </p:sp>
      <p:sp>
        <p:nvSpPr>
          <p:cNvPr id="71" name="Line 12"/>
          <p:cNvSpPr>
            <a:spLocks noChangeShapeType="1"/>
          </p:cNvSpPr>
          <p:nvPr/>
        </p:nvSpPr>
        <p:spPr bwMode="auto">
          <a:xfrm>
            <a:off x="2587625" y="4251325"/>
            <a:ext cx="1069975" cy="635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2" name="Line 12"/>
          <p:cNvSpPr>
            <a:spLocks noChangeShapeType="1"/>
          </p:cNvSpPr>
          <p:nvPr/>
        </p:nvSpPr>
        <p:spPr bwMode="auto">
          <a:xfrm flipH="1" flipV="1">
            <a:off x="2557463" y="4357688"/>
            <a:ext cx="1046162" cy="9525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grpSp>
        <p:nvGrpSpPr>
          <p:cNvPr id="8" name="Group 110"/>
          <p:cNvGrpSpPr>
            <a:grpSpLocks/>
          </p:cNvGrpSpPr>
          <p:nvPr/>
        </p:nvGrpSpPr>
        <p:grpSpPr bwMode="auto">
          <a:xfrm>
            <a:off x="4273550" y="5376863"/>
            <a:ext cx="1295400" cy="844550"/>
            <a:chOff x="5431945" y="4146693"/>
            <a:chExt cx="1294254" cy="844221"/>
          </a:xfrm>
        </p:grpSpPr>
        <p:sp>
          <p:nvSpPr>
            <p:cNvPr id="7256" name="AutoShape 37"/>
            <p:cNvSpPr>
              <a:spLocks noChangeArrowheads="1"/>
            </p:cNvSpPr>
            <p:nvPr/>
          </p:nvSpPr>
          <p:spPr bwMode="auto">
            <a:xfrm>
              <a:off x="5834431" y="4146693"/>
              <a:ext cx="457200" cy="381000"/>
            </a:xfrm>
            <a:prstGeom prst="can">
              <a:avLst>
                <a:gd name="adj" fmla="val 25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7" name="Rectangle 41"/>
            <p:cNvSpPr>
              <a:spLocks noChangeArrowheads="1"/>
            </p:cNvSpPr>
            <p:nvPr/>
          </p:nvSpPr>
          <p:spPr bwMode="auto">
            <a:xfrm>
              <a:off x="5431945" y="4528847"/>
              <a:ext cx="1294254" cy="4620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Belgacom / Aicent DNS</a:t>
              </a:r>
            </a:p>
          </p:txBody>
        </p:sp>
      </p:grpSp>
      <p:grpSp>
        <p:nvGrpSpPr>
          <p:cNvPr id="9" name="Group 110"/>
          <p:cNvGrpSpPr>
            <a:grpSpLocks/>
          </p:cNvGrpSpPr>
          <p:nvPr/>
        </p:nvGrpSpPr>
        <p:grpSpPr bwMode="auto">
          <a:xfrm>
            <a:off x="6415088" y="5349875"/>
            <a:ext cx="1381125" cy="646113"/>
            <a:chOff x="5609240" y="4146695"/>
            <a:chExt cx="1379396" cy="645743"/>
          </a:xfrm>
        </p:grpSpPr>
        <p:sp>
          <p:nvSpPr>
            <p:cNvPr id="7254" name="AutoShape 37"/>
            <p:cNvSpPr>
              <a:spLocks noChangeArrowheads="1"/>
            </p:cNvSpPr>
            <p:nvPr/>
          </p:nvSpPr>
          <p:spPr bwMode="auto">
            <a:xfrm>
              <a:off x="5834432" y="4146695"/>
              <a:ext cx="457200" cy="381000"/>
            </a:xfrm>
            <a:prstGeom prst="can">
              <a:avLst>
                <a:gd name="adj" fmla="val 25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5" name="Rectangle 41"/>
            <p:cNvSpPr>
              <a:spLocks noChangeArrowheads="1"/>
            </p:cNvSpPr>
            <p:nvPr/>
          </p:nvSpPr>
          <p:spPr bwMode="auto">
            <a:xfrm>
              <a:off x="5609240" y="4515197"/>
              <a:ext cx="1379396" cy="277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Operators  EDNS</a:t>
              </a:r>
            </a:p>
          </p:txBody>
        </p:sp>
      </p:grpSp>
      <p:grpSp>
        <p:nvGrpSpPr>
          <p:cNvPr id="10" name="Group 106"/>
          <p:cNvGrpSpPr>
            <a:grpSpLocks/>
          </p:cNvGrpSpPr>
          <p:nvPr/>
        </p:nvGrpSpPr>
        <p:grpSpPr bwMode="auto">
          <a:xfrm>
            <a:off x="7954963" y="2830513"/>
            <a:ext cx="1366837" cy="1143000"/>
            <a:chOff x="2110736" y="1941394"/>
            <a:chExt cx="1366293" cy="1143000"/>
          </a:xfrm>
        </p:grpSpPr>
        <p:graphicFrame>
          <p:nvGraphicFramePr>
            <p:cNvPr id="7172" name="Object 4"/>
            <p:cNvGraphicFramePr>
              <a:graphicFrameLocks noChangeAspect="1"/>
            </p:cNvGraphicFramePr>
            <p:nvPr/>
          </p:nvGraphicFramePr>
          <p:xfrm flipH="1">
            <a:off x="2110736" y="1941394"/>
            <a:ext cx="776287" cy="1143000"/>
          </p:xfrm>
          <a:graphic>
            <a:graphicData uri="http://schemas.openxmlformats.org/presentationml/2006/ole">
              <p:oleObj spid="_x0000_s49156" name="Clip" r:id="rId12" imgW="1634400" imgH="2286360" progId="">
                <p:embed/>
              </p:oleObj>
            </a:graphicData>
          </a:graphic>
        </p:graphicFrame>
        <p:sp>
          <p:nvSpPr>
            <p:cNvPr id="7253" name="Rectangle 8"/>
            <p:cNvSpPr>
              <a:spLocks noChangeArrowheads="1"/>
            </p:cNvSpPr>
            <p:nvPr/>
          </p:nvSpPr>
          <p:spPr bwMode="auto">
            <a:xfrm>
              <a:off x="2506347" y="2448076"/>
              <a:ext cx="970682" cy="461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Operator  GGSN</a:t>
              </a:r>
            </a:p>
          </p:txBody>
        </p:sp>
      </p:grpSp>
      <p:sp>
        <p:nvSpPr>
          <p:cNvPr id="96" name="Line 12"/>
          <p:cNvSpPr>
            <a:spLocks noChangeShapeType="1"/>
          </p:cNvSpPr>
          <p:nvPr/>
        </p:nvSpPr>
        <p:spPr bwMode="auto">
          <a:xfrm>
            <a:off x="3983038" y="4457700"/>
            <a:ext cx="725487" cy="962025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97" name="Line 12"/>
          <p:cNvSpPr>
            <a:spLocks noChangeShapeType="1"/>
          </p:cNvSpPr>
          <p:nvPr/>
        </p:nvSpPr>
        <p:spPr bwMode="auto">
          <a:xfrm flipH="1" flipV="1">
            <a:off x="4067175" y="4394200"/>
            <a:ext cx="804863" cy="969963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99" name="Line 12"/>
          <p:cNvSpPr>
            <a:spLocks noChangeShapeType="1"/>
          </p:cNvSpPr>
          <p:nvPr/>
        </p:nvSpPr>
        <p:spPr bwMode="auto">
          <a:xfrm>
            <a:off x="4025900" y="4337050"/>
            <a:ext cx="2593975" cy="1217613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00" name="Line 12"/>
          <p:cNvSpPr>
            <a:spLocks noChangeShapeType="1"/>
          </p:cNvSpPr>
          <p:nvPr/>
        </p:nvSpPr>
        <p:spPr bwMode="auto">
          <a:xfrm flipH="1" flipV="1">
            <a:off x="4052888" y="4216400"/>
            <a:ext cx="2625725" cy="1247775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pic>
        <p:nvPicPr>
          <p:cNvPr id="7231" name="Picture 152" descr="netflowroutr"/>
          <p:cNvPicPr preferRelativeResize="0">
            <a:picLocks noChangeAspect="1" noChangeArrowheads="1"/>
          </p:cNvPicPr>
          <p:nvPr/>
        </p:nvPicPr>
        <p:blipFill>
          <a:blip r:embed="rId11" cstate="print">
            <a:grayscl/>
          </a:blip>
          <a:srcRect/>
          <a:stretch>
            <a:fillRect/>
          </a:stretch>
        </p:blipFill>
        <p:spPr bwMode="auto">
          <a:xfrm>
            <a:off x="7943850" y="4767263"/>
            <a:ext cx="833438" cy="61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32" name="Rectangle 41"/>
          <p:cNvSpPr>
            <a:spLocks noChangeArrowheads="1"/>
          </p:cNvSpPr>
          <p:nvPr/>
        </p:nvSpPr>
        <p:spPr bwMode="auto">
          <a:xfrm>
            <a:off x="7685088" y="5386388"/>
            <a:ext cx="1295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 Belgacom / Aicent  Router</a:t>
            </a:r>
          </a:p>
        </p:txBody>
      </p:sp>
      <p:sp>
        <p:nvSpPr>
          <p:cNvPr id="105" name="Line 44"/>
          <p:cNvSpPr>
            <a:spLocks noChangeShapeType="1"/>
          </p:cNvSpPr>
          <p:nvPr/>
        </p:nvSpPr>
        <p:spPr bwMode="auto">
          <a:xfrm flipH="1" flipV="1">
            <a:off x="8339138" y="3930650"/>
            <a:ext cx="14287" cy="915988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234" name="Rectangle 41"/>
          <p:cNvSpPr>
            <a:spLocks noChangeArrowheads="1"/>
          </p:cNvSpPr>
          <p:nvPr/>
        </p:nvSpPr>
        <p:spPr bwMode="auto">
          <a:xfrm>
            <a:off x="5680075" y="4656138"/>
            <a:ext cx="10223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GRX Router</a:t>
            </a:r>
          </a:p>
        </p:txBody>
      </p:sp>
      <p:sp>
        <p:nvSpPr>
          <p:cNvPr id="108" name="Line 44"/>
          <p:cNvSpPr>
            <a:spLocks noChangeShapeType="1"/>
          </p:cNvSpPr>
          <p:nvPr/>
        </p:nvSpPr>
        <p:spPr bwMode="auto">
          <a:xfrm>
            <a:off x="8191500" y="3987800"/>
            <a:ext cx="0" cy="884238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Line 44"/>
          <p:cNvSpPr>
            <a:spLocks noChangeShapeType="1"/>
          </p:cNvSpPr>
          <p:nvPr/>
        </p:nvSpPr>
        <p:spPr bwMode="auto">
          <a:xfrm flipH="1" flipV="1">
            <a:off x="6469063" y="4545013"/>
            <a:ext cx="1597025" cy="382587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Line 44"/>
          <p:cNvSpPr>
            <a:spLocks noChangeShapeType="1"/>
          </p:cNvSpPr>
          <p:nvPr/>
        </p:nvSpPr>
        <p:spPr bwMode="auto">
          <a:xfrm flipH="1" flipV="1">
            <a:off x="4437063" y="2676525"/>
            <a:ext cx="1404937" cy="22225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Line 44"/>
          <p:cNvSpPr>
            <a:spLocks noChangeShapeType="1"/>
          </p:cNvSpPr>
          <p:nvPr/>
        </p:nvSpPr>
        <p:spPr bwMode="auto">
          <a:xfrm flipH="1" flipV="1">
            <a:off x="2801938" y="2638425"/>
            <a:ext cx="882650" cy="12700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Line 45"/>
          <p:cNvSpPr>
            <a:spLocks noChangeShapeType="1"/>
          </p:cNvSpPr>
          <p:nvPr/>
        </p:nvSpPr>
        <p:spPr bwMode="auto">
          <a:xfrm>
            <a:off x="1323975" y="2633663"/>
            <a:ext cx="887413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13" name="Line 35"/>
          <p:cNvSpPr>
            <a:spLocks noChangeShapeType="1"/>
          </p:cNvSpPr>
          <p:nvPr/>
        </p:nvSpPr>
        <p:spPr bwMode="auto">
          <a:xfrm flipV="1">
            <a:off x="792163" y="2811463"/>
            <a:ext cx="504825" cy="1173162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Line 35"/>
          <p:cNvSpPr>
            <a:spLocks noChangeShapeType="1"/>
          </p:cNvSpPr>
          <p:nvPr/>
        </p:nvSpPr>
        <p:spPr bwMode="auto">
          <a:xfrm flipV="1">
            <a:off x="1366838" y="2759075"/>
            <a:ext cx="819150" cy="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Line 35"/>
          <p:cNvSpPr>
            <a:spLocks noChangeShapeType="1"/>
          </p:cNvSpPr>
          <p:nvPr/>
        </p:nvSpPr>
        <p:spPr bwMode="auto">
          <a:xfrm flipV="1">
            <a:off x="2816225" y="2760663"/>
            <a:ext cx="882650" cy="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Line 35"/>
          <p:cNvSpPr>
            <a:spLocks noChangeShapeType="1"/>
          </p:cNvSpPr>
          <p:nvPr/>
        </p:nvSpPr>
        <p:spPr bwMode="auto">
          <a:xfrm flipV="1">
            <a:off x="4429125" y="2790825"/>
            <a:ext cx="1412875" cy="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Line 35"/>
          <p:cNvSpPr>
            <a:spLocks noChangeShapeType="1"/>
          </p:cNvSpPr>
          <p:nvPr/>
        </p:nvSpPr>
        <p:spPr bwMode="auto">
          <a:xfrm flipH="1">
            <a:off x="6291263" y="2865438"/>
            <a:ext cx="14287" cy="1311275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Line 35"/>
          <p:cNvSpPr>
            <a:spLocks noChangeShapeType="1"/>
          </p:cNvSpPr>
          <p:nvPr/>
        </p:nvSpPr>
        <p:spPr bwMode="auto">
          <a:xfrm>
            <a:off x="6510338" y="4421188"/>
            <a:ext cx="1568450" cy="369887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Line 35"/>
          <p:cNvSpPr>
            <a:spLocks noChangeShapeType="1"/>
          </p:cNvSpPr>
          <p:nvPr/>
        </p:nvSpPr>
        <p:spPr bwMode="auto">
          <a:xfrm flipV="1">
            <a:off x="8059738" y="3903663"/>
            <a:ext cx="19050" cy="83820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1"/>
          <p:cNvGrpSpPr>
            <a:grpSpLocks/>
          </p:cNvGrpSpPr>
          <p:nvPr/>
        </p:nvGrpSpPr>
        <p:grpSpPr bwMode="auto">
          <a:xfrm>
            <a:off x="7634288" y="1066800"/>
            <a:ext cx="1509712" cy="1254125"/>
            <a:chOff x="7633648" y="1966418"/>
            <a:chExt cx="1510352" cy="1254457"/>
          </a:xfrm>
        </p:grpSpPr>
        <p:pic>
          <p:nvPicPr>
            <p:cNvPr id="7251" name="Picture 48"/>
            <p:cNvPicPr>
              <a:picLocks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7633648" y="1966418"/>
              <a:ext cx="1510352" cy="1254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52" name="Text Box 49"/>
            <p:cNvSpPr txBox="1">
              <a:spLocks noChangeArrowheads="1"/>
            </p:cNvSpPr>
            <p:nvPr/>
          </p:nvSpPr>
          <p:spPr bwMode="auto">
            <a:xfrm>
              <a:off x="7846913" y="2322394"/>
              <a:ext cx="1297087" cy="584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b="1">
                  <a:latin typeface="Helvetica 45 Light" pitchFamily="34" charset="0"/>
                </a:rPr>
                <a:t>Internet (Operator)</a:t>
              </a:r>
            </a:p>
          </p:txBody>
        </p:sp>
      </p:grpSp>
      <p:sp>
        <p:nvSpPr>
          <p:cNvPr id="124" name="Line 35"/>
          <p:cNvSpPr>
            <a:spLocks noChangeShapeType="1"/>
          </p:cNvSpPr>
          <p:nvPr/>
        </p:nvSpPr>
        <p:spPr bwMode="auto">
          <a:xfrm flipV="1">
            <a:off x="8361363" y="2238375"/>
            <a:ext cx="0" cy="608013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249" name="TextBox 101"/>
          <p:cNvSpPr txBox="1">
            <a:spLocks noChangeArrowheads="1"/>
          </p:cNvSpPr>
          <p:nvPr/>
        </p:nvSpPr>
        <p:spPr bwMode="auto">
          <a:xfrm>
            <a:off x="6442075" y="177800"/>
            <a:ext cx="2360613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b="1"/>
              <a:t>Gn backbone IP – </a:t>
            </a:r>
            <a:r>
              <a:rPr lang="en-US" sz="1200" b="1">
                <a:solidFill>
                  <a:srgbClr val="FF0000"/>
                </a:solidFill>
              </a:rPr>
              <a:t>203.88.2.0/23</a:t>
            </a:r>
          </a:p>
          <a:p>
            <a:r>
              <a:rPr lang="en-US" sz="1200" b="1">
                <a:solidFill>
                  <a:srgbClr val="FF0000"/>
                </a:solidFill>
              </a:rPr>
              <a:t>203.88.4.0/23</a:t>
            </a:r>
          </a:p>
          <a:p>
            <a:r>
              <a:rPr lang="en-US" sz="1200" b="1"/>
              <a:t>AS number - </a:t>
            </a:r>
            <a:r>
              <a:rPr lang="en-US" sz="1200" b="1">
                <a:solidFill>
                  <a:srgbClr val="FF0000"/>
                </a:solidFill>
              </a:rPr>
              <a:t>64721</a:t>
            </a:r>
          </a:p>
        </p:txBody>
      </p:sp>
      <p:sp>
        <p:nvSpPr>
          <p:cNvPr id="7250" name="TextBox 128"/>
          <p:cNvSpPr txBox="1">
            <a:spLocks noChangeArrowheads="1"/>
          </p:cNvSpPr>
          <p:nvPr/>
        </p:nvSpPr>
        <p:spPr bwMode="auto">
          <a:xfrm>
            <a:off x="177800" y="5049838"/>
            <a:ext cx="40259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sz="1400"/>
              <a:t>Local SGSN GT converted to Mumbai GT</a:t>
            </a:r>
          </a:p>
          <a:p>
            <a:pPr algn="l">
              <a:buFont typeface="Wingdings" pitchFamily="2" charset="2"/>
              <a:buChar char="Ø"/>
            </a:pPr>
            <a:r>
              <a:rPr lang="en-US" sz="1400"/>
              <a:t>Non Recursive Query for DNS</a:t>
            </a:r>
          </a:p>
          <a:p>
            <a:pPr algn="l">
              <a:buFont typeface="Wingdings" pitchFamily="2" charset="2"/>
              <a:buChar char="Ø"/>
            </a:pPr>
            <a:r>
              <a:rPr lang="en-US" sz="1400"/>
              <a:t>SGSN Source – Destination port – 33824 to 40932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2" dur="10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2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2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7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2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2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2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7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8" grpId="0" animBg="1"/>
      <p:bldP spid="47" grpId="0" animBg="1"/>
      <p:bldP spid="69" grpId="0" animBg="1"/>
      <p:bldP spid="70" grpId="0" animBg="1"/>
      <p:bldP spid="73" grpId="0" animBg="1"/>
      <p:bldP spid="77" grpId="0"/>
      <p:bldP spid="88" grpId="0" animBg="1"/>
      <p:bldP spid="89" grpId="0" animBg="1"/>
      <p:bldP spid="90" grpId="0" animBg="1"/>
      <p:bldP spid="115" grpId="0" animBg="1"/>
      <p:bldP spid="81" grpId="0" animBg="1"/>
      <p:bldP spid="82" grpId="0" animBg="1"/>
      <p:bldP spid="83" grpId="0" animBg="1"/>
      <p:bldP spid="84" grpId="0" animBg="1"/>
      <p:bldP spid="105" grpId="0" animBg="1"/>
      <p:bldP spid="108" grpId="0" animBg="1"/>
      <p:bldP spid="109" grpId="0" animBg="1"/>
      <p:bldP spid="110" grpId="0" animBg="1"/>
      <p:bldP spid="111" grpId="0" animBg="1"/>
      <p:bldP spid="113" grpId="0" animBg="1"/>
      <p:bldP spid="114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26"/>
          <p:cNvSpPr/>
          <p:nvPr/>
        </p:nvSpPr>
        <p:spPr bwMode="auto">
          <a:xfrm>
            <a:off x="3452813" y="519113"/>
            <a:ext cx="5637212" cy="9683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>
              <a:defRPr/>
            </a:pPr>
            <a:endParaRPr lang="en-US"/>
          </a:p>
        </p:txBody>
      </p:sp>
      <p:sp>
        <p:nvSpPr>
          <p:cNvPr id="126" name="Rectangle 125"/>
          <p:cNvSpPr/>
          <p:nvPr/>
        </p:nvSpPr>
        <p:spPr bwMode="auto">
          <a:xfrm>
            <a:off x="7096125" y="873125"/>
            <a:ext cx="1993900" cy="29892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>
              <a:defRPr/>
            </a:pPr>
            <a:endParaRPr lang="en-US"/>
          </a:p>
        </p:txBody>
      </p:sp>
      <p:sp>
        <p:nvSpPr>
          <p:cNvPr id="125" name="Rectangle 124"/>
          <p:cNvSpPr/>
          <p:nvPr/>
        </p:nvSpPr>
        <p:spPr bwMode="auto">
          <a:xfrm>
            <a:off x="5527675" y="3589338"/>
            <a:ext cx="3562350" cy="27844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/>
          <a:lstStyle/>
          <a:p>
            <a:pPr>
              <a:defRPr/>
            </a:pPr>
            <a:endParaRPr lang="en-US"/>
          </a:p>
        </p:txBody>
      </p:sp>
      <p:sp>
        <p:nvSpPr>
          <p:cNvPr id="54" name="Line 52"/>
          <p:cNvSpPr>
            <a:spLocks noChangeShapeType="1"/>
          </p:cNvSpPr>
          <p:nvPr/>
        </p:nvSpPr>
        <p:spPr bwMode="auto">
          <a:xfrm flipH="1">
            <a:off x="2292350" y="3043238"/>
            <a:ext cx="26988" cy="109220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pic>
        <p:nvPicPr>
          <p:cNvPr id="8203" name="Picture 4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482975"/>
            <a:ext cx="12731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488009C-7AD5-405B-8D0E-3CCD4B080975}" type="slidenum">
              <a:rPr lang="en-GB" smtClean="0"/>
              <a:pPr/>
              <a:t>12</a:t>
            </a:fld>
            <a:endParaRPr lang="en-GB" smtClean="0"/>
          </a:p>
        </p:txBody>
      </p:sp>
      <p:sp>
        <p:nvSpPr>
          <p:cNvPr id="820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Presentation title in footer</a:t>
            </a:r>
          </a:p>
        </p:txBody>
      </p:sp>
      <p:sp>
        <p:nvSpPr>
          <p:cNvPr id="820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F1B13312-C429-447E-B719-454FC8C6D698}" type="datetime4">
              <a:rPr lang="en-GB" smtClean="0"/>
              <a:pPr/>
              <a:t>18 June 2013</a:t>
            </a:fld>
            <a:endParaRPr lang="en-GB" smtClean="0"/>
          </a:p>
        </p:txBody>
      </p:sp>
      <p:sp>
        <p:nvSpPr>
          <p:cNvPr id="8207" name="Rectangle 4"/>
          <p:cNvSpPr>
            <a:spLocks noGrp="1" noChangeArrowheads="1"/>
          </p:cNvSpPr>
          <p:nvPr>
            <p:ph type="title"/>
          </p:nvPr>
        </p:nvSpPr>
        <p:spPr bwMode="gray">
          <a:xfrm>
            <a:off x="604838" y="142875"/>
            <a:ext cx="7872412" cy="431800"/>
          </a:xfrm>
        </p:spPr>
        <p:txBody>
          <a:bodyPr/>
          <a:lstStyle/>
          <a:p>
            <a:r>
              <a:rPr lang="en-GB" dirty="0" smtClean="0"/>
              <a:t>Call Flow - Out roamer</a:t>
            </a:r>
          </a:p>
        </p:txBody>
      </p:sp>
      <p:grpSp>
        <p:nvGrpSpPr>
          <p:cNvPr id="2" name="Group 105"/>
          <p:cNvGrpSpPr>
            <a:grpSpLocks/>
          </p:cNvGrpSpPr>
          <p:nvPr/>
        </p:nvGrpSpPr>
        <p:grpSpPr bwMode="auto">
          <a:xfrm>
            <a:off x="885825" y="1460500"/>
            <a:ext cx="496888" cy="1357313"/>
            <a:chOff x="885848" y="1460359"/>
            <a:chExt cx="496887" cy="1357335"/>
          </a:xfrm>
        </p:grpSpPr>
        <p:pic>
          <p:nvPicPr>
            <p:cNvPr id="8288" name="Picture 7"/>
            <p:cNvPicPr>
              <a:picLocks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967736" y="2093794"/>
              <a:ext cx="409575" cy="723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89" name="Rectangle 9"/>
            <p:cNvSpPr>
              <a:spLocks noChangeArrowheads="1"/>
            </p:cNvSpPr>
            <p:nvPr/>
          </p:nvSpPr>
          <p:spPr bwMode="auto">
            <a:xfrm>
              <a:off x="885848" y="1460359"/>
              <a:ext cx="496887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BSC</a:t>
              </a:r>
            </a:p>
          </p:txBody>
        </p:sp>
      </p:grpSp>
      <p:sp>
        <p:nvSpPr>
          <p:cNvPr id="15" name="Line 11"/>
          <p:cNvSpPr>
            <a:spLocks noChangeShapeType="1"/>
          </p:cNvSpPr>
          <p:nvPr/>
        </p:nvSpPr>
        <p:spPr bwMode="auto">
          <a:xfrm flipV="1">
            <a:off x="1349375" y="2216150"/>
            <a:ext cx="8382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109"/>
          <p:cNvGrpSpPr>
            <a:grpSpLocks/>
          </p:cNvGrpSpPr>
          <p:nvPr/>
        </p:nvGrpSpPr>
        <p:grpSpPr bwMode="auto">
          <a:xfrm>
            <a:off x="7613650" y="4775200"/>
            <a:ext cx="1352550" cy="1214438"/>
            <a:chOff x="5306714" y="2017594"/>
            <a:chExt cx="1353403" cy="1214312"/>
          </a:xfrm>
        </p:grpSpPr>
        <p:graphicFrame>
          <p:nvGraphicFramePr>
            <p:cNvPr id="8198" name="Object 3"/>
            <p:cNvGraphicFramePr>
              <a:graphicFrameLocks noChangeAspect="1"/>
            </p:cNvGraphicFramePr>
            <p:nvPr/>
          </p:nvGraphicFramePr>
          <p:xfrm>
            <a:off x="5661440" y="2017594"/>
            <a:ext cx="595312" cy="914400"/>
          </p:xfrm>
          <a:graphic>
            <a:graphicData uri="http://schemas.openxmlformats.org/presentationml/2006/ole">
              <p:oleObj spid="_x0000_s50182" name="Clip" r:id="rId6" imgW="3031560" imgH="4533480" progId="">
                <p:embed/>
              </p:oleObj>
            </a:graphicData>
          </a:graphic>
        </p:graphicFrame>
        <p:sp>
          <p:nvSpPr>
            <p:cNvPr id="8287" name="Rectangle 16"/>
            <p:cNvSpPr>
              <a:spLocks noChangeArrowheads="1"/>
            </p:cNvSpPr>
            <p:nvPr/>
          </p:nvSpPr>
          <p:spPr bwMode="auto">
            <a:xfrm>
              <a:off x="5306714" y="2924032"/>
              <a:ext cx="1353403" cy="3078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Gp</a:t>
              </a:r>
              <a:r>
                <a:rPr lang="en-US" sz="1400">
                  <a:latin typeface="Helvetica 45 Light" pitchFamily="34" charset="0"/>
                </a:rPr>
                <a:t> Firewall</a:t>
              </a:r>
            </a:p>
          </p:txBody>
        </p:sp>
      </p:grpSp>
      <p:sp>
        <p:nvSpPr>
          <p:cNvPr id="8211" name="Oval 18"/>
          <p:cNvSpPr>
            <a:spLocks noChangeArrowheads="1"/>
          </p:cNvSpPr>
          <p:nvPr/>
        </p:nvSpPr>
        <p:spPr bwMode="auto">
          <a:xfrm>
            <a:off x="587375" y="1408113"/>
            <a:ext cx="381000" cy="4572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12" name="Rectangle 19"/>
          <p:cNvSpPr>
            <a:spLocks noChangeArrowheads="1"/>
          </p:cNvSpPr>
          <p:nvPr/>
        </p:nvSpPr>
        <p:spPr bwMode="auto">
          <a:xfrm>
            <a:off x="587375" y="1331913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13" name="Oval 23"/>
          <p:cNvSpPr>
            <a:spLocks noChangeArrowheads="1"/>
          </p:cNvSpPr>
          <p:nvPr/>
        </p:nvSpPr>
        <p:spPr bwMode="auto">
          <a:xfrm>
            <a:off x="1806575" y="5065713"/>
            <a:ext cx="304800" cy="3810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 flipV="1">
            <a:off x="382588" y="2238375"/>
            <a:ext cx="558800" cy="1514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110"/>
          <p:cNvGrpSpPr>
            <a:grpSpLocks/>
          </p:cNvGrpSpPr>
          <p:nvPr/>
        </p:nvGrpSpPr>
        <p:grpSpPr bwMode="auto">
          <a:xfrm>
            <a:off x="3397250" y="4119563"/>
            <a:ext cx="1023938" cy="830262"/>
            <a:chOff x="5609235" y="4146695"/>
            <a:chExt cx="1023801" cy="830575"/>
          </a:xfrm>
        </p:grpSpPr>
        <p:sp>
          <p:nvSpPr>
            <p:cNvPr id="8285" name="AutoShape 37"/>
            <p:cNvSpPr>
              <a:spLocks noChangeArrowheads="1"/>
            </p:cNvSpPr>
            <p:nvPr/>
          </p:nvSpPr>
          <p:spPr bwMode="auto">
            <a:xfrm>
              <a:off x="5834432" y="4146695"/>
              <a:ext cx="457200" cy="381000"/>
            </a:xfrm>
            <a:prstGeom prst="can">
              <a:avLst>
                <a:gd name="adj" fmla="val 25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86" name="Rectangle 41"/>
            <p:cNvSpPr>
              <a:spLocks noChangeArrowheads="1"/>
            </p:cNvSpPr>
            <p:nvPr/>
          </p:nvSpPr>
          <p:spPr bwMode="auto">
            <a:xfrm>
              <a:off x="5609235" y="4515202"/>
              <a:ext cx="1023801" cy="4620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E DNS (Operator)</a:t>
              </a:r>
            </a:p>
          </p:txBody>
        </p:sp>
      </p:grpSp>
      <p:sp>
        <p:nvSpPr>
          <p:cNvPr id="47" name="Line 45"/>
          <p:cNvSpPr>
            <a:spLocks noChangeShapeType="1"/>
          </p:cNvSpPr>
          <p:nvPr/>
        </p:nvSpPr>
        <p:spPr bwMode="auto">
          <a:xfrm flipV="1">
            <a:off x="546100" y="2565400"/>
            <a:ext cx="436563" cy="1106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8217" name="Picture 5"/>
          <p:cNvPicPr>
            <a:picLocks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26988" y="3554413"/>
            <a:ext cx="914401" cy="1208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13"/>
          <p:cNvGrpSpPr>
            <a:grpSpLocks/>
          </p:cNvGrpSpPr>
          <p:nvPr/>
        </p:nvGrpSpPr>
        <p:grpSpPr bwMode="auto">
          <a:xfrm>
            <a:off x="1939925" y="4121150"/>
            <a:ext cx="981075" cy="815975"/>
            <a:chOff x="1940193" y="4121674"/>
            <a:chExt cx="979773" cy="816292"/>
          </a:xfrm>
        </p:grpSpPr>
        <p:sp>
          <p:nvSpPr>
            <p:cNvPr id="8283" name="AutoShape 37"/>
            <p:cNvSpPr>
              <a:spLocks noChangeArrowheads="1"/>
            </p:cNvSpPr>
            <p:nvPr/>
          </p:nvSpPr>
          <p:spPr bwMode="auto">
            <a:xfrm>
              <a:off x="2151744" y="4121674"/>
              <a:ext cx="457200" cy="381000"/>
            </a:xfrm>
            <a:prstGeom prst="can">
              <a:avLst>
                <a:gd name="adj" fmla="val 25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84" name="Rectangle 41"/>
            <p:cNvSpPr>
              <a:spLocks noChangeArrowheads="1"/>
            </p:cNvSpPr>
            <p:nvPr/>
          </p:nvSpPr>
          <p:spPr bwMode="auto">
            <a:xfrm>
              <a:off x="1940193" y="4476524"/>
              <a:ext cx="979773" cy="461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IE DNS (Operator)</a:t>
              </a:r>
            </a:p>
          </p:txBody>
        </p:sp>
      </p:grpSp>
      <p:sp>
        <p:nvSpPr>
          <p:cNvPr id="65" name="Line 52"/>
          <p:cNvSpPr>
            <a:spLocks noChangeShapeType="1"/>
          </p:cNvSpPr>
          <p:nvPr/>
        </p:nvSpPr>
        <p:spPr bwMode="auto">
          <a:xfrm flipV="1">
            <a:off x="2455863" y="3032125"/>
            <a:ext cx="30162" cy="1089025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69" name="Line 52"/>
          <p:cNvSpPr>
            <a:spLocks noChangeShapeType="1"/>
          </p:cNvSpPr>
          <p:nvPr/>
        </p:nvSpPr>
        <p:spPr bwMode="auto">
          <a:xfrm flipH="1">
            <a:off x="2593975" y="1282700"/>
            <a:ext cx="26988" cy="6969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" name="Line 52"/>
          <p:cNvSpPr>
            <a:spLocks noChangeShapeType="1"/>
          </p:cNvSpPr>
          <p:nvPr/>
        </p:nvSpPr>
        <p:spPr bwMode="auto">
          <a:xfrm flipV="1">
            <a:off x="2390775" y="1270000"/>
            <a:ext cx="11113" cy="6842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106"/>
          <p:cNvGrpSpPr>
            <a:grpSpLocks/>
          </p:cNvGrpSpPr>
          <p:nvPr/>
        </p:nvGrpSpPr>
        <p:grpSpPr bwMode="auto">
          <a:xfrm>
            <a:off x="2070100" y="1941513"/>
            <a:ext cx="817563" cy="1395412"/>
            <a:chOff x="2069792" y="1941394"/>
            <a:chExt cx="817231" cy="1395512"/>
          </a:xfrm>
        </p:grpSpPr>
        <p:graphicFrame>
          <p:nvGraphicFramePr>
            <p:cNvPr id="8197" name="Object 8"/>
            <p:cNvGraphicFramePr>
              <a:graphicFrameLocks noChangeAspect="1"/>
            </p:cNvGraphicFramePr>
            <p:nvPr/>
          </p:nvGraphicFramePr>
          <p:xfrm flipH="1">
            <a:off x="2110736" y="1941394"/>
            <a:ext cx="776287" cy="1143000"/>
          </p:xfrm>
          <a:graphic>
            <a:graphicData uri="http://schemas.openxmlformats.org/presentationml/2006/ole">
              <p:oleObj spid="_x0000_s50181" name="Clip" r:id="rId8" imgW="1634400" imgH="2286360" progId="">
                <p:embed/>
              </p:oleObj>
            </a:graphicData>
          </a:graphic>
        </p:graphicFrame>
        <p:sp>
          <p:nvSpPr>
            <p:cNvPr id="8282" name="Rectangle 8"/>
            <p:cNvSpPr>
              <a:spLocks noChangeArrowheads="1"/>
            </p:cNvSpPr>
            <p:nvPr/>
          </p:nvSpPr>
          <p:spPr bwMode="auto">
            <a:xfrm>
              <a:off x="2069792" y="3062269"/>
              <a:ext cx="615950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SGSN</a:t>
              </a:r>
            </a:p>
          </p:txBody>
        </p:sp>
      </p:grpSp>
      <p:sp>
        <p:nvSpPr>
          <p:cNvPr id="73" name="Line 52"/>
          <p:cNvSpPr>
            <a:spLocks noChangeShapeType="1"/>
          </p:cNvSpPr>
          <p:nvPr/>
        </p:nvSpPr>
        <p:spPr bwMode="auto">
          <a:xfrm flipH="1" flipV="1">
            <a:off x="1282700" y="2374900"/>
            <a:ext cx="846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" name="Line 35"/>
          <p:cNvSpPr>
            <a:spLocks noChangeShapeType="1"/>
          </p:cNvSpPr>
          <p:nvPr/>
        </p:nvSpPr>
        <p:spPr bwMode="auto">
          <a:xfrm flipV="1">
            <a:off x="600075" y="2757488"/>
            <a:ext cx="465138" cy="1050925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5" name="Line 35"/>
          <p:cNvSpPr>
            <a:spLocks noChangeShapeType="1"/>
          </p:cNvSpPr>
          <p:nvPr/>
        </p:nvSpPr>
        <p:spPr bwMode="auto">
          <a:xfrm flipV="1">
            <a:off x="1392238" y="2524125"/>
            <a:ext cx="819150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7" name="Rectangle 41"/>
          <p:cNvSpPr>
            <a:spLocks noChangeArrowheads="1"/>
          </p:cNvSpPr>
          <p:nvPr/>
        </p:nvSpPr>
        <p:spPr bwMode="auto">
          <a:xfrm rot="-4046709">
            <a:off x="464344" y="3437732"/>
            <a:ext cx="160655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www.gmail.com</a:t>
            </a:r>
          </a:p>
        </p:txBody>
      </p:sp>
      <p:sp>
        <p:nvSpPr>
          <p:cNvPr id="85" name="Line 45"/>
          <p:cNvSpPr>
            <a:spLocks noChangeShapeType="1"/>
          </p:cNvSpPr>
          <p:nvPr/>
        </p:nvSpPr>
        <p:spPr bwMode="auto">
          <a:xfrm flipV="1">
            <a:off x="698500" y="2770188"/>
            <a:ext cx="474663" cy="1135062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88" name="Line 44"/>
          <p:cNvSpPr>
            <a:spLocks noChangeShapeType="1"/>
          </p:cNvSpPr>
          <p:nvPr/>
        </p:nvSpPr>
        <p:spPr bwMode="auto">
          <a:xfrm>
            <a:off x="6032500" y="2879725"/>
            <a:ext cx="1588" cy="1285875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9" name="Line 44"/>
          <p:cNvSpPr>
            <a:spLocks noChangeShapeType="1"/>
          </p:cNvSpPr>
          <p:nvPr/>
        </p:nvSpPr>
        <p:spPr bwMode="auto">
          <a:xfrm flipH="1" flipV="1">
            <a:off x="6181725" y="2865438"/>
            <a:ext cx="0" cy="1255712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0" name="Line 44"/>
          <p:cNvSpPr>
            <a:spLocks noChangeShapeType="1"/>
          </p:cNvSpPr>
          <p:nvPr/>
        </p:nvSpPr>
        <p:spPr bwMode="auto">
          <a:xfrm>
            <a:off x="6391275" y="4672013"/>
            <a:ext cx="1633538" cy="377825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108"/>
          <p:cNvGrpSpPr>
            <a:grpSpLocks/>
          </p:cNvGrpSpPr>
          <p:nvPr/>
        </p:nvGrpSpPr>
        <p:grpSpPr bwMode="auto">
          <a:xfrm>
            <a:off x="5183188" y="527050"/>
            <a:ext cx="554037" cy="688975"/>
            <a:chOff x="2152859" y="621549"/>
            <a:chExt cx="553763" cy="689765"/>
          </a:xfrm>
        </p:grpSpPr>
        <p:sp>
          <p:nvSpPr>
            <p:cNvPr id="68" name="AutoShape 37"/>
            <p:cNvSpPr>
              <a:spLocks noChangeArrowheads="1"/>
            </p:cNvSpPr>
            <p:nvPr/>
          </p:nvSpPr>
          <p:spPr bwMode="auto">
            <a:xfrm>
              <a:off x="2249648" y="929877"/>
              <a:ext cx="456974" cy="381437"/>
            </a:xfrm>
            <a:prstGeom prst="can">
              <a:avLst>
                <a:gd name="adj" fmla="val 25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8281" name="Rectangle 10"/>
            <p:cNvSpPr>
              <a:spLocks noChangeArrowheads="1"/>
            </p:cNvSpPr>
            <p:nvPr/>
          </p:nvSpPr>
          <p:spPr bwMode="auto">
            <a:xfrm>
              <a:off x="2152859" y="621549"/>
              <a:ext cx="490598" cy="277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HLR</a:t>
              </a:r>
            </a:p>
          </p:txBody>
        </p:sp>
      </p:grpSp>
      <p:sp>
        <p:nvSpPr>
          <p:cNvPr id="115" name="Line 44"/>
          <p:cNvSpPr>
            <a:spLocks noChangeShapeType="1"/>
          </p:cNvSpPr>
          <p:nvPr/>
        </p:nvSpPr>
        <p:spPr bwMode="auto">
          <a:xfrm>
            <a:off x="2827338" y="2554288"/>
            <a:ext cx="860425" cy="14287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8233" name="Straight Arrow Connector 116"/>
          <p:cNvCxnSpPr>
            <a:cxnSpLocks noChangeShapeType="1"/>
          </p:cNvCxnSpPr>
          <p:nvPr/>
        </p:nvCxnSpPr>
        <p:spPr bwMode="auto">
          <a:xfrm>
            <a:off x="9512300" y="423863"/>
            <a:ext cx="914400" cy="914400"/>
          </a:xfrm>
          <a:prstGeom prst="straightConnector1">
            <a:avLst/>
          </a:prstGeom>
          <a:noFill/>
          <a:ln w="19050" algn="ctr">
            <a:noFill/>
            <a:round/>
            <a:headEnd/>
            <a:tailEnd type="arrow" w="med" len="med"/>
          </a:ln>
        </p:spPr>
      </p:cxnSp>
      <p:cxnSp>
        <p:nvCxnSpPr>
          <p:cNvPr id="8234" name="Curved Connector 124"/>
          <p:cNvCxnSpPr>
            <a:cxnSpLocks noChangeShapeType="1"/>
          </p:cNvCxnSpPr>
          <p:nvPr/>
        </p:nvCxnSpPr>
        <p:spPr bwMode="auto">
          <a:xfrm rot="16200000" flipH="1">
            <a:off x="7390607" y="3255169"/>
            <a:ext cx="1282700" cy="122237"/>
          </a:xfrm>
          <a:prstGeom prst="curvedConnector3">
            <a:avLst>
              <a:gd name="adj1" fmla="val 50000"/>
            </a:avLst>
          </a:prstGeom>
          <a:noFill/>
          <a:ln w="19050" algn="ctr">
            <a:noFill/>
            <a:round/>
            <a:headEnd/>
            <a:tailEnd/>
          </a:ln>
        </p:spPr>
      </p:cxnSp>
      <p:cxnSp>
        <p:nvCxnSpPr>
          <p:cNvPr id="8235" name="Straight Arrow Connector 128"/>
          <p:cNvCxnSpPr>
            <a:cxnSpLocks noChangeShapeType="1"/>
          </p:cNvCxnSpPr>
          <p:nvPr/>
        </p:nvCxnSpPr>
        <p:spPr bwMode="auto">
          <a:xfrm>
            <a:off x="4859338" y="2784475"/>
            <a:ext cx="914400" cy="914400"/>
          </a:xfrm>
          <a:prstGeom prst="straightConnector1">
            <a:avLst/>
          </a:prstGeom>
          <a:noFill/>
          <a:ln w="19050" algn="ctr">
            <a:noFill/>
            <a:round/>
            <a:headEnd/>
            <a:tailEnd type="arrow" w="med" len="med"/>
          </a:ln>
        </p:spPr>
      </p:cxnSp>
      <p:graphicFrame>
        <p:nvGraphicFramePr>
          <p:cNvPr id="8194" name="Object 6"/>
          <p:cNvGraphicFramePr>
            <a:graphicFrameLocks noChangeAspect="1"/>
          </p:cNvGraphicFramePr>
          <p:nvPr/>
        </p:nvGraphicFramePr>
        <p:xfrm flipH="1">
          <a:off x="2355850" y="863600"/>
          <a:ext cx="373063" cy="430213"/>
        </p:xfrm>
        <a:graphic>
          <a:graphicData uri="http://schemas.openxmlformats.org/presentationml/2006/ole">
            <p:oleObj spid="_x0000_s50178" name="Clip" r:id="rId9" imgW="1634400" imgH="2286360" progId="">
              <p:embed/>
            </p:oleObj>
          </a:graphicData>
        </a:graphic>
      </p:graphicFrame>
      <p:sp>
        <p:nvSpPr>
          <p:cNvPr id="8236" name="Rectangle 10"/>
          <p:cNvSpPr>
            <a:spLocks noChangeArrowheads="1"/>
          </p:cNvSpPr>
          <p:nvPr/>
        </p:nvSpPr>
        <p:spPr bwMode="auto">
          <a:xfrm>
            <a:off x="2222500" y="515938"/>
            <a:ext cx="9890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STP/GMSC</a:t>
            </a:r>
          </a:p>
        </p:txBody>
      </p:sp>
      <p:graphicFrame>
        <p:nvGraphicFramePr>
          <p:cNvPr id="8195" name="Object 7"/>
          <p:cNvGraphicFramePr>
            <a:graphicFrameLocks noChangeAspect="1"/>
          </p:cNvGraphicFramePr>
          <p:nvPr/>
        </p:nvGraphicFramePr>
        <p:xfrm flipH="1">
          <a:off x="3827463" y="833438"/>
          <a:ext cx="373062" cy="430212"/>
        </p:xfrm>
        <a:graphic>
          <a:graphicData uri="http://schemas.openxmlformats.org/presentationml/2006/ole">
            <p:oleObj spid="_x0000_s50179" name="Clip" r:id="rId10" imgW="1634400" imgH="2286360" progId="">
              <p:embed/>
            </p:oleObj>
          </a:graphicData>
        </a:graphic>
      </p:graphicFrame>
      <p:sp>
        <p:nvSpPr>
          <p:cNvPr id="8237" name="Rectangle 10"/>
          <p:cNvSpPr>
            <a:spLocks noChangeArrowheads="1"/>
          </p:cNvSpPr>
          <p:nvPr/>
        </p:nvSpPr>
        <p:spPr bwMode="auto">
          <a:xfrm>
            <a:off x="3603625" y="463550"/>
            <a:ext cx="99536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SRS Server</a:t>
            </a:r>
          </a:p>
        </p:txBody>
      </p:sp>
      <p:sp>
        <p:nvSpPr>
          <p:cNvPr id="81" name="Line 11"/>
          <p:cNvSpPr>
            <a:spLocks noChangeShapeType="1"/>
          </p:cNvSpPr>
          <p:nvPr/>
        </p:nvSpPr>
        <p:spPr bwMode="auto">
          <a:xfrm flipV="1">
            <a:off x="2730500" y="950913"/>
            <a:ext cx="1117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" name="Line 11"/>
          <p:cNvSpPr>
            <a:spLocks noChangeShapeType="1"/>
          </p:cNvSpPr>
          <p:nvPr/>
        </p:nvSpPr>
        <p:spPr bwMode="auto">
          <a:xfrm flipV="1">
            <a:off x="4178300" y="966788"/>
            <a:ext cx="11191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3" name="Line 52"/>
          <p:cNvSpPr>
            <a:spLocks noChangeShapeType="1"/>
          </p:cNvSpPr>
          <p:nvPr/>
        </p:nvSpPr>
        <p:spPr bwMode="auto">
          <a:xfrm flipH="1">
            <a:off x="4178300" y="1081088"/>
            <a:ext cx="1089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4" name="Line 52"/>
          <p:cNvSpPr>
            <a:spLocks noChangeShapeType="1"/>
          </p:cNvSpPr>
          <p:nvPr/>
        </p:nvSpPr>
        <p:spPr bwMode="auto">
          <a:xfrm flipH="1" flipV="1">
            <a:off x="2679700" y="1123950"/>
            <a:ext cx="1168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8242" name="Picture 152" descr="netflowroutr"/>
          <p:cNvPicPr preferRelativeResize="0">
            <a:picLocks noChangeAspect="1" noChangeArrowheads="1"/>
          </p:cNvPicPr>
          <p:nvPr/>
        </p:nvPicPr>
        <p:blipFill>
          <a:blip r:embed="rId11" cstate="print">
            <a:grayscl/>
          </a:blip>
          <a:srcRect/>
          <a:stretch>
            <a:fillRect/>
          </a:stretch>
        </p:blipFill>
        <p:spPr bwMode="auto">
          <a:xfrm>
            <a:off x="3667125" y="2362200"/>
            <a:ext cx="833438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149" name="Straight Arrow Connector 94"/>
          <p:cNvCxnSpPr>
            <a:cxnSpLocks noChangeShapeType="1"/>
          </p:cNvCxnSpPr>
          <p:nvPr/>
        </p:nvCxnSpPr>
        <p:spPr bwMode="auto">
          <a:xfrm>
            <a:off x="4462463" y="2579688"/>
            <a:ext cx="1338262" cy="1587"/>
          </a:xfrm>
          <a:prstGeom prst="straightConnector1">
            <a:avLst/>
          </a:prstGeom>
          <a:noFill/>
          <a:ln w="28575" algn="ctr">
            <a:solidFill>
              <a:srgbClr val="FFC000"/>
            </a:solidFill>
            <a:round/>
            <a:headEnd/>
            <a:tailEnd type="arrow" w="med" len="med"/>
          </a:ln>
        </p:spPr>
      </p:cxnSp>
      <p:pic>
        <p:nvPicPr>
          <p:cNvPr id="8244" name="Picture 152" descr="netflowroutr"/>
          <p:cNvPicPr preferRelativeResize="0">
            <a:picLocks noChangeAspect="1" noChangeArrowheads="1"/>
          </p:cNvPicPr>
          <p:nvPr/>
        </p:nvPicPr>
        <p:blipFill>
          <a:blip r:embed="rId11" cstate="print">
            <a:grayscl/>
          </a:blip>
          <a:srcRect/>
          <a:stretch>
            <a:fillRect/>
          </a:stretch>
        </p:blipFill>
        <p:spPr bwMode="auto">
          <a:xfrm>
            <a:off x="5689600" y="4124325"/>
            <a:ext cx="833438" cy="61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45" name="Rectangle 41"/>
          <p:cNvSpPr>
            <a:spLocks noChangeArrowheads="1"/>
          </p:cNvSpPr>
          <p:nvPr/>
        </p:nvSpPr>
        <p:spPr bwMode="auto">
          <a:xfrm>
            <a:off x="3644900" y="2974975"/>
            <a:ext cx="11318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Operator’s Router</a:t>
            </a:r>
          </a:p>
        </p:txBody>
      </p:sp>
      <p:sp>
        <p:nvSpPr>
          <p:cNvPr id="71" name="Line 12"/>
          <p:cNvSpPr>
            <a:spLocks noChangeShapeType="1"/>
          </p:cNvSpPr>
          <p:nvPr/>
        </p:nvSpPr>
        <p:spPr bwMode="auto">
          <a:xfrm>
            <a:off x="2587625" y="4251325"/>
            <a:ext cx="1069975" cy="635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2" name="Line 12"/>
          <p:cNvSpPr>
            <a:spLocks noChangeShapeType="1"/>
          </p:cNvSpPr>
          <p:nvPr/>
        </p:nvSpPr>
        <p:spPr bwMode="auto">
          <a:xfrm flipH="1" flipV="1">
            <a:off x="2557463" y="4357688"/>
            <a:ext cx="1046162" cy="9525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grpSp>
        <p:nvGrpSpPr>
          <p:cNvPr id="8" name="Group 110"/>
          <p:cNvGrpSpPr>
            <a:grpSpLocks/>
          </p:cNvGrpSpPr>
          <p:nvPr/>
        </p:nvGrpSpPr>
        <p:grpSpPr bwMode="auto">
          <a:xfrm>
            <a:off x="4273550" y="5376863"/>
            <a:ext cx="1295400" cy="844550"/>
            <a:chOff x="5431945" y="4146693"/>
            <a:chExt cx="1294254" cy="844222"/>
          </a:xfrm>
        </p:grpSpPr>
        <p:sp>
          <p:nvSpPr>
            <p:cNvPr id="8278" name="AutoShape 37"/>
            <p:cNvSpPr>
              <a:spLocks noChangeArrowheads="1"/>
            </p:cNvSpPr>
            <p:nvPr/>
          </p:nvSpPr>
          <p:spPr bwMode="auto">
            <a:xfrm>
              <a:off x="5834431" y="4146693"/>
              <a:ext cx="457200" cy="381000"/>
            </a:xfrm>
            <a:prstGeom prst="can">
              <a:avLst>
                <a:gd name="adj" fmla="val 25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79" name="Rectangle 41"/>
            <p:cNvSpPr>
              <a:spLocks noChangeArrowheads="1"/>
            </p:cNvSpPr>
            <p:nvPr/>
          </p:nvSpPr>
          <p:spPr bwMode="auto">
            <a:xfrm>
              <a:off x="5431945" y="4528848"/>
              <a:ext cx="1294254" cy="4620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Operator's forwarded DNS</a:t>
              </a:r>
            </a:p>
          </p:txBody>
        </p:sp>
      </p:grpSp>
      <p:grpSp>
        <p:nvGrpSpPr>
          <p:cNvPr id="9" name="Group 110"/>
          <p:cNvGrpSpPr>
            <a:grpSpLocks/>
          </p:cNvGrpSpPr>
          <p:nvPr/>
        </p:nvGrpSpPr>
        <p:grpSpPr bwMode="auto">
          <a:xfrm>
            <a:off x="6415088" y="5349875"/>
            <a:ext cx="1344612" cy="646113"/>
            <a:chOff x="5609237" y="4146695"/>
            <a:chExt cx="1343710" cy="645743"/>
          </a:xfrm>
        </p:grpSpPr>
        <p:sp>
          <p:nvSpPr>
            <p:cNvPr id="8276" name="AutoShape 37"/>
            <p:cNvSpPr>
              <a:spLocks noChangeArrowheads="1"/>
            </p:cNvSpPr>
            <p:nvPr/>
          </p:nvSpPr>
          <p:spPr bwMode="auto">
            <a:xfrm>
              <a:off x="5834432" y="4146695"/>
              <a:ext cx="457200" cy="381000"/>
            </a:xfrm>
            <a:prstGeom prst="can">
              <a:avLst>
                <a:gd name="adj" fmla="val 25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77" name="Rectangle 41"/>
            <p:cNvSpPr>
              <a:spLocks noChangeArrowheads="1"/>
            </p:cNvSpPr>
            <p:nvPr/>
          </p:nvSpPr>
          <p:spPr bwMode="auto">
            <a:xfrm>
              <a:off x="5609237" y="4515197"/>
              <a:ext cx="1343710" cy="277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Vodafone  EDNS</a:t>
              </a:r>
            </a:p>
          </p:txBody>
        </p:sp>
      </p:grpSp>
      <p:grpSp>
        <p:nvGrpSpPr>
          <p:cNvPr id="10" name="Group 106"/>
          <p:cNvGrpSpPr>
            <a:grpSpLocks/>
          </p:cNvGrpSpPr>
          <p:nvPr/>
        </p:nvGrpSpPr>
        <p:grpSpPr bwMode="auto">
          <a:xfrm>
            <a:off x="7954963" y="2830513"/>
            <a:ext cx="1366837" cy="1143000"/>
            <a:chOff x="2110736" y="1941394"/>
            <a:chExt cx="1366293" cy="1143000"/>
          </a:xfrm>
        </p:grpSpPr>
        <p:graphicFrame>
          <p:nvGraphicFramePr>
            <p:cNvPr id="8196" name="Object 68"/>
            <p:cNvGraphicFramePr>
              <a:graphicFrameLocks noChangeAspect="1"/>
            </p:cNvGraphicFramePr>
            <p:nvPr/>
          </p:nvGraphicFramePr>
          <p:xfrm flipH="1">
            <a:off x="2110736" y="1941394"/>
            <a:ext cx="776287" cy="1143000"/>
          </p:xfrm>
          <a:graphic>
            <a:graphicData uri="http://schemas.openxmlformats.org/presentationml/2006/ole">
              <p:oleObj spid="_x0000_s50180" name="Clip" r:id="rId12" imgW="1634400" imgH="2286360" progId="">
                <p:embed/>
              </p:oleObj>
            </a:graphicData>
          </a:graphic>
        </p:graphicFrame>
        <p:sp>
          <p:nvSpPr>
            <p:cNvPr id="8275" name="Rectangle 8"/>
            <p:cNvSpPr>
              <a:spLocks noChangeArrowheads="1"/>
            </p:cNvSpPr>
            <p:nvPr/>
          </p:nvSpPr>
          <p:spPr bwMode="auto">
            <a:xfrm>
              <a:off x="2506347" y="2448076"/>
              <a:ext cx="970682" cy="461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sz="1200">
                  <a:latin typeface="Helvetica 45 Light" pitchFamily="34" charset="0"/>
                </a:rPr>
                <a:t>Vodafone  GGSN</a:t>
              </a:r>
            </a:p>
          </p:txBody>
        </p:sp>
      </p:grpSp>
      <p:sp>
        <p:nvSpPr>
          <p:cNvPr id="96" name="Line 12"/>
          <p:cNvSpPr>
            <a:spLocks noChangeShapeType="1"/>
          </p:cNvSpPr>
          <p:nvPr/>
        </p:nvSpPr>
        <p:spPr bwMode="auto">
          <a:xfrm>
            <a:off x="3983038" y="4457700"/>
            <a:ext cx="725487" cy="962025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97" name="Line 12"/>
          <p:cNvSpPr>
            <a:spLocks noChangeShapeType="1"/>
          </p:cNvSpPr>
          <p:nvPr/>
        </p:nvSpPr>
        <p:spPr bwMode="auto">
          <a:xfrm flipH="1" flipV="1">
            <a:off x="4067175" y="4394200"/>
            <a:ext cx="804863" cy="969963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99" name="Line 12"/>
          <p:cNvSpPr>
            <a:spLocks noChangeShapeType="1"/>
          </p:cNvSpPr>
          <p:nvPr/>
        </p:nvSpPr>
        <p:spPr bwMode="auto">
          <a:xfrm>
            <a:off x="4094163" y="4187825"/>
            <a:ext cx="2593975" cy="1216025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00" name="Line 12"/>
          <p:cNvSpPr>
            <a:spLocks noChangeShapeType="1"/>
          </p:cNvSpPr>
          <p:nvPr/>
        </p:nvSpPr>
        <p:spPr bwMode="auto">
          <a:xfrm flipH="1" flipV="1">
            <a:off x="4040188" y="4284663"/>
            <a:ext cx="2624137" cy="1247775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pic>
        <p:nvPicPr>
          <p:cNvPr id="8255" name="Picture 152" descr="netflowroutr"/>
          <p:cNvPicPr preferRelativeResize="0">
            <a:picLocks noChangeAspect="1" noChangeArrowheads="1"/>
          </p:cNvPicPr>
          <p:nvPr/>
        </p:nvPicPr>
        <p:blipFill>
          <a:blip r:embed="rId11" cstate="print">
            <a:grayscl/>
          </a:blip>
          <a:srcRect/>
          <a:stretch>
            <a:fillRect/>
          </a:stretch>
        </p:blipFill>
        <p:spPr bwMode="auto">
          <a:xfrm>
            <a:off x="5842000" y="2365375"/>
            <a:ext cx="833438" cy="61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56" name="Rectangle 41"/>
          <p:cNvSpPr>
            <a:spLocks noChangeArrowheads="1"/>
          </p:cNvSpPr>
          <p:nvPr/>
        </p:nvSpPr>
        <p:spPr bwMode="auto">
          <a:xfrm>
            <a:off x="5583238" y="1871663"/>
            <a:ext cx="1295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 Belgacom / Aicent  Router</a:t>
            </a:r>
          </a:p>
        </p:txBody>
      </p:sp>
      <p:sp>
        <p:nvSpPr>
          <p:cNvPr id="105" name="Line 44"/>
          <p:cNvSpPr>
            <a:spLocks noChangeShapeType="1"/>
          </p:cNvSpPr>
          <p:nvPr/>
        </p:nvSpPr>
        <p:spPr bwMode="auto">
          <a:xfrm flipH="1" flipV="1">
            <a:off x="8339138" y="3930650"/>
            <a:ext cx="14287" cy="915988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58" name="Rectangle 41"/>
          <p:cNvSpPr>
            <a:spLocks noChangeArrowheads="1"/>
          </p:cNvSpPr>
          <p:nvPr/>
        </p:nvSpPr>
        <p:spPr bwMode="auto">
          <a:xfrm>
            <a:off x="5680075" y="4656138"/>
            <a:ext cx="10223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30000"/>
              </a:spcBef>
              <a:spcAft>
                <a:spcPct val="30000"/>
              </a:spcAft>
              <a:buClr>
                <a:srgbClr val="FF6800"/>
              </a:buClr>
              <a:buSzPct val="75000"/>
              <a:buFont typeface="Wingdings" pitchFamily="2" charset="2"/>
              <a:buNone/>
            </a:pPr>
            <a:r>
              <a:rPr lang="en-US" sz="1200">
                <a:latin typeface="Helvetica 45 Light" pitchFamily="34" charset="0"/>
              </a:rPr>
              <a:t>GRX Router</a:t>
            </a:r>
          </a:p>
        </p:txBody>
      </p:sp>
      <p:sp>
        <p:nvSpPr>
          <p:cNvPr id="108" name="Line 44"/>
          <p:cNvSpPr>
            <a:spLocks noChangeShapeType="1"/>
          </p:cNvSpPr>
          <p:nvPr/>
        </p:nvSpPr>
        <p:spPr bwMode="auto">
          <a:xfrm>
            <a:off x="8191500" y="3987800"/>
            <a:ext cx="0" cy="884238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Line 44"/>
          <p:cNvSpPr>
            <a:spLocks noChangeShapeType="1"/>
          </p:cNvSpPr>
          <p:nvPr/>
        </p:nvSpPr>
        <p:spPr bwMode="auto">
          <a:xfrm flipH="1" flipV="1">
            <a:off x="6469063" y="4545013"/>
            <a:ext cx="1597025" cy="382587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Line 44"/>
          <p:cNvSpPr>
            <a:spLocks noChangeShapeType="1"/>
          </p:cNvSpPr>
          <p:nvPr/>
        </p:nvSpPr>
        <p:spPr bwMode="auto">
          <a:xfrm flipH="1" flipV="1">
            <a:off x="4437063" y="2676525"/>
            <a:ext cx="1404937" cy="22225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Line 44"/>
          <p:cNvSpPr>
            <a:spLocks noChangeShapeType="1"/>
          </p:cNvSpPr>
          <p:nvPr/>
        </p:nvSpPr>
        <p:spPr bwMode="auto">
          <a:xfrm flipH="1" flipV="1">
            <a:off x="2801938" y="2638425"/>
            <a:ext cx="882650" cy="12700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Line 45"/>
          <p:cNvSpPr>
            <a:spLocks noChangeShapeType="1"/>
          </p:cNvSpPr>
          <p:nvPr/>
        </p:nvSpPr>
        <p:spPr bwMode="auto">
          <a:xfrm>
            <a:off x="1323975" y="2633663"/>
            <a:ext cx="887413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13" name="Line 35"/>
          <p:cNvSpPr>
            <a:spLocks noChangeShapeType="1"/>
          </p:cNvSpPr>
          <p:nvPr/>
        </p:nvSpPr>
        <p:spPr bwMode="auto">
          <a:xfrm flipV="1">
            <a:off x="792163" y="2811463"/>
            <a:ext cx="504825" cy="1173162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Line 35"/>
          <p:cNvSpPr>
            <a:spLocks noChangeShapeType="1"/>
          </p:cNvSpPr>
          <p:nvPr/>
        </p:nvSpPr>
        <p:spPr bwMode="auto">
          <a:xfrm flipV="1">
            <a:off x="1366838" y="2759075"/>
            <a:ext cx="819150" cy="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Line 35"/>
          <p:cNvSpPr>
            <a:spLocks noChangeShapeType="1"/>
          </p:cNvSpPr>
          <p:nvPr/>
        </p:nvSpPr>
        <p:spPr bwMode="auto">
          <a:xfrm flipV="1">
            <a:off x="2816225" y="2760663"/>
            <a:ext cx="882650" cy="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Line 35"/>
          <p:cNvSpPr>
            <a:spLocks noChangeShapeType="1"/>
          </p:cNvSpPr>
          <p:nvPr/>
        </p:nvSpPr>
        <p:spPr bwMode="auto">
          <a:xfrm flipV="1">
            <a:off x="4429125" y="2790825"/>
            <a:ext cx="1412875" cy="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Line 35"/>
          <p:cNvSpPr>
            <a:spLocks noChangeShapeType="1"/>
          </p:cNvSpPr>
          <p:nvPr/>
        </p:nvSpPr>
        <p:spPr bwMode="auto">
          <a:xfrm flipH="1">
            <a:off x="6291263" y="2865438"/>
            <a:ext cx="14287" cy="1311275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Line 35"/>
          <p:cNvSpPr>
            <a:spLocks noChangeShapeType="1"/>
          </p:cNvSpPr>
          <p:nvPr/>
        </p:nvSpPr>
        <p:spPr bwMode="auto">
          <a:xfrm>
            <a:off x="6510338" y="4421188"/>
            <a:ext cx="1568450" cy="369887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Line 35"/>
          <p:cNvSpPr>
            <a:spLocks noChangeShapeType="1"/>
          </p:cNvSpPr>
          <p:nvPr/>
        </p:nvSpPr>
        <p:spPr bwMode="auto">
          <a:xfrm flipV="1">
            <a:off x="8059738" y="3903663"/>
            <a:ext cx="19050" cy="83820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1"/>
          <p:cNvGrpSpPr>
            <a:grpSpLocks/>
          </p:cNvGrpSpPr>
          <p:nvPr/>
        </p:nvGrpSpPr>
        <p:grpSpPr bwMode="auto">
          <a:xfrm>
            <a:off x="7634288" y="1066800"/>
            <a:ext cx="1509712" cy="1254125"/>
            <a:chOff x="7633648" y="1966418"/>
            <a:chExt cx="1510352" cy="1254457"/>
          </a:xfrm>
        </p:grpSpPr>
        <p:pic>
          <p:nvPicPr>
            <p:cNvPr id="8273" name="Picture 48"/>
            <p:cNvPicPr>
              <a:picLocks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7633648" y="1966418"/>
              <a:ext cx="1510352" cy="1254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74" name="Text Box 49"/>
            <p:cNvSpPr txBox="1">
              <a:spLocks noChangeArrowheads="1"/>
            </p:cNvSpPr>
            <p:nvPr/>
          </p:nvSpPr>
          <p:spPr bwMode="auto">
            <a:xfrm>
              <a:off x="7846913" y="2322394"/>
              <a:ext cx="1297087" cy="584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30000"/>
                </a:spcBef>
                <a:spcAft>
                  <a:spcPct val="30000"/>
                </a:spcAft>
                <a:buClr>
                  <a:srgbClr val="FF6800"/>
                </a:buClr>
                <a:buSzPct val="75000"/>
                <a:buFont typeface="Wingdings" pitchFamily="2" charset="2"/>
                <a:buNone/>
              </a:pPr>
              <a:r>
                <a:rPr lang="en-US" b="1">
                  <a:latin typeface="Helvetica 45 Light" pitchFamily="34" charset="0"/>
                </a:rPr>
                <a:t>Internet (Vodafone)</a:t>
              </a:r>
            </a:p>
          </p:txBody>
        </p:sp>
      </p:grpSp>
      <p:sp>
        <p:nvSpPr>
          <p:cNvPr id="124" name="Line 35"/>
          <p:cNvSpPr>
            <a:spLocks noChangeShapeType="1"/>
          </p:cNvSpPr>
          <p:nvPr/>
        </p:nvSpPr>
        <p:spPr bwMode="auto">
          <a:xfrm flipV="1">
            <a:off x="8361363" y="2238375"/>
            <a:ext cx="0" cy="608013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2" dur="10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2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2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7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2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2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2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7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8" grpId="0" animBg="1"/>
      <p:bldP spid="47" grpId="0" animBg="1"/>
      <p:bldP spid="69" grpId="0" animBg="1"/>
      <p:bldP spid="70" grpId="0" animBg="1"/>
      <p:bldP spid="73" grpId="0" animBg="1"/>
      <p:bldP spid="77" grpId="0"/>
      <p:bldP spid="88" grpId="0" animBg="1"/>
      <p:bldP spid="89" grpId="0" animBg="1"/>
      <p:bldP spid="90" grpId="0" animBg="1"/>
      <p:bldP spid="115" grpId="0" animBg="1"/>
      <p:bldP spid="81" grpId="0" animBg="1"/>
      <p:bldP spid="82" grpId="0" animBg="1"/>
      <p:bldP spid="83" grpId="0" animBg="1"/>
      <p:bldP spid="84" grpId="0" animBg="1"/>
      <p:bldP spid="105" grpId="0" animBg="1"/>
      <p:bldP spid="108" grpId="0" animBg="1"/>
      <p:bldP spid="109" grpId="0" animBg="1"/>
      <p:bldP spid="110" grpId="0" animBg="1"/>
      <p:bldP spid="111" grpId="0" animBg="1"/>
      <p:bldP spid="113" grpId="0" animBg="1"/>
      <p:bldP spid="114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2DC6705-F763-4008-A285-8A30B157987D}" type="slidenum">
              <a:rPr lang="en-GB" smtClean="0"/>
              <a:pPr/>
              <a:t>13</a:t>
            </a:fld>
            <a:endParaRPr lang="en-GB" smtClean="0"/>
          </a:p>
        </p:txBody>
      </p:sp>
      <p:sp>
        <p:nvSpPr>
          <p:cNvPr id="22531" name="Rectangle 50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Presentation title in footer</a:t>
            </a:r>
          </a:p>
        </p:txBody>
      </p:sp>
      <p:sp>
        <p:nvSpPr>
          <p:cNvPr id="22532" name="Rectangle 52"/>
          <p:cNvSpPr>
            <a:spLocks noGrp="1" noChangeArrowheads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67B0CCB4-7C45-4BF9-8D35-E8D1646F1B37}" type="datetime4">
              <a:rPr lang="en-GB" smtClean="0"/>
              <a:pPr/>
              <a:t>18 June 2013</a:t>
            </a:fld>
            <a:endParaRPr lang="en-GB" smtClean="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185863" y="2184400"/>
            <a:ext cx="6542087" cy="1524000"/>
          </a:xfrm>
        </p:spPr>
        <p:txBody>
          <a:bodyPr/>
          <a:lstStyle/>
          <a:p>
            <a:pPr algn="ctr"/>
            <a:r>
              <a:rPr lang="en-GB" sz="4000" smtClean="0"/>
              <a:t>Charging  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odafone">
  <a:themeElements>
    <a:clrScheme name="Vodafone 5">
      <a:dk1>
        <a:srgbClr val="000000"/>
      </a:dk1>
      <a:lt1>
        <a:srgbClr val="FFFFFF"/>
      </a:lt1>
      <a:dk2>
        <a:srgbClr val="E60000"/>
      </a:dk2>
      <a:lt2>
        <a:srgbClr val="908A84"/>
      </a:lt2>
      <a:accent1>
        <a:srgbClr val="AE3039"/>
      </a:accent1>
      <a:accent2>
        <a:srgbClr val="792428"/>
      </a:accent2>
      <a:accent3>
        <a:srgbClr val="FFFFFF"/>
      </a:accent3>
      <a:accent4>
        <a:srgbClr val="000000"/>
      </a:accent4>
      <a:accent5>
        <a:srgbClr val="D3ADAE"/>
      </a:accent5>
      <a:accent6>
        <a:srgbClr val="6D2023"/>
      </a:accent6>
      <a:hlink>
        <a:srgbClr val="D8CFCB"/>
      </a:hlink>
      <a:folHlink>
        <a:srgbClr val="008080"/>
      </a:folHlink>
    </a:clrScheme>
    <a:fontScheme name="Vodafon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Vodafone 1">
        <a:dk1>
          <a:srgbClr val="000000"/>
        </a:dk1>
        <a:lt1>
          <a:srgbClr val="FFFFFF"/>
        </a:lt1>
        <a:dk2>
          <a:srgbClr val="FF0000"/>
        </a:dk2>
        <a:lt2>
          <a:srgbClr val="999999"/>
        </a:lt2>
        <a:accent1>
          <a:srgbClr val="813790"/>
        </a:accent1>
        <a:accent2>
          <a:srgbClr val="CDAFD3"/>
        </a:accent2>
        <a:accent3>
          <a:srgbClr val="FFFFFF"/>
        </a:accent3>
        <a:accent4>
          <a:srgbClr val="000000"/>
        </a:accent4>
        <a:accent5>
          <a:srgbClr val="C1AEC6"/>
        </a:accent5>
        <a:accent6>
          <a:srgbClr val="BA9EBF"/>
        </a:accent6>
        <a:hlink>
          <a:srgbClr val="0099DA"/>
        </a:hlink>
        <a:folHlink>
          <a:srgbClr val="99D6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dafone 2">
        <a:dk1>
          <a:srgbClr val="000000"/>
        </a:dk1>
        <a:lt1>
          <a:srgbClr val="FFFFFF"/>
        </a:lt1>
        <a:dk2>
          <a:srgbClr val="EE3224"/>
        </a:dk2>
        <a:lt2>
          <a:srgbClr val="939BA1"/>
        </a:lt2>
        <a:accent1>
          <a:srgbClr val="B5121B"/>
        </a:accent1>
        <a:accent2>
          <a:srgbClr val="5B1400"/>
        </a:accent2>
        <a:accent3>
          <a:srgbClr val="FFFFFF"/>
        </a:accent3>
        <a:accent4>
          <a:srgbClr val="000000"/>
        </a:accent4>
        <a:accent5>
          <a:srgbClr val="D7AAAB"/>
        </a:accent5>
        <a:accent6>
          <a:srgbClr val="521100"/>
        </a:accent6>
        <a:hlink>
          <a:srgbClr val="DCDDDE"/>
        </a:hlink>
        <a:folHlink>
          <a:srgbClr val="99D6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dafone 3">
        <a:dk1>
          <a:srgbClr val="000000"/>
        </a:dk1>
        <a:lt1>
          <a:srgbClr val="FFFFFF"/>
        </a:lt1>
        <a:dk2>
          <a:srgbClr val="E60000"/>
        </a:dk2>
        <a:lt2>
          <a:srgbClr val="939BA1"/>
        </a:lt2>
        <a:accent1>
          <a:srgbClr val="B5121B"/>
        </a:accent1>
        <a:accent2>
          <a:srgbClr val="5B1400"/>
        </a:accent2>
        <a:accent3>
          <a:srgbClr val="FFFFFF"/>
        </a:accent3>
        <a:accent4>
          <a:srgbClr val="000000"/>
        </a:accent4>
        <a:accent5>
          <a:srgbClr val="D7AAAB"/>
        </a:accent5>
        <a:accent6>
          <a:srgbClr val="521100"/>
        </a:accent6>
        <a:hlink>
          <a:srgbClr val="DCDDDE"/>
        </a:hlink>
        <a:folHlink>
          <a:srgbClr val="99D6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dafone 4">
        <a:dk1>
          <a:srgbClr val="000000"/>
        </a:dk1>
        <a:lt1>
          <a:srgbClr val="FFFFFF"/>
        </a:lt1>
        <a:dk2>
          <a:srgbClr val="E60000"/>
        </a:dk2>
        <a:lt2>
          <a:srgbClr val="908A84"/>
        </a:lt2>
        <a:accent1>
          <a:srgbClr val="AE3039"/>
        </a:accent1>
        <a:accent2>
          <a:srgbClr val="5B1400"/>
        </a:accent2>
        <a:accent3>
          <a:srgbClr val="FFFFFF"/>
        </a:accent3>
        <a:accent4>
          <a:srgbClr val="000000"/>
        </a:accent4>
        <a:accent5>
          <a:srgbClr val="D3ADAE"/>
        </a:accent5>
        <a:accent6>
          <a:srgbClr val="521100"/>
        </a:accent6>
        <a:hlink>
          <a:srgbClr val="D8CFCB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dafone 5">
        <a:dk1>
          <a:srgbClr val="000000"/>
        </a:dk1>
        <a:lt1>
          <a:srgbClr val="FFFFFF"/>
        </a:lt1>
        <a:dk2>
          <a:srgbClr val="E60000"/>
        </a:dk2>
        <a:lt2>
          <a:srgbClr val="908A84"/>
        </a:lt2>
        <a:accent1>
          <a:srgbClr val="AE3039"/>
        </a:accent1>
        <a:accent2>
          <a:srgbClr val="792428"/>
        </a:accent2>
        <a:accent3>
          <a:srgbClr val="FFFFFF"/>
        </a:accent3>
        <a:accent4>
          <a:srgbClr val="000000"/>
        </a:accent4>
        <a:accent5>
          <a:srgbClr val="D3ADAE"/>
        </a:accent5>
        <a:accent6>
          <a:srgbClr val="6D2023"/>
        </a:accent6>
        <a:hlink>
          <a:srgbClr val="D8CFCB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2C2C59A5F2D04FA16788398ADFED9F" ma:contentTypeVersion="0" ma:contentTypeDescription="Create a new document." ma:contentTypeScope="" ma:versionID="6718bcf87f6599fdd01750dc5c3c224b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0D0657-88E4-4F49-9B8B-9C84841AFA86}">
  <ds:schemaRefs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C5314BC-452E-4FEB-B454-4352B86E55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CAFB8E98-3B69-4534-8A18-2B0F6552FE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10929</TotalTime>
  <Words>706</Words>
  <Application>Microsoft Office PowerPoint</Application>
  <PresentationFormat>On-screen Show (4:3)</PresentationFormat>
  <Paragraphs>302</Paragraphs>
  <Slides>13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Vodafone</vt:lpstr>
      <vt:lpstr>Clip</vt:lpstr>
      <vt:lpstr>Call Flow</vt:lpstr>
      <vt:lpstr>Slide 2</vt:lpstr>
      <vt:lpstr>Basic Call Flow</vt:lpstr>
      <vt:lpstr>Slide 4</vt:lpstr>
      <vt:lpstr>Slide 5</vt:lpstr>
      <vt:lpstr>Slide 6</vt:lpstr>
      <vt:lpstr>Slide 7</vt:lpstr>
      <vt:lpstr>Slide 8</vt:lpstr>
      <vt:lpstr>Slide 9</vt:lpstr>
      <vt:lpstr>Roaming Senario</vt:lpstr>
      <vt:lpstr>Call Flow - In roamer</vt:lpstr>
      <vt:lpstr>Call Flow - Out roamer</vt:lpstr>
      <vt:lpstr>Charging  Flow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Vodafone PowerPoint template</dc:title>
  <dc:creator>Benoy Chacko</dc:creator>
  <cp:lastModifiedBy>lakshmv</cp:lastModifiedBy>
  <cp:revision>1585</cp:revision>
  <cp:lastPrinted>2009-08-26T13:22:10Z</cp:lastPrinted>
  <dcterms:created xsi:type="dcterms:W3CDTF">2005-07-18T10:34:30Z</dcterms:created>
  <dcterms:modified xsi:type="dcterms:W3CDTF">2013-06-18T08:56:14Z</dcterms:modified>
</cp:coreProperties>
</file>