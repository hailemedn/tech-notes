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263" r:id="rId3"/>
    <p:sldId id="264" r:id="rId4"/>
    <p:sldId id="265" r:id="rId5"/>
    <p:sldId id="266" r:id="rId6"/>
    <p:sldId id="270" r:id="rId7"/>
    <p:sldId id="271" r:id="rId8"/>
    <p:sldId id="269" r:id="rId9"/>
    <p:sldId id="284" r:id="rId10"/>
    <p:sldId id="273" r:id="rId11"/>
    <p:sldId id="27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5" r:id="rId23"/>
    <p:sldId id="286" r:id="rId24"/>
    <p:sldId id="287" r:id="rId25"/>
    <p:sldId id="288" r:id="rId26"/>
    <p:sldId id="300" r:id="rId27"/>
    <p:sldId id="297" r:id="rId28"/>
    <p:sldId id="298" r:id="rId29"/>
    <p:sldId id="301" r:id="rId30"/>
    <p:sldId id="290" r:id="rId31"/>
    <p:sldId id="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68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14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86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10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83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9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67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40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00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39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D045F-64CD-4B7E-9648-6299A7985957}" type="datetimeFigureOut">
              <a:rPr lang="en-IN" smtClean="0"/>
              <a:t>20-03-2017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8E22A-3F0A-49A6-9886-47DDC73F4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81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79" y="25119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</a:rPr>
              <a:t>IMS Call Flows</a:t>
            </a:r>
            <a:endParaRPr lang="en-IN" sz="7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31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66712" cy="657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707"/>
            <a:ext cx="12041945" cy="681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06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70088"/>
            <a:ext cx="12069897" cy="692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6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4" y="35716"/>
            <a:ext cx="12058180" cy="682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6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690"/>
            <a:ext cx="12167758" cy="687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06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302" y="0"/>
            <a:ext cx="12229301" cy="675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9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23"/>
            <a:ext cx="11809735" cy="4804902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110988" y="5981700"/>
            <a:ext cx="7677150" cy="4721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solidFill>
                  <a:srgbClr val="00B0F0"/>
                </a:solidFill>
                <a:latin typeface="Nokia Pure Text" pitchFamily="34" charset="0"/>
                <a:ea typeface="Nokia Pure Text" pitchFamily="34" charset="0"/>
                <a:cs typeface="Nokia Pure Text" pitchFamily="34" charset="0"/>
              </a:rPr>
              <a:t>PUR:Profile</a:t>
            </a:r>
            <a:r>
              <a:rPr lang="en-US" sz="1200" dirty="0">
                <a:solidFill>
                  <a:srgbClr val="00B0F0"/>
                </a:solidFill>
                <a:latin typeface="Nokia Pure Text" pitchFamily="34" charset="0"/>
                <a:ea typeface="Nokia Pure Text" pitchFamily="34" charset="0"/>
                <a:cs typeface="Nokia Pure Text" pitchFamily="34" charset="0"/>
              </a:rPr>
              <a:t> update request	</a:t>
            </a:r>
            <a:r>
              <a:rPr lang="en-US" sz="1200" dirty="0" err="1">
                <a:solidFill>
                  <a:srgbClr val="00B0F0"/>
                </a:solidFill>
                <a:latin typeface="Nokia Pure Text" pitchFamily="34" charset="0"/>
                <a:ea typeface="Nokia Pure Text" pitchFamily="34" charset="0"/>
                <a:cs typeface="Nokia Pure Text" pitchFamily="34" charset="0"/>
              </a:rPr>
              <a:t>IDR:Insert</a:t>
            </a:r>
            <a:r>
              <a:rPr lang="en-US" sz="1200" dirty="0">
                <a:solidFill>
                  <a:srgbClr val="00B0F0"/>
                </a:solidFill>
                <a:latin typeface="Nokia Pure Text" pitchFamily="34" charset="0"/>
                <a:ea typeface="Nokia Pure Text" pitchFamily="34" charset="0"/>
                <a:cs typeface="Nokia Pure Text" pitchFamily="34" charset="0"/>
              </a:rPr>
              <a:t> Subscription Data Request</a:t>
            </a:r>
          </a:p>
          <a:p>
            <a:r>
              <a:rPr lang="en-US" sz="1200" dirty="0" err="1">
                <a:solidFill>
                  <a:srgbClr val="00B0F0"/>
                </a:solidFill>
                <a:latin typeface="Nokia Pure Text" pitchFamily="34" charset="0"/>
                <a:ea typeface="Nokia Pure Text" pitchFamily="34" charset="0"/>
                <a:cs typeface="Nokia Pure Text" pitchFamily="34" charset="0"/>
              </a:rPr>
              <a:t>PUA:Profile</a:t>
            </a:r>
            <a:r>
              <a:rPr lang="en-US" sz="1200" dirty="0">
                <a:solidFill>
                  <a:srgbClr val="00B0F0"/>
                </a:solidFill>
                <a:latin typeface="Nokia Pure Text" pitchFamily="34" charset="0"/>
                <a:ea typeface="Nokia Pure Text" pitchFamily="34" charset="0"/>
                <a:cs typeface="Nokia Pure Text" pitchFamily="34" charset="0"/>
              </a:rPr>
              <a:t> update request	IDA: Insert </a:t>
            </a:r>
            <a:r>
              <a:rPr lang="en-US" sz="1200" dirty="0" err="1">
                <a:solidFill>
                  <a:srgbClr val="00B0F0"/>
                </a:solidFill>
                <a:latin typeface="Nokia Pure Text" pitchFamily="34" charset="0"/>
                <a:ea typeface="Nokia Pure Text" pitchFamily="34" charset="0"/>
                <a:cs typeface="Nokia Pure Text" pitchFamily="34" charset="0"/>
              </a:rPr>
              <a:t>Subsription</a:t>
            </a:r>
            <a:r>
              <a:rPr lang="en-US" sz="1200" dirty="0">
                <a:solidFill>
                  <a:srgbClr val="00B0F0"/>
                </a:solidFill>
                <a:latin typeface="Nokia Pure Text" pitchFamily="34" charset="0"/>
                <a:ea typeface="Nokia Pure Text" pitchFamily="34" charset="0"/>
                <a:cs typeface="Nokia Pure Text" pitchFamily="34" charset="0"/>
              </a:rPr>
              <a:t> Data Answer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accent4"/>
              </a:solidFill>
              <a:latin typeface="Nokia Pure Text" pitchFamily="34" charset="0"/>
              <a:ea typeface="Nokia Pure Text" pitchFamily="34" charset="0"/>
              <a:cs typeface="Nokia Pure Text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4"/>
              </a:solidFill>
              <a:latin typeface="Nokia Pure Text" pitchFamily="34" charset="0"/>
              <a:ea typeface="Nokia Pure Text" pitchFamily="34" charset="0"/>
              <a:cs typeface="Nokia Pure Tex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23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49402" y="3257586"/>
            <a:ext cx="64417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4400" b="1" dirty="0" err="1">
                <a:solidFill>
                  <a:srgbClr val="0070C0"/>
                </a:solidFill>
              </a:rPr>
              <a:t>VoLTE</a:t>
            </a:r>
            <a:r>
              <a:rPr lang="it-IT" sz="4400" b="1" dirty="0">
                <a:solidFill>
                  <a:srgbClr val="0070C0"/>
                </a:solidFill>
              </a:rPr>
              <a:t> UE  to </a:t>
            </a:r>
            <a:r>
              <a:rPr lang="it-IT" sz="4400" b="1" dirty="0" err="1">
                <a:solidFill>
                  <a:srgbClr val="0070C0"/>
                </a:solidFill>
              </a:rPr>
              <a:t>VoLTE</a:t>
            </a:r>
            <a:r>
              <a:rPr lang="it-IT" sz="4400" b="1" dirty="0">
                <a:solidFill>
                  <a:srgbClr val="0070C0"/>
                </a:solidFill>
              </a:rPr>
              <a:t> UE Call </a:t>
            </a:r>
          </a:p>
        </p:txBody>
      </p:sp>
    </p:spTree>
    <p:extLst>
      <p:ext uri="{BB962C8B-B14F-4D97-AF65-F5344CB8AC3E}">
        <p14:creationId xmlns:p14="http://schemas.microsoft.com/office/powerpoint/2010/main" val="356651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2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66"/>
            <a:ext cx="11995629" cy="613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6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3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69"/>
            <a:ext cx="11883484" cy="609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17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" y="108062"/>
            <a:ext cx="12006469" cy="664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29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" y="0"/>
            <a:ext cx="12191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33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72"/>
            <a:ext cx="12006469" cy="662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54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8" y="119270"/>
            <a:ext cx="11999962" cy="659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2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425"/>
            <a:ext cx="11993217" cy="675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56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75858" y="3244334"/>
            <a:ext cx="6324168" cy="769441"/>
          </a:xfrm>
          <a:prstGeom prst="rect">
            <a:avLst/>
          </a:prstGeom>
        </p:spPr>
        <p:txBody>
          <a:bodyPr wrap="none" anchor="t">
            <a:spAutoFit/>
          </a:bodyPr>
          <a:lstStyle/>
          <a:p>
            <a:pPr algn="r"/>
            <a:r>
              <a:rPr lang="en-US" sz="4400" b="1" dirty="0" err="1">
                <a:solidFill>
                  <a:srgbClr val="0070C0"/>
                </a:solidFill>
              </a:rPr>
              <a:t>VoLTE</a:t>
            </a:r>
            <a:r>
              <a:rPr lang="en-US" sz="4400" b="1" dirty="0">
                <a:solidFill>
                  <a:srgbClr val="0070C0"/>
                </a:solidFill>
              </a:rPr>
              <a:t> UE  to CS/PSTN Call </a:t>
            </a:r>
          </a:p>
        </p:txBody>
      </p:sp>
    </p:spTree>
    <p:extLst>
      <p:ext uri="{BB962C8B-B14F-4D97-AF65-F5344CB8AC3E}">
        <p14:creationId xmlns:p14="http://schemas.microsoft.com/office/powerpoint/2010/main" val="159207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2202" cy="653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90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1" y="0"/>
            <a:ext cx="11822420" cy="649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65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73130" cy="657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4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48" y="119268"/>
            <a:ext cx="11935783" cy="64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82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98517" y="2952786"/>
            <a:ext cx="863569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4400" b="1" dirty="0">
                <a:solidFill>
                  <a:srgbClr val="0070C0"/>
                </a:solidFill>
                <a:latin typeface="Nokia Pure Text Light" pitchFamily="34" charset="0"/>
                <a:ea typeface="Nokia Pure Text Light" pitchFamily="34" charset="0"/>
                <a:cs typeface="Nokia Pure Text Light" pitchFamily="34" charset="0"/>
              </a:rPr>
              <a:t>Basic CS/PSTN to </a:t>
            </a:r>
            <a:r>
              <a:rPr lang="en-US" sz="4400" b="1" dirty="0" err="1">
                <a:solidFill>
                  <a:srgbClr val="0070C0"/>
                </a:solidFill>
                <a:latin typeface="Nokia Pure Text Light" pitchFamily="34" charset="0"/>
                <a:ea typeface="Nokia Pure Text Light" pitchFamily="34" charset="0"/>
                <a:cs typeface="Nokia Pure Text Light" pitchFamily="34" charset="0"/>
              </a:rPr>
              <a:t>VoLTE</a:t>
            </a:r>
            <a:r>
              <a:rPr lang="en-US" sz="4400" b="1" dirty="0">
                <a:solidFill>
                  <a:srgbClr val="0070C0"/>
                </a:solidFill>
                <a:latin typeface="Nokia Pure Text Light" pitchFamily="34" charset="0"/>
                <a:ea typeface="Nokia Pure Text Light" pitchFamily="34" charset="0"/>
                <a:cs typeface="Nokia Pure Text Light" pitchFamily="34" charset="0"/>
              </a:rPr>
              <a:t> UE Call</a:t>
            </a:r>
          </a:p>
        </p:txBody>
      </p:sp>
    </p:spTree>
    <p:extLst>
      <p:ext uri="{BB962C8B-B14F-4D97-AF65-F5344CB8AC3E}">
        <p14:creationId xmlns:p14="http://schemas.microsoft.com/office/powerpoint/2010/main" val="2585065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8" y="108849"/>
            <a:ext cx="11714922" cy="656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85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3" y="173777"/>
            <a:ext cx="11343861" cy="633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8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" y="170568"/>
            <a:ext cx="11728174" cy="643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45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435" y="264449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SMS Originating /Terminating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957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605" y="271063"/>
            <a:ext cx="9337038" cy="6411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944" y="0"/>
            <a:ext cx="322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SMS Originating 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644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028" y="-10633"/>
            <a:ext cx="8609426" cy="6734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0934" y="96398"/>
            <a:ext cx="6400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SMS Terminating 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748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5435" y="2644499"/>
            <a:ext cx="10515600" cy="1325563"/>
          </a:xfrm>
        </p:spPr>
        <p:txBody>
          <a:bodyPr/>
          <a:lstStyle/>
          <a:p>
            <a:pPr algn="ctr"/>
            <a:r>
              <a:rPr lang="en-IN" b="1" dirty="0" err="1">
                <a:solidFill>
                  <a:srgbClr val="0070C0"/>
                </a:solidFill>
              </a:rPr>
              <a:t>aSRVCC</a:t>
            </a:r>
            <a:r>
              <a:rPr lang="en-IN" b="1" dirty="0">
                <a:solidFill>
                  <a:srgbClr val="0070C0"/>
                </a:solidFill>
              </a:rPr>
              <a:t>/</a:t>
            </a:r>
            <a:r>
              <a:rPr lang="en-IN" b="1" dirty="0" err="1">
                <a:solidFill>
                  <a:srgbClr val="0070C0"/>
                </a:solidFill>
              </a:rPr>
              <a:t>eSRVCC</a:t>
            </a:r>
            <a:r>
              <a:rPr lang="en-IN" b="1" dirty="0">
                <a:solidFill>
                  <a:srgbClr val="0070C0"/>
                </a:solidFill>
              </a:rPr>
              <a:t> Handover</a:t>
            </a:r>
          </a:p>
        </p:txBody>
      </p:sp>
    </p:spTree>
    <p:extLst>
      <p:ext uri="{BB962C8B-B14F-4D97-AF65-F5344CB8AC3E}">
        <p14:creationId xmlns:p14="http://schemas.microsoft.com/office/powerpoint/2010/main" val="2178211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336"/>
            <a:ext cx="11848074" cy="663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99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542" y="0"/>
            <a:ext cx="11972147" cy="663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3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10253</TotalTime>
  <Words>43</Words>
  <Application>Microsoft Office PowerPoint</Application>
  <PresentationFormat>Widescreen</PresentationFormat>
  <Paragraphs>10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Nokia Pure Text</vt:lpstr>
      <vt:lpstr>Nokia Pure Text Light</vt:lpstr>
      <vt:lpstr>Office Theme</vt:lpstr>
      <vt:lpstr>IMS Call Flows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SMS Originating /Terminating</vt:lpstr>
      <vt:lpstr>PowerPoint Presentation</vt:lpstr>
      <vt:lpstr>PowerPoint Presentation</vt:lpstr>
      <vt:lpstr>aSRVCC/eSRVCC Handover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Ahuja, Dinesh (Nokia - IN/Gurgaon)</dc:creator>
  <cp:lastModifiedBy>Mahajan, Navdeep (Nokia - IN/Noida)</cp:lastModifiedBy>
  <cp:revision>25</cp:revision>
  <dcterms:created xsi:type="dcterms:W3CDTF">2016-07-27T06:30:36Z</dcterms:created>
  <dcterms:modified xsi:type="dcterms:W3CDTF">2017-03-20T11:40:29Z</dcterms:modified>
</cp:coreProperties>
</file>