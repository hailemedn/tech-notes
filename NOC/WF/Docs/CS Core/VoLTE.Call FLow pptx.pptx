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6"/>
  </p:sldMasterIdLst>
  <p:sldIdLst>
    <p:sldId id="256" r:id="rId7"/>
    <p:sldId id="285" r:id="rId8"/>
    <p:sldId id="258" r:id="rId9"/>
    <p:sldId id="286" r:id="rId10"/>
    <p:sldId id="287" r:id="rId11"/>
    <p:sldId id="288" r:id="rId12"/>
    <p:sldId id="302" r:id="rId13"/>
    <p:sldId id="301" r:id="rId14"/>
    <p:sldId id="304" r:id="rId15"/>
    <p:sldId id="313" r:id="rId16"/>
    <p:sldId id="306" r:id="rId17"/>
    <p:sldId id="307" r:id="rId18"/>
    <p:sldId id="315" r:id="rId19"/>
    <p:sldId id="282" r:id="rId20"/>
    <p:sldId id="290" r:id="rId21"/>
    <p:sldId id="289" r:id="rId22"/>
    <p:sldId id="291" r:id="rId23"/>
    <p:sldId id="292" r:id="rId24"/>
    <p:sldId id="293" r:id="rId25"/>
    <p:sldId id="295" r:id="rId26"/>
    <p:sldId id="296" r:id="rId27"/>
    <p:sldId id="297" r:id="rId28"/>
    <p:sldId id="308" r:id="rId29"/>
    <p:sldId id="310" r:id="rId30"/>
    <p:sldId id="312" r:id="rId31"/>
    <p:sldId id="319" r:id="rId32"/>
    <p:sldId id="311" r:id="rId33"/>
    <p:sldId id="314" r:id="rId34"/>
    <p:sldId id="270" r:id="rId35"/>
    <p:sldId id="318" r:id="rId36"/>
    <p:sldId id="271" r:id="rId37"/>
    <p:sldId id="316" r:id="rId38"/>
    <p:sldId id="317" r:id="rId39"/>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D861D0-02AE-4C20-5878-E84C125521E6}" v="7" dt="2024-01-26T10:38:45.9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20" Type="http://schemas.openxmlformats.org/officeDocument/2006/relationships/slide" Target="slides/slide14.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san Jacob (Nokia)" userId="S::susan.jacob@nokia.com::a2300b7e-4907-4c2e-95b3-ede1727417f6" providerId="AD" clId="Web-{8A76BC1B-DAD1-CD54-35B9-0DA9BFDBAA00}"/>
    <pc:docChg chg="modSld">
      <pc:chgData name="Susan Jacob (Nokia)" userId="S::susan.jacob@nokia.com::a2300b7e-4907-4c2e-95b3-ede1727417f6" providerId="AD" clId="Web-{8A76BC1B-DAD1-CD54-35B9-0DA9BFDBAA00}" dt="2023-07-19T15:31:36.981" v="0" actId="1076"/>
      <pc:docMkLst>
        <pc:docMk/>
      </pc:docMkLst>
      <pc:sldChg chg="modSp">
        <pc:chgData name="Susan Jacob (Nokia)" userId="S::susan.jacob@nokia.com::a2300b7e-4907-4c2e-95b3-ede1727417f6" providerId="AD" clId="Web-{8A76BC1B-DAD1-CD54-35B9-0DA9BFDBAA00}" dt="2023-07-19T15:31:36.981" v="0" actId="1076"/>
        <pc:sldMkLst>
          <pc:docMk/>
          <pc:sldMk cId="88501916" sldId="287"/>
        </pc:sldMkLst>
        <pc:picChg chg="mod">
          <ac:chgData name="Susan Jacob (Nokia)" userId="S::susan.jacob@nokia.com::a2300b7e-4907-4c2e-95b3-ede1727417f6" providerId="AD" clId="Web-{8A76BC1B-DAD1-CD54-35B9-0DA9BFDBAA00}" dt="2023-07-19T15:31:36.981" v="0" actId="1076"/>
          <ac:picMkLst>
            <pc:docMk/>
            <pc:sldMk cId="88501916" sldId="287"/>
            <ac:picMk id="1026" creationId="{00000000-0000-0000-0000-000000000000}"/>
          </ac:picMkLst>
        </pc:picChg>
      </pc:sldChg>
    </pc:docChg>
  </pc:docChgLst>
  <pc:docChgLst>
    <pc:chgData clId="Web-{CDAF7EE4-D54E-7B21-B871-C8DC2BF8A68A}"/>
    <pc:docChg chg="delSld">
      <pc:chgData name="" userId="" providerId="" clId="Web-{CDAF7EE4-D54E-7B21-B871-C8DC2BF8A68A}" dt="2023-02-06T04:08:51.163" v="0"/>
      <pc:docMkLst>
        <pc:docMk/>
      </pc:docMkLst>
      <pc:sldChg chg="del">
        <pc:chgData name="" userId="" providerId="" clId="Web-{CDAF7EE4-D54E-7B21-B871-C8DC2BF8A68A}" dt="2023-02-06T04:08:51.163" v="0"/>
        <pc:sldMkLst>
          <pc:docMk/>
          <pc:sldMk cId="2553467734" sldId="283"/>
        </pc:sldMkLst>
      </pc:sldChg>
    </pc:docChg>
  </pc:docChgLst>
  <pc:docChgLst>
    <pc:chgData name="Khairunnisa Shaik (EXT-Nokia)" userId="S::khairunnisa.shaik.ext@nokia.com::b7189786-0eb2-4691-8654-be047d34e913" providerId="AD" clId="Web-{5467809E-A1F8-91CA-8FD0-84CBD290956A}"/>
    <pc:docChg chg="modSld">
      <pc:chgData name="Khairunnisa Shaik (EXT-Nokia)" userId="S::khairunnisa.shaik.ext@nokia.com::b7189786-0eb2-4691-8654-be047d34e913" providerId="AD" clId="Web-{5467809E-A1F8-91CA-8FD0-84CBD290956A}" dt="2023-11-03T13:55:58.311" v="6" actId="1076"/>
      <pc:docMkLst>
        <pc:docMk/>
      </pc:docMkLst>
      <pc:sldChg chg="modSp">
        <pc:chgData name="Khairunnisa Shaik (EXT-Nokia)" userId="S::khairunnisa.shaik.ext@nokia.com::b7189786-0eb2-4691-8654-be047d34e913" providerId="AD" clId="Web-{5467809E-A1F8-91CA-8FD0-84CBD290956A}" dt="2023-11-03T13:55:58.311" v="6" actId="1076"/>
        <pc:sldMkLst>
          <pc:docMk/>
          <pc:sldMk cId="1458568572" sldId="312"/>
        </pc:sldMkLst>
        <pc:spChg chg="mod">
          <ac:chgData name="Khairunnisa Shaik (EXT-Nokia)" userId="S::khairunnisa.shaik.ext@nokia.com::b7189786-0eb2-4691-8654-be047d34e913" providerId="AD" clId="Web-{5467809E-A1F8-91CA-8FD0-84CBD290956A}" dt="2023-11-03T13:55:38.138" v="1" actId="1076"/>
          <ac:spMkLst>
            <pc:docMk/>
            <pc:sldMk cId="1458568572" sldId="312"/>
            <ac:spMk id="2" creationId="{00000000-0000-0000-0000-000000000000}"/>
          </ac:spMkLst>
        </pc:spChg>
        <pc:spChg chg="mod">
          <ac:chgData name="Khairunnisa Shaik (EXT-Nokia)" userId="S::khairunnisa.shaik.ext@nokia.com::b7189786-0eb2-4691-8654-be047d34e913" providerId="AD" clId="Web-{5467809E-A1F8-91CA-8FD0-84CBD290956A}" dt="2023-11-03T13:55:43.123" v="2" actId="1076"/>
          <ac:spMkLst>
            <pc:docMk/>
            <pc:sldMk cId="1458568572" sldId="312"/>
            <ac:spMk id="6" creationId="{00000000-0000-0000-0000-000000000000}"/>
          </ac:spMkLst>
        </pc:spChg>
        <pc:picChg chg="mod">
          <ac:chgData name="Khairunnisa Shaik (EXT-Nokia)" userId="S::khairunnisa.shaik.ext@nokia.com::b7189786-0eb2-4691-8654-be047d34e913" providerId="AD" clId="Web-{5467809E-A1F8-91CA-8FD0-84CBD290956A}" dt="2023-11-03T13:55:58.311" v="6" actId="1076"/>
          <ac:picMkLst>
            <pc:docMk/>
            <pc:sldMk cId="1458568572" sldId="312"/>
            <ac:picMk id="4" creationId="{00000000-0000-0000-0000-000000000000}"/>
          </ac:picMkLst>
        </pc:picChg>
        <pc:picChg chg="mod">
          <ac:chgData name="Khairunnisa Shaik (EXT-Nokia)" userId="S::khairunnisa.shaik.ext@nokia.com::b7189786-0eb2-4691-8654-be047d34e913" providerId="AD" clId="Web-{5467809E-A1F8-91CA-8FD0-84CBD290956A}" dt="2023-11-03T13:55:52.717" v="5" actId="14100"/>
          <ac:picMkLst>
            <pc:docMk/>
            <pc:sldMk cId="1458568572" sldId="312"/>
            <ac:picMk id="5" creationId="{00000000-0000-0000-0000-000000000000}"/>
          </ac:picMkLst>
        </pc:picChg>
      </pc:sldChg>
    </pc:docChg>
  </pc:docChgLst>
  <pc:docChgLst>
    <pc:chgData name="Pedro 2. Alves (Nokia)" userId="S::pedro.2.alves@nokia.com::ff84a736-b778-4c94-852d-ca0fc7690d92" providerId="AD" clId="Web-{5138C326-3CF8-0616-9502-3923900F8299}"/>
    <pc:docChg chg="modSld">
      <pc:chgData name="Pedro 2. Alves (Nokia)" userId="S::pedro.2.alves@nokia.com::ff84a736-b778-4c94-852d-ca0fc7690d92" providerId="AD" clId="Web-{5138C326-3CF8-0616-9502-3923900F8299}" dt="2023-09-21T09:11:26.104" v="0" actId="1076"/>
      <pc:docMkLst>
        <pc:docMk/>
      </pc:docMkLst>
      <pc:sldChg chg="modSp">
        <pc:chgData name="Pedro 2. Alves (Nokia)" userId="S::pedro.2.alves@nokia.com::ff84a736-b778-4c94-852d-ca0fc7690d92" providerId="AD" clId="Web-{5138C326-3CF8-0616-9502-3923900F8299}" dt="2023-09-21T09:11:26.104" v="0" actId="1076"/>
        <pc:sldMkLst>
          <pc:docMk/>
          <pc:sldMk cId="88501916" sldId="287"/>
        </pc:sldMkLst>
        <pc:picChg chg="mod">
          <ac:chgData name="Pedro 2. Alves (Nokia)" userId="S::pedro.2.alves@nokia.com::ff84a736-b778-4c94-852d-ca0fc7690d92" providerId="AD" clId="Web-{5138C326-3CF8-0616-9502-3923900F8299}" dt="2023-09-21T09:11:26.104" v="0" actId="1076"/>
          <ac:picMkLst>
            <pc:docMk/>
            <pc:sldMk cId="88501916" sldId="287"/>
            <ac:picMk id="1026" creationId="{00000000-0000-0000-0000-000000000000}"/>
          </ac:picMkLst>
        </pc:picChg>
      </pc:sldChg>
    </pc:docChg>
  </pc:docChgLst>
  <pc:docChgLst>
    <pc:chgData name="Teni Mulyo (Nokia)" userId="S::teni.mulyo@nokia.com::d5535cee-6a12-49ed-b76f-72cf283ca062" providerId="AD" clId="Web-{16630C27-DF74-F796-3CD1-71F1C08F0CA7}"/>
    <pc:docChg chg="modSld">
      <pc:chgData name="Teni Mulyo (Nokia)" userId="S::teni.mulyo@nokia.com::d5535cee-6a12-49ed-b76f-72cf283ca062" providerId="AD" clId="Web-{16630C27-DF74-F796-3CD1-71F1C08F0CA7}" dt="2023-02-23T15:33:48.836" v="0"/>
      <pc:docMkLst>
        <pc:docMk/>
      </pc:docMkLst>
      <pc:sldChg chg="delSp">
        <pc:chgData name="Teni Mulyo (Nokia)" userId="S::teni.mulyo@nokia.com::d5535cee-6a12-49ed-b76f-72cf283ca062" providerId="AD" clId="Web-{16630C27-DF74-F796-3CD1-71F1C08F0CA7}" dt="2023-02-23T15:33:48.836" v="0"/>
        <pc:sldMkLst>
          <pc:docMk/>
          <pc:sldMk cId="248509246" sldId="305"/>
        </pc:sldMkLst>
        <pc:spChg chg="del">
          <ac:chgData name="Teni Mulyo (Nokia)" userId="S::teni.mulyo@nokia.com::d5535cee-6a12-49ed-b76f-72cf283ca062" providerId="AD" clId="Web-{16630C27-DF74-F796-3CD1-71F1C08F0CA7}" dt="2023-02-23T15:33:48.836" v="0"/>
          <ac:spMkLst>
            <pc:docMk/>
            <pc:sldMk cId="248509246" sldId="305"/>
            <ac:spMk id="7170" creationId="{00000000-0000-0000-0000-000000000000}"/>
          </ac:spMkLst>
        </pc:spChg>
      </pc:sldChg>
    </pc:docChg>
  </pc:docChgLst>
  <pc:docChgLst>
    <pc:chgData name="Sylvan, Stephen (Nokia - US/Murray Hill)" userId="S::stephen.sylvan@nokia.com::c5f38b9a-e6e0-4af8-93f6-ff8ebcf6870a" providerId="AD" clId="Web-{106E2422-97E1-7623-EB73-00F7EFBB70BA}"/>
    <pc:docChg chg="sldOrd">
      <pc:chgData name="Sylvan, Stephen (Nokia - US/Murray Hill)" userId="S::stephen.sylvan@nokia.com::c5f38b9a-e6e0-4af8-93f6-ff8ebcf6870a" providerId="AD" clId="Web-{106E2422-97E1-7623-EB73-00F7EFBB70BA}" dt="2024-01-18T07:54:23.331" v="0"/>
      <pc:docMkLst>
        <pc:docMk/>
      </pc:docMkLst>
      <pc:sldChg chg="ord">
        <pc:chgData name="Sylvan, Stephen (Nokia - US/Murray Hill)" userId="S::stephen.sylvan@nokia.com::c5f38b9a-e6e0-4af8-93f6-ff8ebcf6870a" providerId="AD" clId="Web-{106E2422-97E1-7623-EB73-00F7EFBB70BA}" dt="2024-01-18T07:54:23.331" v="0"/>
        <pc:sldMkLst>
          <pc:docMk/>
          <pc:sldMk cId="2469835673" sldId="301"/>
        </pc:sldMkLst>
      </pc:sldChg>
    </pc:docChg>
  </pc:docChgLst>
  <pc:docChgLst>
    <pc:chgData name="George, Jibu (EXT - SA/Riyadh)" userId="S::jibu.george.ext@nokia.com::dd8b4f39-a3b8-41a6-a0fd-64422c46fd41" providerId="AD" clId="Web-{67077F96-A29A-E8C5-574C-A6C3FFA4E816}"/>
    <pc:docChg chg="sldOrd">
      <pc:chgData name="George, Jibu (EXT - SA/Riyadh)" userId="S::jibu.george.ext@nokia.com::dd8b4f39-a3b8-41a6-a0fd-64422c46fd41" providerId="AD" clId="Web-{67077F96-A29A-E8C5-574C-A6C3FFA4E816}" dt="2023-10-20T16:17:44.729" v="2"/>
      <pc:docMkLst>
        <pc:docMk/>
      </pc:docMkLst>
      <pc:sldChg chg="ord">
        <pc:chgData name="George, Jibu (EXT - SA/Riyadh)" userId="S::jibu.george.ext@nokia.com::dd8b4f39-a3b8-41a6-a0fd-64422c46fd41" providerId="AD" clId="Web-{67077F96-A29A-E8C5-574C-A6C3FFA4E816}" dt="2023-10-20T16:17:42.588" v="1"/>
        <pc:sldMkLst>
          <pc:docMk/>
          <pc:sldMk cId="480838987" sldId="256"/>
        </pc:sldMkLst>
      </pc:sldChg>
      <pc:sldChg chg="ord">
        <pc:chgData name="George, Jibu (EXT - SA/Riyadh)" userId="S::jibu.george.ext@nokia.com::dd8b4f39-a3b8-41a6-a0fd-64422c46fd41" providerId="AD" clId="Web-{67077F96-A29A-E8C5-574C-A6C3FFA4E816}" dt="2023-10-20T16:17:44.729" v="2"/>
        <pc:sldMkLst>
          <pc:docMk/>
          <pc:sldMk cId="2651311007" sldId="285"/>
        </pc:sldMkLst>
      </pc:sldChg>
    </pc:docChg>
  </pc:docChgLst>
  <pc:docChgLst>
    <pc:chgData name="Kyle Hsiao (EXT-Nokia)" userId="S::kyle.hsiao.ext@nokia.com::f6e73eb6-0eb3-461b-9a25-27c0183021f7" providerId="AD" clId="Web-{2390A839-D0B1-B84E-4BAB-E39895ABF1D6}"/>
    <pc:docChg chg="sldOrd">
      <pc:chgData name="Kyle Hsiao (EXT-Nokia)" userId="S::kyle.hsiao.ext@nokia.com::f6e73eb6-0eb3-461b-9a25-27c0183021f7" providerId="AD" clId="Web-{2390A839-D0B1-B84E-4BAB-E39895ABF1D6}" dt="2023-12-15T03:36:02.885" v="0"/>
      <pc:docMkLst>
        <pc:docMk/>
      </pc:docMkLst>
      <pc:sldChg chg="ord">
        <pc:chgData name="Kyle Hsiao (EXT-Nokia)" userId="S::kyle.hsiao.ext@nokia.com::f6e73eb6-0eb3-461b-9a25-27c0183021f7" providerId="AD" clId="Web-{2390A839-D0B1-B84E-4BAB-E39895ABF1D6}" dt="2023-12-15T03:36:02.885" v="0"/>
        <pc:sldMkLst>
          <pc:docMk/>
          <pc:sldMk cId="88501916" sldId="287"/>
        </pc:sldMkLst>
      </pc:sldChg>
    </pc:docChg>
  </pc:docChgLst>
  <pc:docChgLst>
    <pc:chgData name="Yasir Khursheed Muhammad (EXT-Nokia)" userId="S::yasir.khursheed_muhammad.ext@nokia.com::523a587e-c956-4968-a287-130ca15fe4ff" providerId="AD" clId="Web-{965355CA-447C-6885-8530-2E426093050E}"/>
    <pc:docChg chg="modSld">
      <pc:chgData name="Yasir Khursheed Muhammad (EXT-Nokia)" userId="S::yasir.khursheed_muhammad.ext@nokia.com::523a587e-c956-4968-a287-130ca15fe4ff" providerId="AD" clId="Web-{965355CA-447C-6885-8530-2E426093050E}" dt="2023-04-19T23:18:38.538" v="0" actId="1076"/>
      <pc:docMkLst>
        <pc:docMk/>
      </pc:docMkLst>
      <pc:sldChg chg="modSp">
        <pc:chgData name="Yasir Khursheed Muhammad (EXT-Nokia)" userId="S::yasir.khursheed_muhammad.ext@nokia.com::523a587e-c956-4968-a287-130ca15fe4ff" providerId="AD" clId="Web-{965355CA-447C-6885-8530-2E426093050E}" dt="2023-04-19T23:18:38.538" v="0" actId="1076"/>
        <pc:sldMkLst>
          <pc:docMk/>
          <pc:sldMk cId="1480423790" sldId="293"/>
        </pc:sldMkLst>
        <pc:picChg chg="mod">
          <ac:chgData name="Yasir Khursheed Muhammad (EXT-Nokia)" userId="S::yasir.khursheed_muhammad.ext@nokia.com::523a587e-c956-4968-a287-130ca15fe4ff" providerId="AD" clId="Web-{965355CA-447C-6885-8530-2E426093050E}" dt="2023-04-19T23:18:38.538" v="0" actId="1076"/>
          <ac:picMkLst>
            <pc:docMk/>
            <pc:sldMk cId="1480423790" sldId="293"/>
            <ac:picMk id="3" creationId="{00000000-0000-0000-0000-000000000000}"/>
          </ac:picMkLst>
        </pc:picChg>
      </pc:sldChg>
    </pc:docChg>
  </pc:docChgLst>
  <pc:docChgLst>
    <pc:chgData name="Praveen Dwivedi (Nokia)" userId="S::praveen.dwivedi@nokia.com::0db82f17-5254-42dc-9cca-1fd0624332d6" providerId="AD" clId="Web-{D3C302B4-18F9-4E1A-16EE-15018C72D7F3}"/>
    <pc:docChg chg="sldOrd">
      <pc:chgData name="Praveen Dwivedi (Nokia)" userId="S::praveen.dwivedi@nokia.com::0db82f17-5254-42dc-9cca-1fd0624332d6" providerId="AD" clId="Web-{D3C302B4-18F9-4E1A-16EE-15018C72D7F3}" dt="2023-09-29T03:59:30.974" v="0"/>
      <pc:docMkLst>
        <pc:docMk/>
      </pc:docMkLst>
      <pc:sldChg chg="ord">
        <pc:chgData name="Praveen Dwivedi (Nokia)" userId="S::praveen.dwivedi@nokia.com::0db82f17-5254-42dc-9cca-1fd0624332d6" providerId="AD" clId="Web-{D3C302B4-18F9-4E1A-16EE-15018C72D7F3}" dt="2023-09-29T03:59:30.974" v="0"/>
        <pc:sldMkLst>
          <pc:docMk/>
          <pc:sldMk cId="504831201" sldId="314"/>
        </pc:sldMkLst>
      </pc:sldChg>
    </pc:docChg>
  </pc:docChgLst>
  <pc:docChgLst>
    <pc:chgData name="Amitesh Anand (Nokia)" userId="S::amitesh.anand@nokia.com::a436f72d-3bff-4dfd-9e9e-306121db1edd" providerId="AD" clId="Web-{E422A67C-1BA1-8A27-2F83-F41D0FD77A8B}"/>
    <pc:docChg chg="modSld">
      <pc:chgData name="Amitesh Anand (Nokia)" userId="S::amitesh.anand@nokia.com::a436f72d-3bff-4dfd-9e9e-306121db1edd" providerId="AD" clId="Web-{E422A67C-1BA1-8A27-2F83-F41D0FD77A8B}" dt="2023-12-21T19:53:50.696" v="0" actId="1076"/>
      <pc:docMkLst>
        <pc:docMk/>
      </pc:docMkLst>
      <pc:sldChg chg="modSp">
        <pc:chgData name="Amitesh Anand (Nokia)" userId="S::amitesh.anand@nokia.com::a436f72d-3bff-4dfd-9e9e-306121db1edd" providerId="AD" clId="Web-{E422A67C-1BA1-8A27-2F83-F41D0FD77A8B}" dt="2023-12-21T19:53:50.696" v="0" actId="1076"/>
        <pc:sldMkLst>
          <pc:docMk/>
          <pc:sldMk cId="3489332954" sldId="282"/>
        </pc:sldMkLst>
        <pc:picChg chg="mod">
          <ac:chgData name="Amitesh Anand (Nokia)" userId="S::amitesh.anand@nokia.com::a436f72d-3bff-4dfd-9e9e-306121db1edd" providerId="AD" clId="Web-{E422A67C-1BA1-8A27-2F83-F41D0FD77A8B}" dt="2023-12-21T19:53:50.696" v="0" actId="1076"/>
          <ac:picMkLst>
            <pc:docMk/>
            <pc:sldMk cId="3489332954" sldId="282"/>
            <ac:picMk id="4" creationId="{00000000-0000-0000-0000-000000000000}"/>
          </ac:picMkLst>
        </pc:picChg>
      </pc:sldChg>
    </pc:docChg>
  </pc:docChgLst>
  <pc:docChgLst>
    <pc:chgData name="Neeraj Raghuwanshi (EXT-Nokia)" userId="S::neeraj.raghuwanshi.ext@nokia.com::eab0604e-1a13-4d4c-abda-468b4cbaa3e0" providerId="AD" clId="Web-{91867405-D4F0-362B-35C8-CCB0A963112B}"/>
    <pc:docChg chg="modSld">
      <pc:chgData name="Neeraj Raghuwanshi (EXT-Nokia)" userId="S::neeraj.raghuwanshi.ext@nokia.com::eab0604e-1a13-4d4c-abda-468b4cbaa3e0" providerId="AD" clId="Web-{91867405-D4F0-362B-35C8-CCB0A963112B}" dt="2022-12-22T13:41:52.463" v="1" actId="1076"/>
      <pc:docMkLst>
        <pc:docMk/>
      </pc:docMkLst>
      <pc:sldChg chg="modSp">
        <pc:chgData name="Neeraj Raghuwanshi (EXT-Nokia)" userId="S::neeraj.raghuwanshi.ext@nokia.com::eab0604e-1a13-4d4c-abda-468b4cbaa3e0" providerId="AD" clId="Web-{91867405-D4F0-362B-35C8-CCB0A963112B}" dt="2022-12-22T13:41:52.463" v="1" actId="1076"/>
        <pc:sldMkLst>
          <pc:docMk/>
          <pc:sldMk cId="2469835673" sldId="301"/>
        </pc:sldMkLst>
        <pc:spChg chg="mod">
          <ac:chgData name="Neeraj Raghuwanshi (EXT-Nokia)" userId="S::neeraj.raghuwanshi.ext@nokia.com::eab0604e-1a13-4d4c-abda-468b4cbaa3e0" providerId="AD" clId="Web-{91867405-D4F0-362B-35C8-CCB0A963112B}" dt="2022-12-22T13:41:52.463" v="1" actId="1076"/>
          <ac:spMkLst>
            <pc:docMk/>
            <pc:sldMk cId="2469835673" sldId="301"/>
            <ac:spMk id="4" creationId="{00000000-0000-0000-0000-000000000000}"/>
          </ac:spMkLst>
        </pc:spChg>
        <pc:cxnChg chg="mod">
          <ac:chgData name="Neeraj Raghuwanshi (EXT-Nokia)" userId="S::neeraj.raghuwanshi.ext@nokia.com::eab0604e-1a13-4d4c-abda-468b4cbaa3e0" providerId="AD" clId="Web-{91867405-D4F0-362B-35C8-CCB0A963112B}" dt="2022-12-22T13:41:52.463" v="1" actId="1076"/>
          <ac:cxnSpMkLst>
            <pc:docMk/>
            <pc:sldMk cId="2469835673" sldId="301"/>
            <ac:cxnSpMk id="15" creationId="{00000000-0000-0000-0000-000000000000}"/>
          </ac:cxnSpMkLst>
        </pc:cxnChg>
      </pc:sldChg>
    </pc:docChg>
  </pc:docChgLst>
  <pc:docChgLst>
    <pc:chgData name="Biman Pal (EXT-Nokia)" userId="S::biman.pal.ext@nokia.com::a892d89c-bcee-4962-8b8e-d58e295dca5c" providerId="AD" clId="Web-{3AF7ECDD-FAF5-F445-E72A-5D25EAAF7E8E}"/>
    <pc:docChg chg="sldOrd">
      <pc:chgData name="Biman Pal (EXT-Nokia)" userId="S::biman.pal.ext@nokia.com::a892d89c-bcee-4962-8b8e-d58e295dca5c" providerId="AD" clId="Web-{3AF7ECDD-FAF5-F445-E72A-5D25EAAF7E8E}" dt="2023-01-29T19:24:58.227" v="0"/>
      <pc:docMkLst>
        <pc:docMk/>
      </pc:docMkLst>
      <pc:sldChg chg="ord">
        <pc:chgData name="Biman Pal (EXT-Nokia)" userId="S::biman.pal.ext@nokia.com::a892d89c-bcee-4962-8b8e-d58e295dca5c" providerId="AD" clId="Web-{3AF7ECDD-FAF5-F445-E72A-5D25EAAF7E8E}" dt="2023-01-29T19:24:58.227" v="0"/>
        <pc:sldMkLst>
          <pc:docMk/>
          <pc:sldMk cId="1772064648" sldId="271"/>
        </pc:sldMkLst>
      </pc:sldChg>
    </pc:docChg>
  </pc:docChgLst>
  <pc:docChgLst>
    <pc:chgData name="Ajay 1. Mishra (EXT-Nokia)" userId="S::ajay.1.mishra.ext@nokia.com::8f03b079-355c-485c-aef6-11fe718d92d0" providerId="AD" clId="Web-{63EBBF6C-5F65-3CC9-B64D-6972F63498BE}"/>
    <pc:docChg chg="delSld">
      <pc:chgData name="Ajay 1. Mishra (EXT-Nokia)" userId="S::ajay.1.mishra.ext@nokia.com::8f03b079-355c-485c-aef6-11fe718d92d0" providerId="AD" clId="Web-{63EBBF6C-5F65-3CC9-B64D-6972F63498BE}" dt="2023-07-11T16:24:26.616" v="0"/>
      <pc:docMkLst>
        <pc:docMk/>
      </pc:docMkLst>
      <pc:sldChg chg="del">
        <pc:chgData name="Ajay 1. Mishra (EXT-Nokia)" userId="S::ajay.1.mishra.ext@nokia.com::8f03b079-355c-485c-aef6-11fe718d92d0" providerId="AD" clId="Web-{63EBBF6C-5F65-3CC9-B64D-6972F63498BE}" dt="2023-07-11T16:24:26.616" v="0"/>
        <pc:sldMkLst>
          <pc:docMk/>
          <pc:sldMk cId="248509246" sldId="305"/>
        </pc:sldMkLst>
      </pc:sldChg>
    </pc:docChg>
  </pc:docChgLst>
  <pc:docChgLst>
    <pc:chgData name="Tanveer, Shahzeb (EXT - QA)" userId="S::shahzeb.tanveer.ext@nokia.com::02d41121-9068-4a5c-8eb9-c4c2721d8c0a" providerId="AD" clId="Web-{A652C72B-DA89-5CE8-98B6-1594371D93BE}"/>
    <pc:docChg chg="modSld">
      <pc:chgData name="Tanveer, Shahzeb (EXT - QA)" userId="S::shahzeb.tanveer.ext@nokia.com::02d41121-9068-4a5c-8eb9-c4c2721d8c0a" providerId="AD" clId="Web-{A652C72B-DA89-5CE8-98B6-1594371D93BE}" dt="2022-09-29T09:19:34.903" v="2" actId="1076"/>
      <pc:docMkLst>
        <pc:docMk/>
      </pc:docMkLst>
      <pc:sldChg chg="modSp">
        <pc:chgData name="Tanveer, Shahzeb (EXT - QA)" userId="S::shahzeb.tanveer.ext@nokia.com::02d41121-9068-4a5c-8eb9-c4c2721d8c0a" providerId="AD" clId="Web-{A652C72B-DA89-5CE8-98B6-1594371D93BE}" dt="2022-09-29T09:19:34.903" v="2" actId="1076"/>
        <pc:sldMkLst>
          <pc:docMk/>
          <pc:sldMk cId="2093339096" sldId="258"/>
        </pc:sldMkLst>
        <pc:picChg chg="mod">
          <ac:chgData name="Tanveer, Shahzeb (EXT - QA)" userId="S::shahzeb.tanveer.ext@nokia.com::02d41121-9068-4a5c-8eb9-c4c2721d8c0a" providerId="AD" clId="Web-{A652C72B-DA89-5CE8-98B6-1594371D93BE}" dt="2022-09-29T09:19:34.903" v="2" actId="1076"/>
          <ac:picMkLst>
            <pc:docMk/>
            <pc:sldMk cId="2093339096" sldId="258"/>
            <ac:picMk id="4" creationId="{00000000-0000-0000-0000-000000000000}"/>
          </ac:picMkLst>
        </pc:picChg>
      </pc:sldChg>
    </pc:docChg>
  </pc:docChgLst>
  <pc:docChgLst>
    <pc:chgData name="Mukesh Joshi (Nokia)" userId="S::mukesh.joshi@nokia.com::320bf819-7868-4f80-b986-fec1683d104c" providerId="AD" clId="Web-{03319F43-FC86-7AB2-C415-7482C7F45313}"/>
    <pc:docChg chg="modSld">
      <pc:chgData name="Mukesh Joshi (Nokia)" userId="S::mukesh.joshi@nokia.com::320bf819-7868-4f80-b986-fec1683d104c" providerId="AD" clId="Web-{03319F43-FC86-7AB2-C415-7482C7F45313}" dt="2023-07-25T11:01:26.868" v="1" actId="1076"/>
      <pc:docMkLst>
        <pc:docMk/>
      </pc:docMkLst>
      <pc:sldChg chg="modSp">
        <pc:chgData name="Mukesh Joshi (Nokia)" userId="S::mukesh.joshi@nokia.com::320bf819-7868-4f80-b986-fec1683d104c" providerId="AD" clId="Web-{03319F43-FC86-7AB2-C415-7482C7F45313}" dt="2023-07-25T11:01:26.868" v="1" actId="1076"/>
        <pc:sldMkLst>
          <pc:docMk/>
          <pc:sldMk cId="4156205147" sldId="302"/>
        </pc:sldMkLst>
        <pc:spChg chg="mod">
          <ac:chgData name="Mukesh Joshi (Nokia)" userId="S::mukesh.joshi@nokia.com::320bf819-7868-4f80-b986-fec1683d104c" providerId="AD" clId="Web-{03319F43-FC86-7AB2-C415-7482C7F45313}" dt="2023-07-25T11:01:26.868" v="1" actId="1076"/>
          <ac:spMkLst>
            <pc:docMk/>
            <pc:sldMk cId="4156205147" sldId="302"/>
            <ac:spMk id="203" creationId="{00000000-0000-0000-0000-000000000000}"/>
          </ac:spMkLst>
        </pc:spChg>
      </pc:sldChg>
    </pc:docChg>
  </pc:docChgLst>
  <pc:docChgLst>
    <pc:chgData name="Tsion Asmare (EXT-Nokia)" userId="S::tsion.asmare.ext@nokia.com::d45391ec-7a2f-44a3-8695-ae1660af60de" providerId="AD" clId="Web-{8A5A7098-2334-F4F7-848F-3018022DE465}"/>
    <pc:docChg chg="delSld modSld sldOrd">
      <pc:chgData name="Tsion Asmare (EXT-Nokia)" userId="S::tsion.asmare.ext@nokia.com::d45391ec-7a2f-44a3-8695-ae1660af60de" providerId="AD" clId="Web-{8A5A7098-2334-F4F7-848F-3018022DE465}" dt="2023-10-28T17:12:14.262" v="5"/>
      <pc:docMkLst>
        <pc:docMk/>
      </pc:docMkLst>
      <pc:sldChg chg="modSp">
        <pc:chgData name="Tsion Asmare (EXT-Nokia)" userId="S::tsion.asmare.ext@nokia.com::d45391ec-7a2f-44a3-8695-ae1660af60de" providerId="AD" clId="Web-{8A5A7098-2334-F4F7-848F-3018022DE465}" dt="2023-10-28T16:05:37.477" v="3" actId="14100"/>
        <pc:sldMkLst>
          <pc:docMk/>
          <pc:sldMk cId="2093339096" sldId="258"/>
        </pc:sldMkLst>
        <pc:picChg chg="mod">
          <ac:chgData name="Tsion Asmare (EXT-Nokia)" userId="S::tsion.asmare.ext@nokia.com::d45391ec-7a2f-44a3-8695-ae1660af60de" providerId="AD" clId="Web-{8A5A7098-2334-F4F7-848F-3018022DE465}" dt="2023-10-28T16:05:37.477" v="3" actId="14100"/>
          <ac:picMkLst>
            <pc:docMk/>
            <pc:sldMk cId="2093339096" sldId="258"/>
            <ac:picMk id="4" creationId="{00000000-0000-0000-0000-000000000000}"/>
          </ac:picMkLst>
        </pc:picChg>
      </pc:sldChg>
      <pc:sldChg chg="ord">
        <pc:chgData name="Tsion Asmare (EXT-Nokia)" userId="S::tsion.asmare.ext@nokia.com::d45391ec-7a2f-44a3-8695-ae1660af60de" providerId="AD" clId="Web-{8A5A7098-2334-F4F7-848F-3018022DE465}" dt="2023-10-28T17:12:14.262" v="5"/>
        <pc:sldMkLst>
          <pc:docMk/>
          <pc:sldMk cId="1893559764" sldId="289"/>
        </pc:sldMkLst>
      </pc:sldChg>
      <pc:sldChg chg="del">
        <pc:chgData name="Tsion Asmare (EXT-Nokia)" userId="S::tsion.asmare.ext@nokia.com::d45391ec-7a2f-44a3-8695-ae1660af60de" providerId="AD" clId="Web-{8A5A7098-2334-F4F7-848F-3018022DE465}" dt="2023-10-28T16:14:27.423" v="4"/>
        <pc:sldMkLst>
          <pc:docMk/>
          <pc:sldMk cId="1456077153" sldId="320"/>
        </pc:sldMkLst>
      </pc:sldChg>
    </pc:docChg>
  </pc:docChgLst>
  <pc:docChgLst>
    <pc:chgData name="Jitender 1. Singh (Nokia)" userId="S::jitender.1.singh@nokia.com::3a6bcc1f-a67e-453f-83f3-425e14727fea" providerId="AD" clId="Web-{38700F0C-E753-B131-3445-69500A1D2D4F}"/>
    <pc:docChg chg="sldOrd">
      <pc:chgData name="Jitender 1. Singh (Nokia)" userId="S::jitender.1.singh@nokia.com::3a6bcc1f-a67e-453f-83f3-425e14727fea" providerId="AD" clId="Web-{38700F0C-E753-B131-3445-69500A1D2D4F}" dt="2023-10-13T09:11:12.460" v="0"/>
      <pc:docMkLst>
        <pc:docMk/>
      </pc:docMkLst>
      <pc:sldChg chg="ord">
        <pc:chgData name="Jitender 1. Singh (Nokia)" userId="S::jitender.1.singh@nokia.com::3a6bcc1f-a67e-453f-83f3-425e14727fea" providerId="AD" clId="Web-{38700F0C-E753-B131-3445-69500A1D2D4F}" dt="2023-10-13T09:11:12.460" v="0"/>
        <pc:sldMkLst>
          <pc:docMk/>
          <pc:sldMk cId="2093339096" sldId="258"/>
        </pc:sldMkLst>
      </pc:sldChg>
    </pc:docChg>
  </pc:docChgLst>
  <pc:docChgLst>
    <pc:chgData name="Vinayak 1. Sharma (Nokia)" userId="S::vinayak.1.sharma@nokia.com::9209eadf-4db5-4690-9736-974db43a44ba" providerId="AD" clId="Web-{54D861D0-02AE-4C20-5878-E84C125521E6}"/>
    <pc:docChg chg="sldOrd">
      <pc:chgData name="Vinayak 1. Sharma (Nokia)" userId="S::vinayak.1.sharma@nokia.com::9209eadf-4db5-4690-9736-974db43a44ba" providerId="AD" clId="Web-{54D861D0-02AE-4C20-5878-E84C125521E6}" dt="2024-01-26T10:38:45.977" v="6"/>
      <pc:docMkLst>
        <pc:docMk/>
      </pc:docMkLst>
      <pc:sldChg chg="ord">
        <pc:chgData name="Vinayak 1. Sharma (Nokia)" userId="S::vinayak.1.sharma@nokia.com::9209eadf-4db5-4690-9736-974db43a44ba" providerId="AD" clId="Web-{54D861D0-02AE-4C20-5878-E84C125521E6}" dt="2024-01-26T10:38:45.977" v="5"/>
        <pc:sldMkLst>
          <pc:docMk/>
          <pc:sldMk cId="2469835673" sldId="301"/>
        </pc:sldMkLst>
      </pc:sldChg>
      <pc:sldChg chg="ord">
        <pc:chgData name="Vinayak 1. Sharma (Nokia)" userId="S::vinayak.1.sharma@nokia.com::9209eadf-4db5-4690-9736-974db43a44ba" providerId="AD" clId="Web-{54D861D0-02AE-4C20-5878-E84C125521E6}" dt="2024-01-26T10:38:45.977" v="6"/>
        <pc:sldMkLst>
          <pc:docMk/>
          <pc:sldMk cId="4156205147" sldId="302"/>
        </pc:sldMkLst>
      </pc:sldChg>
      <pc:sldChg chg="ord">
        <pc:chgData name="Vinayak 1. Sharma (Nokia)" userId="S::vinayak.1.sharma@nokia.com::9209eadf-4db5-4690-9736-974db43a44ba" providerId="AD" clId="Web-{54D861D0-02AE-4C20-5878-E84C125521E6}" dt="2024-01-26T10:38:45.977" v="4"/>
        <pc:sldMkLst>
          <pc:docMk/>
          <pc:sldMk cId="4146182703" sldId="304"/>
        </pc:sldMkLst>
      </pc:sldChg>
      <pc:sldChg chg="ord">
        <pc:chgData name="Vinayak 1. Sharma (Nokia)" userId="S::vinayak.1.sharma@nokia.com::9209eadf-4db5-4690-9736-974db43a44ba" providerId="AD" clId="Web-{54D861D0-02AE-4C20-5878-E84C125521E6}" dt="2024-01-26T10:38:45.977" v="2"/>
        <pc:sldMkLst>
          <pc:docMk/>
          <pc:sldMk cId="951441641" sldId="306"/>
        </pc:sldMkLst>
      </pc:sldChg>
      <pc:sldChg chg="ord">
        <pc:chgData name="Vinayak 1. Sharma (Nokia)" userId="S::vinayak.1.sharma@nokia.com::9209eadf-4db5-4690-9736-974db43a44ba" providerId="AD" clId="Web-{54D861D0-02AE-4C20-5878-E84C125521E6}" dt="2024-01-26T10:38:45.977" v="1"/>
        <pc:sldMkLst>
          <pc:docMk/>
          <pc:sldMk cId="1039281555" sldId="307"/>
        </pc:sldMkLst>
      </pc:sldChg>
      <pc:sldChg chg="ord">
        <pc:chgData name="Vinayak 1. Sharma (Nokia)" userId="S::vinayak.1.sharma@nokia.com::9209eadf-4db5-4690-9736-974db43a44ba" providerId="AD" clId="Web-{54D861D0-02AE-4C20-5878-E84C125521E6}" dt="2024-01-26T10:38:45.977" v="3"/>
        <pc:sldMkLst>
          <pc:docMk/>
          <pc:sldMk cId="3683321942" sldId="313"/>
        </pc:sldMkLst>
      </pc:sldChg>
      <pc:sldChg chg="ord">
        <pc:chgData name="Vinayak 1. Sharma (Nokia)" userId="S::vinayak.1.sharma@nokia.com::9209eadf-4db5-4690-9736-974db43a44ba" providerId="AD" clId="Web-{54D861D0-02AE-4C20-5878-E84C125521E6}" dt="2024-01-26T10:38:45.977" v="0"/>
        <pc:sldMkLst>
          <pc:docMk/>
          <pc:sldMk cId="1037449785" sldId="315"/>
        </pc:sldMkLst>
      </pc:sldChg>
    </pc:docChg>
  </pc:docChgLst>
  <pc:docChgLst>
    <pc:chgData name="Avidi Satyanarayana (Nokia)" userId="S::avidi.satyanarayana@nokia.com::a6e36ecb-7d0e-4852-95f9-f497103d5976" providerId="AD" clId="Web-{49FA573C-6A59-1CE1-EBFC-B615DE80B07C}"/>
    <pc:docChg chg="modSld">
      <pc:chgData name="Avidi Satyanarayana (Nokia)" userId="S::avidi.satyanarayana@nokia.com::a6e36ecb-7d0e-4852-95f9-f497103d5976" providerId="AD" clId="Web-{49FA573C-6A59-1CE1-EBFC-B615DE80B07C}" dt="2023-07-17T16:58:06.865" v="3" actId="1076"/>
      <pc:docMkLst>
        <pc:docMk/>
      </pc:docMkLst>
      <pc:sldChg chg="modSp">
        <pc:chgData name="Avidi Satyanarayana (Nokia)" userId="S::avidi.satyanarayana@nokia.com::a6e36ecb-7d0e-4852-95f9-f497103d5976" providerId="AD" clId="Web-{49FA573C-6A59-1CE1-EBFC-B615DE80B07C}" dt="2023-07-17T16:58:06.865" v="3" actId="1076"/>
        <pc:sldMkLst>
          <pc:docMk/>
          <pc:sldMk cId="3489332954" sldId="282"/>
        </pc:sldMkLst>
        <pc:picChg chg="mod">
          <ac:chgData name="Avidi Satyanarayana (Nokia)" userId="S::avidi.satyanarayana@nokia.com::a6e36ecb-7d0e-4852-95f9-f497103d5976" providerId="AD" clId="Web-{49FA573C-6A59-1CE1-EBFC-B615DE80B07C}" dt="2023-07-17T16:58:06.865" v="3" actId="1076"/>
          <ac:picMkLst>
            <pc:docMk/>
            <pc:sldMk cId="3489332954" sldId="282"/>
            <ac:picMk id="4" creationId="{00000000-0000-0000-0000-000000000000}"/>
          </ac:picMkLst>
        </pc:picChg>
      </pc:sldChg>
      <pc:sldChg chg="modSp">
        <pc:chgData name="Avidi Satyanarayana (Nokia)" userId="S::avidi.satyanarayana@nokia.com::a6e36ecb-7d0e-4852-95f9-f497103d5976" providerId="AD" clId="Web-{49FA573C-6A59-1CE1-EBFC-B615DE80B07C}" dt="2023-07-17T16:56:05.063" v="2" actId="1076"/>
        <pc:sldMkLst>
          <pc:docMk/>
          <pc:sldMk cId="4146182703" sldId="304"/>
        </pc:sldMkLst>
        <pc:spChg chg="mod">
          <ac:chgData name="Avidi Satyanarayana (Nokia)" userId="S::avidi.satyanarayana@nokia.com::a6e36ecb-7d0e-4852-95f9-f497103d5976" providerId="AD" clId="Web-{49FA573C-6A59-1CE1-EBFC-B615DE80B07C}" dt="2023-07-17T16:56:05.063" v="2" actId="1076"/>
          <ac:spMkLst>
            <pc:docMk/>
            <pc:sldMk cId="4146182703" sldId="304"/>
            <ac:spMk id="344106" creationId="{00000000-0000-0000-0000-000000000000}"/>
          </ac:spMkLst>
        </pc:spChg>
      </pc:sldChg>
      <pc:sldChg chg="modSp">
        <pc:chgData name="Avidi Satyanarayana (Nokia)" userId="S::avidi.satyanarayana@nokia.com::a6e36ecb-7d0e-4852-95f9-f497103d5976" providerId="AD" clId="Web-{49FA573C-6A59-1CE1-EBFC-B615DE80B07C}" dt="2023-07-17T16:55:00.530" v="1" actId="1076"/>
        <pc:sldMkLst>
          <pc:docMk/>
          <pc:sldMk cId="951441641" sldId="306"/>
        </pc:sldMkLst>
        <pc:spChg chg="mod">
          <ac:chgData name="Avidi Satyanarayana (Nokia)" userId="S::avidi.satyanarayana@nokia.com::a6e36ecb-7d0e-4852-95f9-f497103d5976" providerId="AD" clId="Web-{49FA573C-6A59-1CE1-EBFC-B615DE80B07C}" dt="2023-07-17T16:55:00.530" v="1" actId="1076"/>
          <ac:spMkLst>
            <pc:docMk/>
            <pc:sldMk cId="951441641" sldId="306"/>
            <ac:spMk id="8194" creationId="{00000000-0000-0000-0000-000000000000}"/>
          </ac:spMkLst>
        </pc:spChg>
      </pc:sldChg>
    </pc:docChg>
  </pc:docChgLst>
  <pc:docChgLst>
    <pc:chgData name="Jianchun Zhang (Nokia)" userId="S::jianchun.zhang@nokia.com::6b199f06-e14a-4b7c-a6e3-1f81995456ec" providerId="AD" clId="Web-{1FB83212-34F2-31B2-71D0-A1B54DC830CC}"/>
    <pc:docChg chg="sldOrd">
      <pc:chgData name="Jianchun Zhang (Nokia)" userId="S::jianchun.zhang@nokia.com::6b199f06-e14a-4b7c-a6e3-1f81995456ec" providerId="AD" clId="Web-{1FB83212-34F2-31B2-71D0-A1B54DC830CC}" dt="2023-08-24T10:36:17.980" v="0"/>
      <pc:docMkLst>
        <pc:docMk/>
      </pc:docMkLst>
      <pc:sldChg chg="ord">
        <pc:chgData name="Jianchun Zhang (Nokia)" userId="S::jianchun.zhang@nokia.com::6b199f06-e14a-4b7c-a6e3-1f81995456ec" providerId="AD" clId="Web-{1FB83212-34F2-31B2-71D0-A1B54DC830CC}" dt="2023-08-24T10:36:17.980" v="0"/>
        <pc:sldMkLst>
          <pc:docMk/>
          <pc:sldMk cId="1458568572" sldId="312"/>
        </pc:sldMkLst>
      </pc:sldChg>
    </pc:docChg>
  </pc:docChgLst>
  <pc:docChgLst>
    <pc:chgData name="Mishra, Kaushal (Nokia - IN/Noida)" userId="S::kaushal.mishra@nokia.com::835af376-b843-4e95-9fac-843d8722bf95" providerId="AD" clId="Web-{65D80E66-0637-2270-5DC0-AAA5AF28A659}"/>
    <pc:docChg chg="modSld">
      <pc:chgData name="Mishra, Kaushal (Nokia - IN/Noida)" userId="S::kaushal.mishra@nokia.com::835af376-b843-4e95-9fac-843d8722bf95" providerId="AD" clId="Web-{65D80E66-0637-2270-5DC0-AAA5AF28A659}" dt="2022-09-02T06:34:33.170" v="3" actId="1076"/>
      <pc:docMkLst>
        <pc:docMk/>
      </pc:docMkLst>
      <pc:sldChg chg="modSp">
        <pc:chgData name="Mishra, Kaushal (Nokia - IN/Noida)" userId="S::kaushal.mishra@nokia.com::835af376-b843-4e95-9fac-843d8722bf95" providerId="AD" clId="Web-{65D80E66-0637-2270-5DC0-AAA5AF28A659}" dt="2022-09-02T06:34:33.170" v="3" actId="1076"/>
        <pc:sldMkLst>
          <pc:docMk/>
          <pc:sldMk cId="4156205147" sldId="302"/>
        </pc:sldMkLst>
        <pc:cxnChg chg="mod">
          <ac:chgData name="Mishra, Kaushal (Nokia - IN/Noida)" userId="S::kaushal.mishra@nokia.com::835af376-b843-4e95-9fac-843d8722bf95" providerId="AD" clId="Web-{65D80E66-0637-2270-5DC0-AAA5AF28A659}" dt="2022-09-02T06:34:33.170" v="3" actId="1076"/>
          <ac:cxnSpMkLst>
            <pc:docMk/>
            <pc:sldMk cId="4156205147" sldId="302"/>
            <ac:cxnSpMk id="148" creationId="{00000000-0000-0000-0000-000000000000}"/>
          </ac:cxnSpMkLst>
        </pc:cxnChg>
      </pc:sldChg>
      <pc:sldChg chg="modSp">
        <pc:chgData name="Mishra, Kaushal (Nokia - IN/Noida)" userId="S::kaushal.mishra@nokia.com::835af376-b843-4e95-9fac-843d8722bf95" providerId="AD" clId="Web-{65D80E66-0637-2270-5DC0-AAA5AF28A659}" dt="2022-09-02T06:30:43.234" v="2" actId="1076"/>
        <pc:sldMkLst>
          <pc:docMk/>
          <pc:sldMk cId="1458568572" sldId="312"/>
        </pc:sldMkLst>
        <pc:picChg chg="mod">
          <ac:chgData name="Mishra, Kaushal (Nokia - IN/Noida)" userId="S::kaushal.mishra@nokia.com::835af376-b843-4e95-9fac-843d8722bf95" providerId="AD" clId="Web-{65D80E66-0637-2270-5DC0-AAA5AF28A659}" dt="2022-09-02T06:30:43.234" v="2" actId="1076"/>
          <ac:picMkLst>
            <pc:docMk/>
            <pc:sldMk cId="1458568572" sldId="312"/>
            <ac:picMk id="4" creationId="{00000000-0000-0000-0000-000000000000}"/>
          </ac:picMkLst>
        </pc:picChg>
      </pc:sldChg>
    </pc:docChg>
  </pc:docChgLst>
  <pc:docChgLst>
    <pc:chgData name="Vidi Lino (Nokia)" userId="S::vidi.lino@nokia.com::373414b2-7097-4c64-b6e0-8706e47b45e6" providerId="AD" clId="Web-{CA9193B4-9008-A881-5BCB-7F940A687533}"/>
    <pc:docChg chg="sldOrd">
      <pc:chgData name="Vidi Lino (Nokia)" userId="S::vidi.lino@nokia.com::373414b2-7097-4c64-b6e0-8706e47b45e6" providerId="AD" clId="Web-{CA9193B4-9008-A881-5BCB-7F940A687533}" dt="2023-05-30T15:12:08.885" v="0"/>
      <pc:docMkLst>
        <pc:docMk/>
      </pc:docMkLst>
      <pc:sldChg chg="ord">
        <pc:chgData name="Vidi Lino (Nokia)" userId="S::vidi.lino@nokia.com::373414b2-7097-4c64-b6e0-8706e47b45e6" providerId="AD" clId="Web-{CA9193B4-9008-A881-5BCB-7F940A687533}" dt="2023-05-30T15:12:08.885" v="0"/>
        <pc:sldMkLst>
          <pc:docMk/>
          <pc:sldMk cId="4133041693" sldId="316"/>
        </pc:sldMkLst>
      </pc:sldChg>
    </pc:docChg>
  </pc:docChgLst>
  <pc:docChgLst>
    <pc:chgData name="Tomasz Maciejewski (Nokia)" userId="S::tomasz.maciejewski@nokia.com::180cb23b-7034-4711-b4ed-941ebdc0de31" providerId="AD" clId="Web-{767D0AA7-E0D1-85C3-E835-3957A8D7DC63}"/>
    <pc:docChg chg="sldOrd">
      <pc:chgData name="Tomasz Maciejewski (Nokia)" userId="S::tomasz.maciejewski@nokia.com::180cb23b-7034-4711-b4ed-941ebdc0de31" providerId="AD" clId="Web-{767D0AA7-E0D1-85C3-E835-3957A8D7DC63}" dt="2023-11-02T10:37:37.770" v="0"/>
      <pc:docMkLst>
        <pc:docMk/>
      </pc:docMkLst>
      <pc:sldChg chg="ord">
        <pc:chgData name="Tomasz Maciejewski (Nokia)" userId="S::tomasz.maciejewski@nokia.com::180cb23b-7034-4711-b4ed-941ebdc0de31" providerId="AD" clId="Web-{767D0AA7-E0D1-85C3-E835-3957A8D7DC63}" dt="2023-11-02T10:37:37.770" v="0"/>
        <pc:sldMkLst>
          <pc:docMk/>
          <pc:sldMk cId="1458568572" sldId="312"/>
        </pc:sldMkLst>
      </pc:sldChg>
    </pc:docChg>
  </pc:docChgLst>
  <pc:docChgLst>
    <pc:chgData name="Jibu George (EXT-Nokia)" userId="S::jibu.george.ext@nokia.com::dd8b4f39-a3b8-41a6-a0fd-64422c46fd41" providerId="AD" clId="Web-{61A758D0-C3B1-FD01-54D0-55DE15459F14}"/>
    <pc:docChg chg="sldOrd">
      <pc:chgData name="Jibu George (EXT-Nokia)" userId="S::jibu.george.ext@nokia.com::dd8b4f39-a3b8-41a6-a0fd-64422c46fd41" providerId="AD" clId="Web-{61A758D0-C3B1-FD01-54D0-55DE15459F14}" dt="2023-10-23T05:42:27.400" v="0"/>
      <pc:docMkLst>
        <pc:docMk/>
      </pc:docMkLst>
      <pc:sldChg chg="ord">
        <pc:chgData name="Jibu George (EXT-Nokia)" userId="S::jibu.george.ext@nokia.com::dd8b4f39-a3b8-41a6-a0fd-64422c46fd41" providerId="AD" clId="Web-{61A758D0-C3B1-FD01-54D0-55DE15459F14}" dt="2023-10-23T05:42:27.400" v="0"/>
        <pc:sldMkLst>
          <pc:docMk/>
          <pc:sldMk cId="3683321942" sldId="313"/>
        </pc:sldMkLst>
      </pc:sldChg>
    </pc:docChg>
  </pc:docChgLst>
  <pc:docChgLst>
    <pc:chgData name="Sami Khcharem (EXT-Nokia)" userId="S::sami.khcharem.ext@nokia.com::d74530cf-f5a7-485e-bcf7-cd14685afb12" providerId="AD" clId="Web-{640E16D9-F526-4645-B763-9840E3236C2C}"/>
    <pc:docChg chg="modSld">
      <pc:chgData name="Sami Khcharem (EXT-Nokia)" userId="S::sami.khcharem.ext@nokia.com::d74530cf-f5a7-485e-bcf7-cd14685afb12" providerId="AD" clId="Web-{640E16D9-F526-4645-B763-9840E3236C2C}" dt="2023-06-21T11:41:45.676" v="7" actId="1076"/>
      <pc:docMkLst>
        <pc:docMk/>
      </pc:docMkLst>
      <pc:sldChg chg="modSp">
        <pc:chgData name="Sami Khcharem (EXT-Nokia)" userId="S::sami.khcharem.ext@nokia.com::d74530cf-f5a7-485e-bcf7-cd14685afb12" providerId="AD" clId="Web-{640E16D9-F526-4645-B763-9840E3236C2C}" dt="2023-06-21T11:41:45.676" v="7" actId="1076"/>
        <pc:sldMkLst>
          <pc:docMk/>
          <pc:sldMk cId="3683321942" sldId="313"/>
        </pc:sldMkLst>
        <pc:spChg chg="mod">
          <ac:chgData name="Sami Khcharem (EXT-Nokia)" userId="S::sami.khcharem.ext@nokia.com::d74530cf-f5a7-485e-bcf7-cd14685afb12" providerId="AD" clId="Web-{640E16D9-F526-4645-B763-9840E3236C2C}" dt="2023-06-21T11:41:45.676" v="7" actId="1076"/>
          <ac:spMkLst>
            <pc:docMk/>
            <pc:sldMk cId="3683321942" sldId="313"/>
            <ac:spMk id="2" creationId="{00000000-0000-0000-0000-000000000000}"/>
          </ac:spMkLst>
        </pc:spChg>
        <pc:spChg chg="mod">
          <ac:chgData name="Sami Khcharem (EXT-Nokia)" userId="S::sami.khcharem.ext@nokia.com::d74530cf-f5a7-485e-bcf7-cd14685afb12" providerId="AD" clId="Web-{640E16D9-F526-4645-B763-9840E3236C2C}" dt="2023-06-21T11:41:28.144" v="2" actId="1076"/>
          <ac:spMkLst>
            <pc:docMk/>
            <pc:sldMk cId="3683321942" sldId="313"/>
            <ac:spMk id="5" creationId="{00000000-0000-0000-0000-000000000000}"/>
          </ac:spMkLst>
        </pc:spChg>
        <pc:picChg chg="mod">
          <ac:chgData name="Sami Khcharem (EXT-Nokia)" userId="S::sami.khcharem.ext@nokia.com::d74530cf-f5a7-485e-bcf7-cd14685afb12" providerId="AD" clId="Web-{640E16D9-F526-4645-B763-9840E3236C2C}" dt="2023-06-21T11:41:45.660" v="6" actId="1076"/>
          <ac:picMkLst>
            <pc:docMk/>
            <pc:sldMk cId="3683321942" sldId="313"/>
            <ac:picMk id="4" creationId="{00000000-0000-0000-0000-000000000000}"/>
          </ac:picMkLst>
        </pc:picChg>
      </pc:sldChg>
    </pc:docChg>
  </pc:docChgLst>
  <pc:docChgLst>
    <pc:chgData name="Nelson Totona (Nokia)" userId="S::nelson.totona@nokia.com::a76a22d3-71ae-4de3-9003-73d906b5928f" providerId="AD" clId="Web-{61DE01D3-7821-45DF-E076-A851EE4B84F9}"/>
    <pc:docChg chg="modSld">
      <pc:chgData name="Nelson Totona (Nokia)" userId="S::nelson.totona@nokia.com::a76a22d3-71ae-4de3-9003-73d906b5928f" providerId="AD" clId="Web-{61DE01D3-7821-45DF-E076-A851EE4B84F9}" dt="2023-10-19T15:38:49.859" v="0" actId="1076"/>
      <pc:docMkLst>
        <pc:docMk/>
      </pc:docMkLst>
      <pc:sldChg chg="modSp">
        <pc:chgData name="Nelson Totona (Nokia)" userId="S::nelson.totona@nokia.com::a76a22d3-71ae-4de3-9003-73d906b5928f" providerId="AD" clId="Web-{61DE01D3-7821-45DF-E076-A851EE4B84F9}" dt="2023-10-19T15:38:49.859" v="0" actId="1076"/>
        <pc:sldMkLst>
          <pc:docMk/>
          <pc:sldMk cId="2469835673" sldId="301"/>
        </pc:sldMkLst>
        <pc:spChg chg="mod">
          <ac:chgData name="Nelson Totona (Nokia)" userId="S::nelson.totona@nokia.com::a76a22d3-71ae-4de3-9003-73d906b5928f" providerId="AD" clId="Web-{61DE01D3-7821-45DF-E076-A851EE4B84F9}" dt="2023-10-19T15:38:49.859" v="0" actId="1076"/>
          <ac:spMkLst>
            <pc:docMk/>
            <pc:sldMk cId="2469835673" sldId="301"/>
            <ac:spMk id="67" creationId="{00000000-0000-0000-0000-000000000000}"/>
          </ac:spMkLst>
        </pc:spChg>
      </pc:sldChg>
    </pc:docChg>
  </pc:docChgLst>
  <pc:docChgLst>
    <pc:chgData name="Mohammad Alam" userId="cb1b7e4f-628e-4cc1-ad6a-eda77dd783e2" providerId="ADAL" clId="{04B7E7A5-4D57-1642-86EA-752DC1C30E08}"/>
    <pc:docChg chg="addSld">
      <pc:chgData name="Mohammad Alam" userId="cb1b7e4f-628e-4cc1-ad6a-eda77dd783e2" providerId="ADAL" clId="{04B7E7A5-4D57-1642-86EA-752DC1C30E08}" dt="2022-11-08T11:41:29.338" v="0" actId="680"/>
      <pc:docMkLst>
        <pc:docMk/>
      </pc:docMkLst>
      <pc:sldChg chg="new">
        <pc:chgData name="Mohammad Alam" userId="cb1b7e4f-628e-4cc1-ad6a-eda77dd783e2" providerId="ADAL" clId="{04B7E7A5-4D57-1642-86EA-752DC1C30E08}" dt="2022-11-08T11:41:29.338" v="0" actId="680"/>
        <pc:sldMkLst>
          <pc:docMk/>
          <pc:sldMk cId="1456077153" sldId="320"/>
        </pc:sldMkLst>
      </pc:sldChg>
    </pc:docChg>
  </pc:docChgLst>
  <pc:docChgLst>
    <pc:chgData name="Leandro Messina (Nokia)" userId="S::leandro.messina@nokia.com::15d9f9f6-10c0-4423-8188-224aa334fd40" providerId="AD" clId="Web-{B41B178D-EF75-52A8-1A98-000AB6DBB860}"/>
    <pc:docChg chg="sldOrd">
      <pc:chgData name="Leandro Messina (Nokia)" userId="S::leandro.messina@nokia.com::15d9f9f6-10c0-4423-8188-224aa334fd40" providerId="AD" clId="Web-{B41B178D-EF75-52A8-1A98-000AB6DBB860}" dt="2023-09-04T18:57:02.147" v="0"/>
      <pc:docMkLst>
        <pc:docMk/>
      </pc:docMkLst>
      <pc:sldChg chg="ord">
        <pc:chgData name="Leandro Messina (Nokia)" userId="S::leandro.messina@nokia.com::15d9f9f6-10c0-4423-8188-224aa334fd40" providerId="AD" clId="Web-{B41B178D-EF75-52A8-1A98-000AB6DBB860}" dt="2023-09-04T18:57:02.147" v="0"/>
        <pc:sldMkLst>
          <pc:docMk/>
          <pc:sldMk cId="1456077153" sldId="32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6F0B97A-9E42-4F4A-B90A-309171906FC6}" type="datetimeFigureOut">
              <a:rPr lang="en-US" smtClean="0"/>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9792C3-6E10-4F41-9671-73071E2D6E91}" type="slidenum">
              <a:rPr lang="en-US" smtClean="0"/>
              <a:t>‹#›</a:t>
            </a:fld>
            <a:endParaRPr lang="en-US"/>
          </a:p>
        </p:txBody>
      </p:sp>
    </p:spTree>
    <p:extLst>
      <p:ext uri="{BB962C8B-B14F-4D97-AF65-F5344CB8AC3E}">
        <p14:creationId xmlns:p14="http://schemas.microsoft.com/office/powerpoint/2010/main" val="3175554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F0B97A-9E42-4F4A-B90A-309171906FC6}" type="datetimeFigureOut">
              <a:rPr lang="en-US" smtClean="0"/>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9792C3-6E10-4F41-9671-73071E2D6E91}" type="slidenum">
              <a:rPr lang="en-US" smtClean="0"/>
              <a:t>‹#›</a:t>
            </a:fld>
            <a:endParaRPr lang="en-US"/>
          </a:p>
        </p:txBody>
      </p:sp>
    </p:spTree>
    <p:extLst>
      <p:ext uri="{BB962C8B-B14F-4D97-AF65-F5344CB8AC3E}">
        <p14:creationId xmlns:p14="http://schemas.microsoft.com/office/powerpoint/2010/main" val="573028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F0B97A-9E42-4F4A-B90A-309171906FC6}" type="datetimeFigureOut">
              <a:rPr lang="en-US" smtClean="0"/>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9792C3-6E10-4F41-9671-73071E2D6E91}" type="slidenum">
              <a:rPr lang="en-US" smtClean="0"/>
              <a:t>‹#›</a:t>
            </a:fld>
            <a:endParaRPr lang="en-US"/>
          </a:p>
        </p:txBody>
      </p:sp>
    </p:spTree>
    <p:extLst>
      <p:ext uri="{BB962C8B-B14F-4D97-AF65-F5344CB8AC3E}">
        <p14:creationId xmlns:p14="http://schemas.microsoft.com/office/powerpoint/2010/main" val="500925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6F0B97A-9E42-4F4A-B90A-309171906FC6}" type="datetimeFigureOut">
              <a:rPr lang="en-US" smtClean="0"/>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9792C3-6E10-4F41-9671-73071E2D6E91}" type="slidenum">
              <a:rPr lang="en-US" smtClean="0"/>
              <a:t>‹#›</a:t>
            </a:fld>
            <a:endParaRPr lang="en-US"/>
          </a:p>
        </p:txBody>
      </p:sp>
    </p:spTree>
    <p:extLst>
      <p:ext uri="{BB962C8B-B14F-4D97-AF65-F5344CB8AC3E}">
        <p14:creationId xmlns:p14="http://schemas.microsoft.com/office/powerpoint/2010/main" val="2157330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6F0B97A-9E42-4F4A-B90A-309171906FC6}" type="datetimeFigureOut">
              <a:rPr lang="en-US" smtClean="0"/>
              <a:t>1/26/2024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9792C3-6E10-4F41-9671-73071E2D6E91}" type="slidenum">
              <a:rPr lang="en-US" smtClean="0"/>
              <a:t>‹#›</a:t>
            </a:fld>
            <a:endParaRPr lang="en-US"/>
          </a:p>
        </p:txBody>
      </p:sp>
    </p:spTree>
    <p:extLst>
      <p:ext uri="{BB962C8B-B14F-4D97-AF65-F5344CB8AC3E}">
        <p14:creationId xmlns:p14="http://schemas.microsoft.com/office/powerpoint/2010/main" val="556067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6F0B97A-9E42-4F4A-B90A-309171906FC6}" type="datetimeFigureOut">
              <a:rPr lang="en-US" smtClean="0"/>
              <a:t>1/26/2024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9792C3-6E10-4F41-9671-73071E2D6E91}" type="slidenum">
              <a:rPr lang="en-US" smtClean="0"/>
              <a:t>‹#›</a:t>
            </a:fld>
            <a:endParaRPr lang="en-US"/>
          </a:p>
        </p:txBody>
      </p:sp>
    </p:spTree>
    <p:extLst>
      <p:ext uri="{BB962C8B-B14F-4D97-AF65-F5344CB8AC3E}">
        <p14:creationId xmlns:p14="http://schemas.microsoft.com/office/powerpoint/2010/main" val="841564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F0B97A-9E42-4F4A-B90A-309171906FC6}" type="datetimeFigureOut">
              <a:rPr lang="en-US" smtClean="0"/>
              <a:t>1/26/2024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9792C3-6E10-4F41-9671-73071E2D6E91}" type="slidenum">
              <a:rPr lang="en-US" smtClean="0"/>
              <a:t>‹#›</a:t>
            </a:fld>
            <a:endParaRPr lang="en-US"/>
          </a:p>
        </p:txBody>
      </p:sp>
    </p:spTree>
    <p:extLst>
      <p:ext uri="{BB962C8B-B14F-4D97-AF65-F5344CB8AC3E}">
        <p14:creationId xmlns:p14="http://schemas.microsoft.com/office/powerpoint/2010/main" val="26228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6F0B97A-9E42-4F4A-B90A-309171906FC6}" type="datetimeFigureOut">
              <a:rPr lang="en-US" smtClean="0"/>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9792C3-6E10-4F41-9671-73071E2D6E91}" type="slidenum">
              <a:rPr lang="en-US" smtClean="0"/>
              <a:t>‹#›</a:t>
            </a:fld>
            <a:endParaRPr lang="en-US"/>
          </a:p>
        </p:txBody>
      </p:sp>
    </p:spTree>
    <p:extLst>
      <p:ext uri="{BB962C8B-B14F-4D97-AF65-F5344CB8AC3E}">
        <p14:creationId xmlns:p14="http://schemas.microsoft.com/office/powerpoint/2010/main" val="1824141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6F0B97A-9E42-4F4A-B90A-309171906FC6}" type="datetimeFigureOut">
              <a:rPr lang="en-US" smtClean="0"/>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9792C3-6E10-4F41-9671-73071E2D6E91}" type="slidenum">
              <a:rPr lang="en-US" smtClean="0"/>
              <a:t>‹#›</a:t>
            </a:fld>
            <a:endParaRPr lang="en-US"/>
          </a:p>
        </p:txBody>
      </p:sp>
    </p:spTree>
    <p:extLst>
      <p:ext uri="{BB962C8B-B14F-4D97-AF65-F5344CB8AC3E}">
        <p14:creationId xmlns:p14="http://schemas.microsoft.com/office/powerpoint/2010/main" val="3944094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F0B97A-9E42-4F4A-B90A-309171906FC6}" type="datetimeFigureOut">
              <a:rPr lang="en-US" smtClean="0"/>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9792C3-6E10-4F41-9671-73071E2D6E91}" type="slidenum">
              <a:rPr lang="en-US" smtClean="0"/>
              <a:t>‹#›</a:t>
            </a:fld>
            <a:endParaRPr lang="en-US"/>
          </a:p>
        </p:txBody>
      </p:sp>
    </p:spTree>
    <p:extLst>
      <p:ext uri="{BB962C8B-B14F-4D97-AF65-F5344CB8AC3E}">
        <p14:creationId xmlns:p14="http://schemas.microsoft.com/office/powerpoint/2010/main" val="669637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F0B97A-9E42-4F4A-B90A-309171906FC6}" type="datetimeFigureOut">
              <a:rPr lang="en-US" smtClean="0"/>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9792C3-6E10-4F41-9671-73071E2D6E91}" type="slidenum">
              <a:rPr lang="en-US" smtClean="0"/>
              <a:t>‹#›</a:t>
            </a:fld>
            <a:endParaRPr lang="en-US"/>
          </a:p>
        </p:txBody>
      </p:sp>
    </p:spTree>
    <p:extLst>
      <p:ext uri="{BB962C8B-B14F-4D97-AF65-F5344CB8AC3E}">
        <p14:creationId xmlns:p14="http://schemas.microsoft.com/office/powerpoint/2010/main" val="3536504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F0B97A-9E42-4F4A-B90A-309171906FC6}" type="datetimeFigureOut">
              <a:rPr lang="en-US" smtClean="0"/>
              <a:t>1/26/2024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9792C3-6E10-4F41-9671-73071E2D6E91}" type="slidenum">
              <a:rPr lang="en-US" smtClean="0"/>
              <a:t>‹#›</a:t>
            </a:fld>
            <a:endParaRPr lang="en-US"/>
          </a:p>
        </p:txBody>
      </p:sp>
    </p:spTree>
    <p:extLst>
      <p:ext uri="{BB962C8B-B14F-4D97-AF65-F5344CB8AC3E}">
        <p14:creationId xmlns:p14="http://schemas.microsoft.com/office/powerpoint/2010/main" val="34801932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al4b.cpi.ericsson.net/cpix/ak/alexserv?ID=22741&amp;AC=SEARCH&amp;SS=DATABASE&amp;ST=TITLE&amp;PA=%22class%20UeMeasControl%22&amp;LD=1&amp;CH=allowReleaseQci1" TargetMode="External"/><Relationship Id="rId2" Type="http://schemas.openxmlformats.org/officeDocument/2006/relationships/hyperlink" Target="https://al4b.cpi.ericsson.net/cpix/ak/alexserv?ID=22741&amp;AC=SEARCH&amp;SS=DATABASE&amp;ST=TITLE&amp;PA=%22class%20ExternalUtranCellFDD%22&amp;LD=1&amp;CH=srvccCapability"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98241" y="2739154"/>
            <a:ext cx="9144000" cy="815415"/>
          </a:xfrm>
        </p:spPr>
        <p:txBody>
          <a:bodyPr>
            <a:normAutofit/>
          </a:bodyPr>
          <a:lstStyle/>
          <a:p>
            <a:r>
              <a:rPr lang="en-US" sz="4800" err="1"/>
              <a:t>VoLTE</a:t>
            </a:r>
            <a:r>
              <a:rPr lang="en-US" sz="4800"/>
              <a:t> Basics and Call Flow</a:t>
            </a:r>
          </a:p>
        </p:txBody>
      </p:sp>
    </p:spTree>
    <p:extLst>
      <p:ext uri="{BB962C8B-B14F-4D97-AF65-F5344CB8AC3E}">
        <p14:creationId xmlns:p14="http://schemas.microsoft.com/office/powerpoint/2010/main" val="480838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3940" y="732917"/>
            <a:ext cx="11822806" cy="6047809"/>
          </a:xfrm>
          <a:prstGeom prst="rect">
            <a:avLst/>
          </a:prstGeom>
          <a:ln>
            <a:solidFill>
              <a:srgbClr val="FFC000"/>
            </a:solidFill>
          </a:ln>
        </p:spPr>
        <p:txBody>
          <a:bodyPr wrap="square">
            <a:spAutoFit/>
          </a:bodyPr>
          <a:lstStyle/>
          <a:p>
            <a:r>
              <a:rPr lang="en-US" sz="1700">
                <a:latin typeface="Times New Roman" panose="02020603050405020304" pitchFamily="18" charset="0"/>
                <a:ea typeface="Times New Roman" panose="02020603050405020304" pitchFamily="18" charset="0"/>
              </a:rPr>
              <a:t>VoIP is the generic term: anything carried over IP packets can count, including Skype, Facetime or other services.</a:t>
            </a:r>
            <a:br>
              <a:rPr lang="en-US" sz="1700">
                <a:latin typeface="Times New Roman" panose="02020603050405020304" pitchFamily="18" charset="0"/>
                <a:ea typeface="Times New Roman" panose="02020603050405020304" pitchFamily="18" charset="0"/>
              </a:rPr>
            </a:br>
            <a:br>
              <a:rPr lang="en-US" sz="1700">
                <a:latin typeface="Times New Roman" panose="02020603050405020304" pitchFamily="18" charset="0"/>
                <a:ea typeface="Times New Roman" panose="02020603050405020304" pitchFamily="18" charset="0"/>
              </a:rPr>
            </a:br>
            <a:r>
              <a:rPr lang="en-US" sz="1700">
                <a:latin typeface="Times New Roman" panose="02020603050405020304" pitchFamily="18" charset="0"/>
                <a:ea typeface="Times New Roman" panose="02020603050405020304" pitchFamily="18" charset="0"/>
              </a:rPr>
              <a:t>Packets are packets and the only thing that knows they are voice is the application that receives than &amp; processes them </a:t>
            </a:r>
            <a:r>
              <a:rPr lang="en-US" sz="1700" err="1">
                <a:latin typeface="Times New Roman" panose="02020603050405020304" pitchFamily="18" charset="0"/>
                <a:ea typeface="Times New Roman" panose="02020603050405020304" pitchFamily="18" charset="0"/>
              </a:rPr>
              <a:t>eg</a:t>
            </a:r>
            <a:r>
              <a:rPr lang="en-US" sz="1700">
                <a:latin typeface="Times New Roman" panose="02020603050405020304" pitchFamily="18" charset="0"/>
                <a:ea typeface="Times New Roman" panose="02020603050405020304" pitchFamily="18" charset="0"/>
              </a:rPr>
              <a:t> your Skype app. </a:t>
            </a:r>
            <a:br>
              <a:rPr lang="en-US" sz="1700">
                <a:latin typeface="Times New Roman" panose="02020603050405020304" pitchFamily="18" charset="0"/>
                <a:ea typeface="Times New Roman" panose="02020603050405020304" pitchFamily="18" charset="0"/>
              </a:rPr>
            </a:br>
            <a:br>
              <a:rPr lang="en-US" sz="1700">
                <a:latin typeface="Times New Roman" panose="02020603050405020304" pitchFamily="18" charset="0"/>
                <a:ea typeface="Times New Roman" panose="02020603050405020304" pitchFamily="18" charset="0"/>
              </a:rPr>
            </a:br>
            <a:r>
              <a:rPr lang="en-US" sz="1700" b="1" err="1">
                <a:solidFill>
                  <a:srgbClr val="0070C0"/>
                </a:solidFill>
                <a:latin typeface="Times New Roman" panose="02020603050405020304" pitchFamily="18" charset="0"/>
                <a:ea typeface="Times New Roman" panose="02020603050405020304" pitchFamily="18" charset="0"/>
              </a:rPr>
              <a:t>VoLTE</a:t>
            </a:r>
            <a:r>
              <a:rPr lang="en-US" sz="1700" b="1">
                <a:solidFill>
                  <a:srgbClr val="0070C0"/>
                </a:solidFill>
                <a:latin typeface="Times New Roman" panose="02020603050405020304" pitchFamily="18" charset="0"/>
                <a:ea typeface="Times New Roman" panose="02020603050405020304" pitchFamily="18" charset="0"/>
              </a:rPr>
              <a:t> is a specific type of VoIP designed into the LTE standard</a:t>
            </a:r>
            <a:r>
              <a:rPr lang="en-US" sz="1700">
                <a:latin typeface="Times New Roman" panose="02020603050405020304" pitchFamily="18" charset="0"/>
                <a:ea typeface="Times New Roman" panose="02020603050405020304" pitchFamily="18" charset="0"/>
              </a:rPr>
              <a:t>, so it has lots of very specific optimizations and accelerations. </a:t>
            </a:r>
            <a:br>
              <a:rPr lang="en-US" sz="1700">
                <a:latin typeface="Times New Roman" panose="02020603050405020304" pitchFamily="18" charset="0"/>
                <a:ea typeface="Times New Roman" panose="02020603050405020304" pitchFamily="18" charset="0"/>
              </a:rPr>
            </a:br>
            <a:br>
              <a:rPr lang="en-US" sz="1700">
                <a:latin typeface="Times New Roman" panose="02020603050405020304" pitchFamily="18" charset="0"/>
                <a:ea typeface="Times New Roman" panose="02020603050405020304" pitchFamily="18" charset="0"/>
              </a:rPr>
            </a:br>
            <a:r>
              <a:rPr lang="en-US" sz="1700">
                <a:latin typeface="Times New Roman" panose="02020603050405020304" pitchFamily="18" charset="0"/>
                <a:ea typeface="Times New Roman" panose="02020603050405020304" pitchFamily="18" charset="0"/>
              </a:rPr>
              <a:t>In effect, the packets are treated as "special" by the whole LTE network. </a:t>
            </a:r>
            <a:br>
              <a:rPr lang="en-US" sz="1700">
                <a:latin typeface="Times New Roman" panose="02020603050405020304" pitchFamily="18" charset="0"/>
                <a:ea typeface="Times New Roman" panose="02020603050405020304" pitchFamily="18" charset="0"/>
              </a:rPr>
            </a:br>
            <a:br>
              <a:rPr lang="en-US" sz="1700">
                <a:latin typeface="Times New Roman" panose="02020603050405020304" pitchFamily="18" charset="0"/>
                <a:ea typeface="Times New Roman" panose="02020603050405020304" pitchFamily="18" charset="0"/>
              </a:rPr>
            </a:br>
            <a:r>
              <a:rPr lang="en-US" sz="1700">
                <a:latin typeface="Times New Roman" panose="02020603050405020304" pitchFamily="18" charset="0"/>
                <a:ea typeface="Times New Roman" panose="02020603050405020304" pitchFamily="18" charset="0"/>
              </a:rPr>
              <a:t>That means it will work better (lower latency, less power, </a:t>
            </a:r>
            <a:r>
              <a:rPr lang="en-US" sz="1700" err="1">
                <a:latin typeface="Times New Roman" panose="02020603050405020304" pitchFamily="18" charset="0"/>
                <a:ea typeface="Times New Roman" panose="02020603050405020304" pitchFamily="18" charset="0"/>
              </a:rPr>
              <a:t>etc</a:t>
            </a:r>
            <a:r>
              <a:rPr lang="en-US" sz="1700">
                <a:latin typeface="Times New Roman" panose="02020603050405020304" pitchFamily="18" charset="0"/>
                <a:ea typeface="Times New Roman" panose="02020603050405020304" pitchFamily="18" charset="0"/>
              </a:rPr>
              <a:t>) - and as you say, be able to handover to other LTE cells or to 3G/2G legacy networks.</a:t>
            </a:r>
            <a:br>
              <a:rPr lang="en-US" sz="1700">
                <a:latin typeface="Times New Roman" panose="02020603050405020304" pitchFamily="18" charset="0"/>
                <a:ea typeface="Times New Roman" panose="02020603050405020304" pitchFamily="18" charset="0"/>
              </a:rPr>
            </a:br>
            <a:endParaRPr lang="en-US" sz="1700">
              <a:latin typeface="Times New Roman" panose="02020603050405020304" pitchFamily="18" charset="0"/>
              <a:ea typeface="Calibri" panose="020F0502020204030204" pitchFamily="34" charset="0"/>
            </a:endParaRPr>
          </a:p>
          <a:p>
            <a:pPr marL="342900" marR="304800" lvl="0" indent="-342900">
              <a:spcBef>
                <a:spcPts val="375"/>
              </a:spcBef>
              <a:spcAft>
                <a:spcPts val="375"/>
              </a:spcAft>
              <a:buSzPts val="1000"/>
              <a:buFont typeface="Symbol" panose="05050102010706020507" pitchFamily="18" charset="2"/>
              <a:buChar char=""/>
              <a:tabLst>
                <a:tab pos="457200" algn="l"/>
              </a:tabLst>
            </a:pPr>
            <a:r>
              <a:rPr lang="en-US" sz="1700" err="1">
                <a:latin typeface="Times New Roman" panose="02020603050405020304" pitchFamily="18" charset="0"/>
                <a:ea typeface="Times New Roman" panose="02020603050405020304" pitchFamily="18" charset="0"/>
              </a:rPr>
              <a:t>VoLTE</a:t>
            </a:r>
            <a:r>
              <a:rPr lang="en-US" sz="1700">
                <a:latin typeface="Times New Roman" panose="02020603050405020304" pitchFamily="18" charset="0"/>
                <a:ea typeface="Times New Roman" panose="02020603050405020304" pitchFamily="18" charset="0"/>
              </a:rPr>
              <a:t> call quality greatly exceeded that of 3G CS voice and was measurable higher than the HD voice service offered by Skype</a:t>
            </a:r>
            <a:endParaRPr lang="en-US" sz="1700">
              <a:latin typeface="Times New Roman" panose="02020603050405020304" pitchFamily="18" charset="0"/>
              <a:ea typeface="Calibri" panose="020F0502020204030204" pitchFamily="34" charset="0"/>
            </a:endParaRPr>
          </a:p>
          <a:p>
            <a:pPr marL="342900" marR="304800" lvl="0" indent="-342900">
              <a:spcBef>
                <a:spcPts val="375"/>
              </a:spcBef>
              <a:spcAft>
                <a:spcPts val="375"/>
              </a:spcAft>
              <a:buSzPts val="1000"/>
              <a:buFont typeface="Symbol" panose="05050102010706020507" pitchFamily="18" charset="2"/>
              <a:buChar char=""/>
              <a:tabLst>
                <a:tab pos="457200" algn="l"/>
              </a:tabLst>
            </a:pPr>
            <a:r>
              <a:rPr lang="en-US" sz="1700">
                <a:latin typeface="Times New Roman" panose="02020603050405020304" pitchFamily="18" charset="0"/>
                <a:ea typeface="Times New Roman" panose="02020603050405020304" pitchFamily="18" charset="0"/>
              </a:rPr>
              <a:t>With network loading, and in particular with background applications running on the mobile phone and transferring data with the network, the </a:t>
            </a:r>
            <a:r>
              <a:rPr lang="en-US" sz="1700" err="1">
                <a:latin typeface="Times New Roman" panose="02020603050405020304" pitchFamily="18" charset="0"/>
                <a:ea typeface="Times New Roman" panose="02020603050405020304" pitchFamily="18" charset="0"/>
              </a:rPr>
              <a:t>VoLTE</a:t>
            </a:r>
            <a:r>
              <a:rPr lang="en-US" sz="1700">
                <a:latin typeface="Times New Roman" panose="02020603050405020304" pitchFamily="18" charset="0"/>
                <a:ea typeface="Times New Roman" panose="02020603050405020304" pitchFamily="18" charset="0"/>
              </a:rPr>
              <a:t> results were considerably better than Skype</a:t>
            </a:r>
            <a:endParaRPr lang="en-US" sz="1700">
              <a:latin typeface="Times New Roman" panose="02020603050405020304" pitchFamily="18" charset="0"/>
              <a:ea typeface="Calibri" panose="020F0502020204030204" pitchFamily="34" charset="0"/>
            </a:endParaRPr>
          </a:p>
          <a:p>
            <a:pPr marL="342900" marR="304800" lvl="0" indent="-342900">
              <a:spcBef>
                <a:spcPts val="375"/>
              </a:spcBef>
              <a:spcAft>
                <a:spcPts val="375"/>
              </a:spcAft>
              <a:buSzPts val="1000"/>
              <a:buFont typeface="Symbol" panose="05050102010706020507" pitchFamily="18" charset="2"/>
              <a:buChar char=""/>
              <a:tabLst>
                <a:tab pos="457200" algn="l"/>
              </a:tabLst>
            </a:pPr>
            <a:r>
              <a:rPr lang="en-US" sz="1700" err="1">
                <a:solidFill>
                  <a:srgbClr val="0070C0"/>
                </a:solidFill>
                <a:latin typeface="Times New Roman" panose="02020603050405020304" pitchFamily="18" charset="0"/>
                <a:ea typeface="Times New Roman" panose="02020603050405020304" pitchFamily="18" charset="0"/>
              </a:rPr>
              <a:t>VoLTE</a:t>
            </a:r>
            <a:r>
              <a:rPr lang="en-US" sz="1700">
                <a:solidFill>
                  <a:srgbClr val="0070C0"/>
                </a:solidFill>
                <a:latin typeface="Times New Roman" panose="02020603050405020304" pitchFamily="18" charset="0"/>
                <a:ea typeface="Times New Roman" panose="02020603050405020304" pitchFamily="18" charset="0"/>
              </a:rPr>
              <a:t> call setup time was nearly twice as fast as 3G Circuit Switched Fallback (CSFB)</a:t>
            </a:r>
            <a:r>
              <a:rPr lang="en-US" sz="1700">
                <a:latin typeface="Times New Roman" panose="02020603050405020304" pitchFamily="18" charset="0"/>
                <a:ea typeface="Times New Roman" panose="02020603050405020304" pitchFamily="18" charset="0"/>
              </a:rPr>
              <a:t> call setup</a:t>
            </a:r>
            <a:endParaRPr lang="en-US" sz="1700">
              <a:latin typeface="Times New Roman" panose="02020603050405020304" pitchFamily="18" charset="0"/>
              <a:ea typeface="Calibri" panose="020F0502020204030204" pitchFamily="34" charset="0"/>
            </a:endParaRPr>
          </a:p>
          <a:p>
            <a:pPr marL="342900" marR="304800" lvl="0" indent="-342900">
              <a:spcBef>
                <a:spcPts val="375"/>
              </a:spcBef>
              <a:spcAft>
                <a:spcPts val="375"/>
              </a:spcAft>
              <a:buSzPts val="1000"/>
              <a:buFont typeface="Symbol" panose="05050102010706020507" pitchFamily="18" charset="2"/>
              <a:buChar char=""/>
              <a:tabLst>
                <a:tab pos="457200" algn="l"/>
              </a:tabLst>
            </a:pPr>
            <a:r>
              <a:rPr lang="en-US" sz="1700" err="1">
                <a:solidFill>
                  <a:srgbClr val="0070C0"/>
                </a:solidFill>
                <a:latin typeface="Times New Roman" panose="02020603050405020304" pitchFamily="18" charset="0"/>
                <a:ea typeface="Times New Roman" panose="02020603050405020304" pitchFamily="18" charset="0"/>
              </a:rPr>
              <a:t>VoLTE</a:t>
            </a:r>
            <a:r>
              <a:rPr lang="en-US" sz="1700">
                <a:solidFill>
                  <a:srgbClr val="0070C0"/>
                </a:solidFill>
                <a:latin typeface="Times New Roman" panose="02020603050405020304" pitchFamily="18" charset="0"/>
                <a:ea typeface="Times New Roman" panose="02020603050405020304" pitchFamily="18" charset="0"/>
              </a:rPr>
              <a:t> used substantially fewer network resources than Skype voice, which in turn resulted in longer estimated device battery </a:t>
            </a:r>
            <a:r>
              <a:rPr lang="en-US" sz="1700">
                <a:latin typeface="Times New Roman" panose="02020603050405020304" pitchFamily="18" charset="0"/>
                <a:ea typeface="Times New Roman" panose="02020603050405020304" pitchFamily="18" charset="0"/>
              </a:rPr>
              <a:t>life for the subscriber and a more efficient network for the operator</a:t>
            </a:r>
            <a:endParaRPr lang="en-US" sz="1700">
              <a:latin typeface="Times New Roman" panose="02020603050405020304" pitchFamily="18" charset="0"/>
              <a:ea typeface="Calibri" panose="020F0502020204030204" pitchFamily="34" charset="0"/>
            </a:endParaRPr>
          </a:p>
          <a:p>
            <a:pPr marL="342900" marR="304800" lvl="0" indent="-342900">
              <a:spcBef>
                <a:spcPts val="375"/>
              </a:spcBef>
              <a:spcAft>
                <a:spcPts val="375"/>
              </a:spcAft>
              <a:buSzPts val="1000"/>
              <a:buFont typeface="Symbol" panose="05050102010706020507" pitchFamily="18" charset="2"/>
              <a:buChar char=""/>
              <a:tabLst>
                <a:tab pos="457200" algn="l"/>
              </a:tabLst>
            </a:pPr>
            <a:r>
              <a:rPr lang="en-US" sz="1700">
                <a:latin typeface="Times New Roman" panose="02020603050405020304" pitchFamily="18" charset="0"/>
                <a:ea typeface="Times New Roman" panose="02020603050405020304" pitchFamily="18" charset="0"/>
              </a:rPr>
              <a:t>When leaving LTE coverage, </a:t>
            </a:r>
            <a:r>
              <a:rPr lang="en-US" sz="1700" err="1">
                <a:latin typeface="Times New Roman" panose="02020603050405020304" pitchFamily="18" charset="0"/>
                <a:ea typeface="Times New Roman" panose="02020603050405020304" pitchFamily="18" charset="0"/>
              </a:rPr>
              <a:t>VoLTE</a:t>
            </a:r>
            <a:r>
              <a:rPr lang="en-US" sz="1700">
                <a:latin typeface="Times New Roman" panose="02020603050405020304" pitchFamily="18" charset="0"/>
                <a:ea typeface="Times New Roman" panose="02020603050405020304" pitchFamily="18" charset="0"/>
              </a:rPr>
              <a:t> calls were successfully handed over to 3G CS voice. The network’s enhanced Single Radio Voice Call Continuity ensures calls continue without interruption</a:t>
            </a:r>
            <a:endParaRPr lang="en-US" sz="1700">
              <a:latin typeface="Times New Roman" panose="02020603050405020304" pitchFamily="18" charset="0"/>
              <a:ea typeface="Calibri" panose="020F0502020204030204" pitchFamily="34" charset="0"/>
            </a:endParaRPr>
          </a:p>
        </p:txBody>
      </p:sp>
      <p:sp>
        <p:nvSpPr>
          <p:cNvPr id="5" name="TextBox 4"/>
          <p:cNvSpPr txBox="1"/>
          <p:nvPr/>
        </p:nvSpPr>
        <p:spPr>
          <a:xfrm>
            <a:off x="153940" y="247554"/>
            <a:ext cx="11822806" cy="369332"/>
          </a:xfrm>
          <a:prstGeom prst="rect">
            <a:avLst/>
          </a:prstGeom>
          <a:solidFill>
            <a:schemeClr val="accent4"/>
          </a:solidFill>
        </p:spPr>
        <p:txBody>
          <a:bodyPr wrap="square" rtlCol="0">
            <a:spAutoFit/>
          </a:bodyPr>
          <a:lstStyle/>
          <a:p>
            <a:pPr algn="ctr"/>
            <a:r>
              <a:rPr lang="en-US"/>
              <a:t>VOIP and </a:t>
            </a:r>
            <a:r>
              <a:rPr lang="en-US" err="1"/>
              <a:t>VoLTE</a:t>
            </a:r>
            <a:endParaRPr lang="en-US"/>
          </a:p>
        </p:txBody>
      </p:sp>
    </p:spTree>
    <p:extLst>
      <p:ext uri="{BB962C8B-B14F-4D97-AF65-F5344CB8AC3E}">
        <p14:creationId xmlns:p14="http://schemas.microsoft.com/office/powerpoint/2010/main" val="2651311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45178" y="4114103"/>
            <a:ext cx="8512479" cy="2071483"/>
          </a:xfrm>
          <a:prstGeom prst="rect">
            <a:avLst/>
          </a:prstGeom>
        </p:spPr>
      </p:pic>
      <p:pic>
        <p:nvPicPr>
          <p:cNvPr id="5" name="Picture 4"/>
          <p:cNvPicPr>
            <a:picLocks noChangeAspect="1"/>
          </p:cNvPicPr>
          <p:nvPr/>
        </p:nvPicPr>
        <p:blipFill>
          <a:blip r:embed="rId3"/>
          <a:stretch>
            <a:fillRect/>
          </a:stretch>
        </p:blipFill>
        <p:spPr>
          <a:xfrm>
            <a:off x="1744147" y="874874"/>
            <a:ext cx="8194867" cy="2950152"/>
          </a:xfrm>
          <a:prstGeom prst="rect">
            <a:avLst/>
          </a:prstGeom>
        </p:spPr>
      </p:pic>
      <p:sp>
        <p:nvSpPr>
          <p:cNvPr id="6" name="TextBox 5"/>
          <p:cNvSpPr txBox="1"/>
          <p:nvPr/>
        </p:nvSpPr>
        <p:spPr>
          <a:xfrm>
            <a:off x="350344" y="273312"/>
            <a:ext cx="11243257" cy="369332"/>
          </a:xfrm>
          <a:prstGeom prst="rect">
            <a:avLst/>
          </a:prstGeom>
          <a:solidFill>
            <a:schemeClr val="accent4"/>
          </a:solidFill>
        </p:spPr>
        <p:txBody>
          <a:bodyPr wrap="square" rtlCol="0">
            <a:spAutoFit/>
          </a:bodyPr>
          <a:lstStyle/>
          <a:p>
            <a:pPr algn="ctr"/>
            <a:r>
              <a:rPr lang="en-US"/>
              <a:t>What is </a:t>
            </a:r>
            <a:r>
              <a:rPr lang="en-US" err="1"/>
              <a:t>VoLTE</a:t>
            </a:r>
            <a:endParaRPr lang="en-US"/>
          </a:p>
        </p:txBody>
      </p:sp>
    </p:spTree>
    <p:extLst>
      <p:ext uri="{BB962C8B-B14F-4D97-AF65-F5344CB8AC3E}">
        <p14:creationId xmlns:p14="http://schemas.microsoft.com/office/powerpoint/2010/main" val="2093339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C:\Users\Deju\Desktop\dd.JPG"/>
          <p:cNvPicPr>
            <a:picLocks noChangeAspect="1" noChangeArrowheads="1"/>
          </p:cNvPicPr>
          <p:nvPr/>
        </p:nvPicPr>
        <p:blipFill>
          <a:blip r:embed="rId2" cstate="print"/>
          <a:srcRect/>
          <a:stretch>
            <a:fillRect/>
          </a:stretch>
        </p:blipFill>
        <p:spPr bwMode="auto">
          <a:xfrm>
            <a:off x="6478073" y="1352281"/>
            <a:ext cx="5303460" cy="3617592"/>
          </a:xfrm>
          <a:prstGeom prst="rect">
            <a:avLst/>
          </a:prstGeom>
          <a:noFill/>
        </p:spPr>
      </p:pic>
      <p:pic>
        <p:nvPicPr>
          <p:cNvPr id="23555" name="Picture 3" descr="C:\Users\Deju\Desktop\Capture.JPG"/>
          <p:cNvPicPr>
            <a:picLocks noChangeAspect="1" noChangeArrowheads="1"/>
          </p:cNvPicPr>
          <p:nvPr/>
        </p:nvPicPr>
        <p:blipFill>
          <a:blip r:embed="rId3" cstate="print"/>
          <a:srcRect/>
          <a:stretch>
            <a:fillRect/>
          </a:stretch>
        </p:blipFill>
        <p:spPr bwMode="auto">
          <a:xfrm>
            <a:off x="313113" y="1399531"/>
            <a:ext cx="5366469" cy="3523091"/>
          </a:xfrm>
          <a:prstGeom prst="rect">
            <a:avLst/>
          </a:prstGeom>
          <a:noFill/>
        </p:spPr>
      </p:pic>
      <p:sp>
        <p:nvSpPr>
          <p:cNvPr id="4" name="TextBox 3"/>
          <p:cNvSpPr txBox="1"/>
          <p:nvPr/>
        </p:nvSpPr>
        <p:spPr>
          <a:xfrm>
            <a:off x="589100" y="154042"/>
            <a:ext cx="11243257" cy="369332"/>
          </a:xfrm>
          <a:prstGeom prst="rect">
            <a:avLst/>
          </a:prstGeom>
          <a:solidFill>
            <a:schemeClr val="accent4"/>
          </a:solidFill>
        </p:spPr>
        <p:txBody>
          <a:bodyPr wrap="square" rtlCol="0">
            <a:spAutoFit/>
          </a:bodyPr>
          <a:lstStyle/>
          <a:p>
            <a:pPr algn="ctr"/>
            <a:r>
              <a:rPr lang="en-US"/>
              <a:t>Layers</a:t>
            </a:r>
          </a:p>
        </p:txBody>
      </p:sp>
    </p:spTree>
    <p:extLst>
      <p:ext uri="{BB962C8B-B14F-4D97-AF65-F5344CB8AC3E}">
        <p14:creationId xmlns:p14="http://schemas.microsoft.com/office/powerpoint/2010/main" val="1612767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2092012" y="969544"/>
            <a:ext cx="8614893" cy="5220734"/>
          </a:xfrm>
          <a:prstGeom prst="rect">
            <a:avLst/>
          </a:prstGeom>
          <a:noFill/>
          <a:ln w="9525">
            <a:noFill/>
            <a:miter lim="800000"/>
            <a:headEnd/>
            <a:tailEnd/>
          </a:ln>
        </p:spPr>
      </p:pic>
      <p:sp>
        <p:nvSpPr>
          <p:cNvPr id="3" name="TextBox 2"/>
          <p:cNvSpPr txBox="1"/>
          <p:nvPr/>
        </p:nvSpPr>
        <p:spPr>
          <a:xfrm>
            <a:off x="408702" y="296214"/>
            <a:ext cx="11182284" cy="369332"/>
          </a:xfrm>
          <a:prstGeom prst="rect">
            <a:avLst/>
          </a:prstGeom>
          <a:solidFill>
            <a:schemeClr val="accent4"/>
          </a:solidFill>
        </p:spPr>
        <p:txBody>
          <a:bodyPr wrap="square" rtlCol="0">
            <a:spAutoFit/>
          </a:bodyPr>
          <a:lstStyle>
            <a:defPPr>
              <a:defRPr lang="en-US"/>
            </a:defPPr>
            <a:lvl1pPr algn="ctr"/>
          </a:lstStyle>
          <a:p>
            <a:r>
              <a:rPr lang="en-US"/>
              <a:t>Basic of </a:t>
            </a:r>
            <a:r>
              <a:rPr lang="en-US" err="1"/>
              <a:t>VoLTE</a:t>
            </a:r>
            <a:endParaRPr lang="en-US"/>
          </a:p>
        </p:txBody>
      </p:sp>
    </p:spTree>
    <p:extLst>
      <p:ext uri="{BB962C8B-B14F-4D97-AF65-F5344CB8AC3E}">
        <p14:creationId xmlns:p14="http://schemas.microsoft.com/office/powerpoint/2010/main" val="88501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10&#10;QCI Sets Specific Packet Loss &amp; Delay Targets&#10; Quality of Service (QoS) Class Identifier indicates max delay &amp;&#10;packet ..."/>
          <p:cNvPicPr>
            <a:picLocks noChangeAspect="1" noChangeArrowheads="1"/>
          </p:cNvPicPr>
          <p:nvPr/>
        </p:nvPicPr>
        <p:blipFill>
          <a:blip r:embed="rId2" cstate="print"/>
          <a:srcRect/>
          <a:stretch>
            <a:fillRect/>
          </a:stretch>
        </p:blipFill>
        <p:spPr bwMode="auto">
          <a:xfrm>
            <a:off x="1752600" y="152399"/>
            <a:ext cx="8808076" cy="6606057"/>
          </a:xfrm>
          <a:prstGeom prst="rect">
            <a:avLst/>
          </a:prstGeom>
          <a:noFill/>
        </p:spPr>
      </p:pic>
      <p:sp>
        <p:nvSpPr>
          <p:cNvPr id="2" name="Rectangle 1"/>
          <p:cNvSpPr/>
          <p:nvPr/>
        </p:nvSpPr>
        <p:spPr>
          <a:xfrm>
            <a:off x="1622738" y="5924282"/>
            <a:ext cx="8937938" cy="8242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205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1549" y="530087"/>
            <a:ext cx="887895" cy="3445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0000"/>
                </a:solidFill>
              </a:rPr>
              <a:t>UE</a:t>
            </a:r>
          </a:p>
        </p:txBody>
      </p:sp>
      <p:sp>
        <p:nvSpPr>
          <p:cNvPr id="5" name="Rectangle 4"/>
          <p:cNvSpPr/>
          <p:nvPr/>
        </p:nvSpPr>
        <p:spPr>
          <a:xfrm>
            <a:off x="1626705" y="526775"/>
            <a:ext cx="887895" cy="3445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err="1">
                <a:solidFill>
                  <a:srgbClr val="FF0000"/>
                </a:solidFill>
              </a:rPr>
              <a:t>eNodeB</a:t>
            </a:r>
            <a:endParaRPr lang="en-US" sz="1600">
              <a:solidFill>
                <a:srgbClr val="FF0000"/>
              </a:solidFill>
            </a:endParaRPr>
          </a:p>
        </p:txBody>
      </p:sp>
      <p:sp>
        <p:nvSpPr>
          <p:cNvPr id="6" name="Rectangle 5"/>
          <p:cNvSpPr/>
          <p:nvPr/>
        </p:nvSpPr>
        <p:spPr>
          <a:xfrm>
            <a:off x="2859158" y="516834"/>
            <a:ext cx="887895" cy="3445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0000"/>
                </a:solidFill>
              </a:rPr>
              <a:t>MME</a:t>
            </a:r>
          </a:p>
        </p:txBody>
      </p:sp>
      <p:sp>
        <p:nvSpPr>
          <p:cNvPr id="7" name="Rectangle 6"/>
          <p:cNvSpPr/>
          <p:nvPr/>
        </p:nvSpPr>
        <p:spPr>
          <a:xfrm>
            <a:off x="11767930" y="516833"/>
            <a:ext cx="424071" cy="3445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FF0000"/>
                </a:solidFill>
              </a:rPr>
              <a:t>TAS</a:t>
            </a:r>
          </a:p>
        </p:txBody>
      </p:sp>
      <p:sp>
        <p:nvSpPr>
          <p:cNvPr id="8" name="Rectangle 7"/>
          <p:cNvSpPr/>
          <p:nvPr/>
        </p:nvSpPr>
        <p:spPr>
          <a:xfrm>
            <a:off x="8918723" y="530086"/>
            <a:ext cx="887895" cy="3445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rgbClr val="FF0000"/>
                </a:solidFill>
              </a:rPr>
              <a:t>P-CSCF</a:t>
            </a:r>
          </a:p>
        </p:txBody>
      </p:sp>
      <p:sp>
        <p:nvSpPr>
          <p:cNvPr id="9" name="Rectangle 8"/>
          <p:cNvSpPr/>
          <p:nvPr/>
        </p:nvSpPr>
        <p:spPr>
          <a:xfrm>
            <a:off x="7865166" y="540027"/>
            <a:ext cx="887895" cy="3445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0000"/>
                </a:solidFill>
              </a:rPr>
              <a:t>HSS</a:t>
            </a:r>
          </a:p>
        </p:txBody>
      </p:sp>
      <p:sp>
        <p:nvSpPr>
          <p:cNvPr id="10" name="Rectangle 9"/>
          <p:cNvSpPr/>
          <p:nvPr/>
        </p:nvSpPr>
        <p:spPr>
          <a:xfrm>
            <a:off x="6793404" y="546653"/>
            <a:ext cx="887895" cy="3445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0000"/>
                </a:solidFill>
              </a:rPr>
              <a:t>PCRF</a:t>
            </a:r>
          </a:p>
        </p:txBody>
      </p:sp>
      <p:sp>
        <p:nvSpPr>
          <p:cNvPr id="11" name="Rectangle 10"/>
          <p:cNvSpPr/>
          <p:nvPr/>
        </p:nvSpPr>
        <p:spPr>
          <a:xfrm>
            <a:off x="5496334" y="530089"/>
            <a:ext cx="887895" cy="3445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0000"/>
                </a:solidFill>
              </a:rPr>
              <a:t>PGW</a:t>
            </a:r>
          </a:p>
        </p:txBody>
      </p:sp>
      <p:sp>
        <p:nvSpPr>
          <p:cNvPr id="12" name="Rectangle 11"/>
          <p:cNvSpPr/>
          <p:nvPr/>
        </p:nvSpPr>
        <p:spPr>
          <a:xfrm>
            <a:off x="4133024" y="526775"/>
            <a:ext cx="887895" cy="3445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0000"/>
                </a:solidFill>
              </a:rPr>
              <a:t>SGW</a:t>
            </a:r>
          </a:p>
        </p:txBody>
      </p:sp>
      <p:sp>
        <p:nvSpPr>
          <p:cNvPr id="13" name="Rectangle 12"/>
          <p:cNvSpPr/>
          <p:nvPr/>
        </p:nvSpPr>
        <p:spPr>
          <a:xfrm>
            <a:off x="10840285" y="516833"/>
            <a:ext cx="680822" cy="3445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rgbClr val="FF0000"/>
                </a:solidFill>
              </a:rPr>
              <a:t>S-CSCF</a:t>
            </a:r>
          </a:p>
        </p:txBody>
      </p:sp>
      <p:cxnSp>
        <p:nvCxnSpPr>
          <p:cNvPr id="15" name="Straight Connector 14"/>
          <p:cNvCxnSpPr>
            <a:stCxn id="4" idx="2"/>
          </p:cNvCxnSpPr>
          <p:nvPr/>
        </p:nvCxnSpPr>
        <p:spPr>
          <a:xfrm flipH="1">
            <a:off x="735496" y="874643"/>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2070652" y="891209"/>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3303104" y="884583"/>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4614244" y="891209"/>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5940281" y="891209"/>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7266318" y="891209"/>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8309113" y="891209"/>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9441338" y="891209"/>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10323455" y="871331"/>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11205571" y="861389"/>
            <a:ext cx="1" cy="5983357"/>
          </a:xfrm>
          <a:prstGeom prst="line">
            <a:avLst/>
          </a:prstGeom>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9879507" y="516833"/>
            <a:ext cx="887895" cy="3445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rgbClr val="FF0000"/>
                </a:solidFill>
              </a:rPr>
              <a:t>I-CSCF</a:t>
            </a:r>
          </a:p>
        </p:txBody>
      </p:sp>
      <p:cxnSp>
        <p:nvCxnSpPr>
          <p:cNvPr id="45" name="Straight Connector 44"/>
          <p:cNvCxnSpPr/>
          <p:nvPr/>
        </p:nvCxnSpPr>
        <p:spPr>
          <a:xfrm flipH="1">
            <a:off x="11998189" y="861388"/>
            <a:ext cx="1" cy="5983357"/>
          </a:xfrm>
          <a:prstGeom prst="line">
            <a:avLst/>
          </a:prstGeom>
        </p:spPr>
        <p:style>
          <a:lnRef idx="1">
            <a:schemeClr val="accent1"/>
          </a:lnRef>
          <a:fillRef idx="0">
            <a:schemeClr val="accent1"/>
          </a:fillRef>
          <a:effectRef idx="0">
            <a:schemeClr val="accent1"/>
          </a:effectRef>
          <a:fontRef idx="minor">
            <a:schemeClr val="tx1"/>
          </a:fontRef>
        </p:style>
      </p:cxnSp>
      <p:sp>
        <p:nvSpPr>
          <p:cNvPr id="87" name="Left-Right Arrow 86"/>
          <p:cNvSpPr/>
          <p:nvPr/>
        </p:nvSpPr>
        <p:spPr>
          <a:xfrm>
            <a:off x="671092" y="897836"/>
            <a:ext cx="5225002" cy="39442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Default Bearer Established for IMS signaling</a:t>
            </a:r>
          </a:p>
        </p:txBody>
      </p:sp>
      <p:sp>
        <p:nvSpPr>
          <p:cNvPr id="88" name="Left-Right Arrow 87"/>
          <p:cNvSpPr/>
          <p:nvPr/>
        </p:nvSpPr>
        <p:spPr>
          <a:xfrm>
            <a:off x="5960498" y="881268"/>
            <a:ext cx="6057908" cy="39442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IMS Signaling Over IP</a:t>
            </a:r>
          </a:p>
        </p:txBody>
      </p:sp>
      <p:cxnSp>
        <p:nvCxnSpPr>
          <p:cNvPr id="89" name="Straight Arrow Connector 88"/>
          <p:cNvCxnSpPr/>
          <p:nvPr/>
        </p:nvCxnSpPr>
        <p:spPr>
          <a:xfrm>
            <a:off x="728417" y="1428988"/>
            <a:ext cx="8712921" cy="5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3606613" y="1249366"/>
            <a:ext cx="1260281" cy="246221"/>
          </a:xfrm>
          <a:prstGeom prst="rect">
            <a:avLst/>
          </a:prstGeom>
          <a:noFill/>
        </p:spPr>
        <p:txBody>
          <a:bodyPr wrap="square" rtlCol="0">
            <a:spAutoFit/>
          </a:bodyPr>
          <a:lstStyle/>
          <a:p>
            <a:r>
              <a:rPr lang="en-US" sz="1000"/>
              <a:t>SIP Register</a:t>
            </a:r>
          </a:p>
        </p:txBody>
      </p:sp>
      <p:cxnSp>
        <p:nvCxnSpPr>
          <p:cNvPr id="91" name="Straight Arrow Connector 90"/>
          <p:cNvCxnSpPr/>
          <p:nvPr/>
        </p:nvCxnSpPr>
        <p:spPr>
          <a:xfrm>
            <a:off x="9458028" y="1428988"/>
            <a:ext cx="8432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TextBox 91"/>
          <p:cNvSpPr txBox="1"/>
          <p:nvPr/>
        </p:nvSpPr>
        <p:spPr>
          <a:xfrm>
            <a:off x="9549152" y="1244618"/>
            <a:ext cx="651140" cy="215444"/>
          </a:xfrm>
          <a:prstGeom prst="rect">
            <a:avLst/>
          </a:prstGeom>
          <a:noFill/>
        </p:spPr>
        <p:txBody>
          <a:bodyPr wrap="none" rtlCol="0">
            <a:spAutoFit/>
          </a:bodyPr>
          <a:lstStyle/>
          <a:p>
            <a:r>
              <a:rPr lang="en-US" sz="800"/>
              <a:t>Sip register</a:t>
            </a:r>
          </a:p>
        </p:txBody>
      </p:sp>
      <p:cxnSp>
        <p:nvCxnSpPr>
          <p:cNvPr id="93" name="Straight Arrow Connector 92"/>
          <p:cNvCxnSpPr/>
          <p:nvPr/>
        </p:nvCxnSpPr>
        <p:spPr>
          <a:xfrm flipH="1" flipV="1">
            <a:off x="8307419" y="1639041"/>
            <a:ext cx="2041499" cy="4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8554573" y="1444097"/>
            <a:ext cx="1638590" cy="246221"/>
          </a:xfrm>
          <a:prstGeom prst="rect">
            <a:avLst/>
          </a:prstGeom>
          <a:noFill/>
        </p:spPr>
        <p:txBody>
          <a:bodyPr wrap="none" rtlCol="0">
            <a:spAutoFit/>
          </a:bodyPr>
          <a:lstStyle/>
          <a:p>
            <a:r>
              <a:rPr lang="en-US" sz="1000">
                <a:solidFill>
                  <a:srgbClr val="FF0000"/>
                </a:solidFill>
              </a:rPr>
              <a:t>User-Authorization-Request</a:t>
            </a:r>
          </a:p>
        </p:txBody>
      </p:sp>
      <p:cxnSp>
        <p:nvCxnSpPr>
          <p:cNvPr id="95" name="Straight Arrow Connector 94"/>
          <p:cNvCxnSpPr/>
          <p:nvPr/>
        </p:nvCxnSpPr>
        <p:spPr>
          <a:xfrm flipV="1">
            <a:off x="8307419" y="1885262"/>
            <a:ext cx="2035172" cy="89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8582438" y="1673204"/>
            <a:ext cx="1604927" cy="246221"/>
          </a:xfrm>
          <a:prstGeom prst="rect">
            <a:avLst/>
          </a:prstGeom>
          <a:noFill/>
        </p:spPr>
        <p:txBody>
          <a:bodyPr wrap="none" rtlCol="0">
            <a:spAutoFit/>
          </a:bodyPr>
          <a:lstStyle/>
          <a:p>
            <a:r>
              <a:rPr lang="en-US" sz="1000">
                <a:solidFill>
                  <a:srgbClr val="FF0000"/>
                </a:solidFill>
              </a:rPr>
              <a:t>User-Authorization-Answer</a:t>
            </a:r>
          </a:p>
        </p:txBody>
      </p:sp>
      <p:cxnSp>
        <p:nvCxnSpPr>
          <p:cNvPr id="97" name="Straight Arrow Connector 96"/>
          <p:cNvCxnSpPr/>
          <p:nvPr/>
        </p:nvCxnSpPr>
        <p:spPr>
          <a:xfrm>
            <a:off x="10358293" y="2078537"/>
            <a:ext cx="8432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10449417" y="1894167"/>
            <a:ext cx="651140" cy="215444"/>
          </a:xfrm>
          <a:prstGeom prst="rect">
            <a:avLst/>
          </a:prstGeom>
          <a:noFill/>
        </p:spPr>
        <p:txBody>
          <a:bodyPr wrap="none" rtlCol="0">
            <a:spAutoFit/>
          </a:bodyPr>
          <a:lstStyle/>
          <a:p>
            <a:r>
              <a:rPr lang="en-US" sz="800"/>
              <a:t>Sip register</a:t>
            </a:r>
          </a:p>
        </p:txBody>
      </p:sp>
      <p:cxnSp>
        <p:nvCxnSpPr>
          <p:cNvPr id="99" name="Straight Arrow Connector 98"/>
          <p:cNvCxnSpPr/>
          <p:nvPr/>
        </p:nvCxnSpPr>
        <p:spPr>
          <a:xfrm flipH="1">
            <a:off x="8307419" y="2212400"/>
            <a:ext cx="2916787" cy="26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a:xfrm flipV="1">
            <a:off x="8288897" y="2454168"/>
            <a:ext cx="2928981" cy="8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8803881" y="2259318"/>
            <a:ext cx="1505540" cy="246221"/>
          </a:xfrm>
          <a:prstGeom prst="rect">
            <a:avLst/>
          </a:prstGeom>
          <a:noFill/>
        </p:spPr>
        <p:txBody>
          <a:bodyPr wrap="none" rtlCol="0">
            <a:spAutoFit/>
          </a:bodyPr>
          <a:lstStyle/>
          <a:p>
            <a:r>
              <a:rPr lang="en-US" sz="1000">
                <a:solidFill>
                  <a:srgbClr val="FF0000"/>
                </a:solidFill>
              </a:rPr>
              <a:t>Multimedia-</a:t>
            </a:r>
            <a:r>
              <a:rPr lang="en-US" sz="1000" err="1">
                <a:solidFill>
                  <a:srgbClr val="FF0000"/>
                </a:solidFill>
              </a:rPr>
              <a:t>Auth</a:t>
            </a:r>
            <a:r>
              <a:rPr lang="en-US" sz="1000">
                <a:solidFill>
                  <a:srgbClr val="FF0000"/>
                </a:solidFill>
              </a:rPr>
              <a:t>-Answer</a:t>
            </a:r>
          </a:p>
        </p:txBody>
      </p:sp>
      <p:sp>
        <p:nvSpPr>
          <p:cNvPr id="102" name="TextBox 101"/>
          <p:cNvSpPr txBox="1"/>
          <p:nvPr/>
        </p:nvSpPr>
        <p:spPr>
          <a:xfrm>
            <a:off x="8779235" y="2012823"/>
            <a:ext cx="1539204" cy="246221"/>
          </a:xfrm>
          <a:prstGeom prst="rect">
            <a:avLst/>
          </a:prstGeom>
          <a:noFill/>
        </p:spPr>
        <p:txBody>
          <a:bodyPr wrap="none" rtlCol="0">
            <a:spAutoFit/>
          </a:bodyPr>
          <a:lstStyle/>
          <a:p>
            <a:r>
              <a:rPr lang="en-US" sz="1000">
                <a:solidFill>
                  <a:srgbClr val="FF0000"/>
                </a:solidFill>
              </a:rPr>
              <a:t>Multimedia-</a:t>
            </a:r>
            <a:r>
              <a:rPr lang="en-US" sz="1000" err="1">
                <a:solidFill>
                  <a:srgbClr val="FF0000"/>
                </a:solidFill>
              </a:rPr>
              <a:t>Auth</a:t>
            </a:r>
            <a:r>
              <a:rPr lang="en-US" sz="1000">
                <a:solidFill>
                  <a:srgbClr val="FF0000"/>
                </a:solidFill>
              </a:rPr>
              <a:t>-Request</a:t>
            </a:r>
          </a:p>
        </p:txBody>
      </p:sp>
      <p:sp>
        <p:nvSpPr>
          <p:cNvPr id="104" name="TextBox 103"/>
          <p:cNvSpPr txBox="1"/>
          <p:nvPr/>
        </p:nvSpPr>
        <p:spPr>
          <a:xfrm>
            <a:off x="10297228" y="2545939"/>
            <a:ext cx="974947" cy="215444"/>
          </a:xfrm>
          <a:prstGeom prst="rect">
            <a:avLst/>
          </a:prstGeom>
          <a:noFill/>
        </p:spPr>
        <p:txBody>
          <a:bodyPr wrap="none" rtlCol="0">
            <a:spAutoFit/>
          </a:bodyPr>
          <a:lstStyle/>
          <a:p>
            <a:r>
              <a:rPr lang="en-US" sz="800"/>
              <a:t>401- Unauthorized</a:t>
            </a:r>
          </a:p>
        </p:txBody>
      </p:sp>
      <p:cxnSp>
        <p:nvCxnSpPr>
          <p:cNvPr id="105" name="Straight Arrow Connector 104"/>
          <p:cNvCxnSpPr/>
          <p:nvPr/>
        </p:nvCxnSpPr>
        <p:spPr>
          <a:xfrm flipH="1">
            <a:off x="9441338" y="2761383"/>
            <a:ext cx="8821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p:nvPr/>
        </p:nvCxnSpPr>
        <p:spPr>
          <a:xfrm flipH="1">
            <a:off x="10342591" y="2761383"/>
            <a:ext cx="8821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8" name="TextBox 107"/>
          <p:cNvSpPr txBox="1"/>
          <p:nvPr/>
        </p:nvSpPr>
        <p:spPr>
          <a:xfrm>
            <a:off x="9392033" y="2514866"/>
            <a:ext cx="974947" cy="215444"/>
          </a:xfrm>
          <a:prstGeom prst="rect">
            <a:avLst/>
          </a:prstGeom>
          <a:noFill/>
        </p:spPr>
        <p:txBody>
          <a:bodyPr wrap="none" rtlCol="0">
            <a:spAutoFit/>
          </a:bodyPr>
          <a:lstStyle/>
          <a:p>
            <a:r>
              <a:rPr lang="en-US" sz="800"/>
              <a:t>401- Unauthorized</a:t>
            </a:r>
          </a:p>
        </p:txBody>
      </p:sp>
      <p:cxnSp>
        <p:nvCxnSpPr>
          <p:cNvPr id="109" name="Straight Arrow Connector 108"/>
          <p:cNvCxnSpPr/>
          <p:nvPr/>
        </p:nvCxnSpPr>
        <p:spPr>
          <a:xfrm flipH="1" flipV="1">
            <a:off x="735496" y="2740624"/>
            <a:ext cx="8722533" cy="31073"/>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14" name="TextBox 113"/>
          <p:cNvSpPr txBox="1"/>
          <p:nvPr/>
        </p:nvSpPr>
        <p:spPr>
          <a:xfrm>
            <a:off x="4776269" y="2463072"/>
            <a:ext cx="1351396" cy="276999"/>
          </a:xfrm>
          <a:prstGeom prst="rect">
            <a:avLst/>
          </a:prstGeom>
          <a:noFill/>
        </p:spPr>
        <p:txBody>
          <a:bodyPr wrap="none" rtlCol="0">
            <a:spAutoFit/>
          </a:bodyPr>
          <a:lstStyle/>
          <a:p>
            <a:r>
              <a:rPr lang="en-US" sz="1200"/>
              <a:t>401- Unauthorized</a:t>
            </a:r>
          </a:p>
        </p:txBody>
      </p:sp>
      <p:cxnSp>
        <p:nvCxnSpPr>
          <p:cNvPr id="115" name="Straight Arrow Connector 114"/>
          <p:cNvCxnSpPr/>
          <p:nvPr/>
        </p:nvCxnSpPr>
        <p:spPr>
          <a:xfrm>
            <a:off x="742576" y="2990051"/>
            <a:ext cx="8712921" cy="5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16" name="TextBox 115"/>
          <p:cNvSpPr txBox="1"/>
          <p:nvPr/>
        </p:nvSpPr>
        <p:spPr>
          <a:xfrm>
            <a:off x="3620772" y="2810429"/>
            <a:ext cx="1260281" cy="246221"/>
          </a:xfrm>
          <a:prstGeom prst="rect">
            <a:avLst/>
          </a:prstGeom>
          <a:noFill/>
        </p:spPr>
        <p:txBody>
          <a:bodyPr wrap="square" rtlCol="0">
            <a:spAutoFit/>
          </a:bodyPr>
          <a:lstStyle/>
          <a:p>
            <a:r>
              <a:rPr lang="en-US" sz="1000"/>
              <a:t>SIP Register</a:t>
            </a:r>
          </a:p>
        </p:txBody>
      </p:sp>
      <p:cxnSp>
        <p:nvCxnSpPr>
          <p:cNvPr id="117" name="Straight Arrow Connector 116"/>
          <p:cNvCxnSpPr/>
          <p:nvPr/>
        </p:nvCxnSpPr>
        <p:spPr>
          <a:xfrm>
            <a:off x="9472187" y="2990051"/>
            <a:ext cx="8432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8" name="TextBox 117"/>
          <p:cNvSpPr txBox="1"/>
          <p:nvPr/>
        </p:nvSpPr>
        <p:spPr>
          <a:xfrm>
            <a:off x="9563311" y="2805681"/>
            <a:ext cx="651140" cy="215444"/>
          </a:xfrm>
          <a:prstGeom prst="rect">
            <a:avLst/>
          </a:prstGeom>
          <a:noFill/>
        </p:spPr>
        <p:txBody>
          <a:bodyPr wrap="none" rtlCol="0">
            <a:spAutoFit/>
          </a:bodyPr>
          <a:lstStyle/>
          <a:p>
            <a:r>
              <a:rPr lang="en-US" sz="800"/>
              <a:t>Sip register</a:t>
            </a:r>
          </a:p>
        </p:txBody>
      </p:sp>
      <p:cxnSp>
        <p:nvCxnSpPr>
          <p:cNvPr id="119" name="Straight Arrow Connector 118"/>
          <p:cNvCxnSpPr/>
          <p:nvPr/>
        </p:nvCxnSpPr>
        <p:spPr>
          <a:xfrm flipH="1" flipV="1">
            <a:off x="8321578" y="3200104"/>
            <a:ext cx="2041499" cy="4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8608568" y="3005697"/>
            <a:ext cx="1638590" cy="246221"/>
          </a:xfrm>
          <a:prstGeom prst="rect">
            <a:avLst/>
          </a:prstGeom>
          <a:noFill/>
        </p:spPr>
        <p:txBody>
          <a:bodyPr wrap="none" rtlCol="0">
            <a:spAutoFit/>
          </a:bodyPr>
          <a:lstStyle/>
          <a:p>
            <a:r>
              <a:rPr lang="en-US" sz="1000">
                <a:solidFill>
                  <a:srgbClr val="FF0000"/>
                </a:solidFill>
              </a:rPr>
              <a:t>User-Authorization-Request</a:t>
            </a:r>
          </a:p>
        </p:txBody>
      </p:sp>
      <p:cxnSp>
        <p:nvCxnSpPr>
          <p:cNvPr id="121" name="Straight Arrow Connector 120"/>
          <p:cNvCxnSpPr/>
          <p:nvPr/>
        </p:nvCxnSpPr>
        <p:spPr>
          <a:xfrm flipV="1">
            <a:off x="8321578" y="3446325"/>
            <a:ext cx="2035172" cy="89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2" name="TextBox 121"/>
          <p:cNvSpPr txBox="1"/>
          <p:nvPr/>
        </p:nvSpPr>
        <p:spPr>
          <a:xfrm>
            <a:off x="8634795" y="3260293"/>
            <a:ext cx="1604927" cy="246221"/>
          </a:xfrm>
          <a:prstGeom prst="rect">
            <a:avLst/>
          </a:prstGeom>
          <a:noFill/>
        </p:spPr>
        <p:txBody>
          <a:bodyPr wrap="none" rtlCol="0">
            <a:spAutoFit/>
          </a:bodyPr>
          <a:lstStyle/>
          <a:p>
            <a:r>
              <a:rPr lang="en-US" sz="1000">
                <a:solidFill>
                  <a:srgbClr val="FF0000"/>
                </a:solidFill>
              </a:rPr>
              <a:t>User-Authorization-Answer</a:t>
            </a:r>
          </a:p>
        </p:txBody>
      </p:sp>
      <p:cxnSp>
        <p:nvCxnSpPr>
          <p:cNvPr id="123" name="Straight Arrow Connector 122"/>
          <p:cNvCxnSpPr/>
          <p:nvPr/>
        </p:nvCxnSpPr>
        <p:spPr>
          <a:xfrm>
            <a:off x="10372452" y="3639600"/>
            <a:ext cx="8432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4" name="TextBox 123"/>
          <p:cNvSpPr txBox="1"/>
          <p:nvPr/>
        </p:nvSpPr>
        <p:spPr>
          <a:xfrm>
            <a:off x="10463576" y="3455230"/>
            <a:ext cx="651140" cy="215444"/>
          </a:xfrm>
          <a:prstGeom prst="rect">
            <a:avLst/>
          </a:prstGeom>
          <a:noFill/>
        </p:spPr>
        <p:txBody>
          <a:bodyPr wrap="none" rtlCol="0">
            <a:spAutoFit/>
          </a:bodyPr>
          <a:lstStyle/>
          <a:p>
            <a:r>
              <a:rPr lang="en-US" sz="800"/>
              <a:t>Sip register</a:t>
            </a:r>
          </a:p>
        </p:txBody>
      </p:sp>
      <p:cxnSp>
        <p:nvCxnSpPr>
          <p:cNvPr id="125" name="Straight Arrow Connector 124"/>
          <p:cNvCxnSpPr/>
          <p:nvPr/>
        </p:nvCxnSpPr>
        <p:spPr>
          <a:xfrm flipH="1">
            <a:off x="8321578" y="3773463"/>
            <a:ext cx="2916787" cy="26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p:cNvCxnSpPr/>
          <p:nvPr/>
        </p:nvCxnSpPr>
        <p:spPr>
          <a:xfrm flipV="1">
            <a:off x="8303056" y="4015231"/>
            <a:ext cx="2928981" cy="8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7" name="TextBox 126"/>
          <p:cNvSpPr txBox="1"/>
          <p:nvPr/>
        </p:nvSpPr>
        <p:spPr>
          <a:xfrm>
            <a:off x="8613016" y="3820823"/>
            <a:ext cx="1595309" cy="246221"/>
          </a:xfrm>
          <a:prstGeom prst="rect">
            <a:avLst/>
          </a:prstGeom>
          <a:noFill/>
        </p:spPr>
        <p:txBody>
          <a:bodyPr wrap="none" rtlCol="0">
            <a:spAutoFit/>
          </a:bodyPr>
          <a:lstStyle/>
          <a:p>
            <a:r>
              <a:rPr lang="en-US" sz="1000">
                <a:solidFill>
                  <a:srgbClr val="FF0000"/>
                </a:solidFill>
              </a:rPr>
              <a:t>Server-Assignment-Answer</a:t>
            </a:r>
          </a:p>
        </p:txBody>
      </p:sp>
      <p:sp>
        <p:nvSpPr>
          <p:cNvPr id="128" name="TextBox 127"/>
          <p:cNvSpPr txBox="1"/>
          <p:nvPr/>
        </p:nvSpPr>
        <p:spPr>
          <a:xfrm>
            <a:off x="8586407" y="3559029"/>
            <a:ext cx="1628972" cy="246221"/>
          </a:xfrm>
          <a:prstGeom prst="rect">
            <a:avLst/>
          </a:prstGeom>
          <a:noFill/>
        </p:spPr>
        <p:txBody>
          <a:bodyPr wrap="none" rtlCol="0">
            <a:spAutoFit/>
          </a:bodyPr>
          <a:lstStyle/>
          <a:p>
            <a:r>
              <a:rPr lang="en-US" sz="1000">
                <a:solidFill>
                  <a:srgbClr val="FF0000"/>
                </a:solidFill>
              </a:rPr>
              <a:t>Server-Assignment-Request</a:t>
            </a:r>
          </a:p>
        </p:txBody>
      </p:sp>
      <p:sp>
        <p:nvSpPr>
          <p:cNvPr id="129" name="TextBox 128"/>
          <p:cNvSpPr txBox="1"/>
          <p:nvPr/>
        </p:nvSpPr>
        <p:spPr>
          <a:xfrm>
            <a:off x="10453748" y="4105311"/>
            <a:ext cx="513282" cy="215444"/>
          </a:xfrm>
          <a:prstGeom prst="rect">
            <a:avLst/>
          </a:prstGeom>
          <a:noFill/>
        </p:spPr>
        <p:txBody>
          <a:bodyPr wrap="none" rtlCol="0">
            <a:spAutoFit/>
          </a:bodyPr>
          <a:lstStyle/>
          <a:p>
            <a:r>
              <a:rPr lang="en-US" sz="800">
                <a:solidFill>
                  <a:srgbClr val="FF0000"/>
                </a:solidFill>
              </a:rPr>
              <a:t>200- OK</a:t>
            </a:r>
          </a:p>
        </p:txBody>
      </p:sp>
      <p:cxnSp>
        <p:nvCxnSpPr>
          <p:cNvPr id="130" name="Straight Arrow Connector 129"/>
          <p:cNvCxnSpPr/>
          <p:nvPr/>
        </p:nvCxnSpPr>
        <p:spPr>
          <a:xfrm flipH="1">
            <a:off x="9455497" y="4322446"/>
            <a:ext cx="8821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p:cNvCxnSpPr/>
          <p:nvPr/>
        </p:nvCxnSpPr>
        <p:spPr>
          <a:xfrm flipH="1">
            <a:off x="10356750" y="4322446"/>
            <a:ext cx="8821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p:cNvCxnSpPr/>
          <p:nvPr/>
        </p:nvCxnSpPr>
        <p:spPr>
          <a:xfrm flipH="1" flipV="1">
            <a:off x="749655" y="4301687"/>
            <a:ext cx="8722533" cy="31073"/>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34" name="TextBox 133"/>
          <p:cNvSpPr txBox="1"/>
          <p:nvPr/>
        </p:nvSpPr>
        <p:spPr>
          <a:xfrm>
            <a:off x="4790428" y="4024135"/>
            <a:ext cx="720069" cy="276999"/>
          </a:xfrm>
          <a:prstGeom prst="rect">
            <a:avLst/>
          </a:prstGeom>
          <a:noFill/>
        </p:spPr>
        <p:txBody>
          <a:bodyPr wrap="none" rtlCol="0">
            <a:spAutoFit/>
          </a:bodyPr>
          <a:lstStyle/>
          <a:p>
            <a:r>
              <a:rPr lang="en-US" sz="1200">
                <a:solidFill>
                  <a:srgbClr val="FF0000"/>
                </a:solidFill>
              </a:rPr>
              <a:t>200 - OK</a:t>
            </a:r>
          </a:p>
        </p:txBody>
      </p:sp>
      <p:sp>
        <p:nvSpPr>
          <p:cNvPr id="135" name="TextBox 134"/>
          <p:cNvSpPr txBox="1"/>
          <p:nvPr/>
        </p:nvSpPr>
        <p:spPr>
          <a:xfrm>
            <a:off x="9641180" y="4105311"/>
            <a:ext cx="513282" cy="215444"/>
          </a:xfrm>
          <a:prstGeom prst="rect">
            <a:avLst/>
          </a:prstGeom>
          <a:noFill/>
        </p:spPr>
        <p:txBody>
          <a:bodyPr wrap="none" rtlCol="0">
            <a:spAutoFit/>
          </a:bodyPr>
          <a:lstStyle/>
          <a:p>
            <a:r>
              <a:rPr lang="en-US" sz="800">
                <a:solidFill>
                  <a:srgbClr val="FF0000"/>
                </a:solidFill>
              </a:rPr>
              <a:t>200- OK</a:t>
            </a:r>
          </a:p>
        </p:txBody>
      </p:sp>
      <p:cxnSp>
        <p:nvCxnSpPr>
          <p:cNvPr id="136" name="Straight Arrow Connector 135"/>
          <p:cNvCxnSpPr/>
          <p:nvPr/>
        </p:nvCxnSpPr>
        <p:spPr>
          <a:xfrm flipH="1">
            <a:off x="7274330" y="4490571"/>
            <a:ext cx="2145654" cy="0"/>
          </a:xfrm>
          <a:prstGeom prst="straightConnector1">
            <a:avLst/>
          </a:prstGeom>
          <a:ln w="12700">
            <a:prstDash val="sysDot"/>
            <a:tailEnd type="triangle"/>
          </a:ln>
        </p:spPr>
        <p:style>
          <a:lnRef idx="1">
            <a:schemeClr val="accent1"/>
          </a:lnRef>
          <a:fillRef idx="0">
            <a:schemeClr val="accent1"/>
          </a:fillRef>
          <a:effectRef idx="0">
            <a:schemeClr val="accent1"/>
          </a:effectRef>
          <a:fontRef idx="minor">
            <a:schemeClr val="tx1"/>
          </a:fontRef>
        </p:style>
      </p:cxnSp>
      <p:sp>
        <p:nvSpPr>
          <p:cNvPr id="138" name="TextBox 137"/>
          <p:cNvSpPr txBox="1"/>
          <p:nvPr/>
        </p:nvSpPr>
        <p:spPr>
          <a:xfrm>
            <a:off x="7033704" y="4303643"/>
            <a:ext cx="2517036" cy="246221"/>
          </a:xfrm>
          <a:prstGeom prst="rect">
            <a:avLst/>
          </a:prstGeom>
          <a:noFill/>
        </p:spPr>
        <p:txBody>
          <a:bodyPr wrap="none" rtlCol="0">
            <a:spAutoFit/>
          </a:bodyPr>
          <a:lstStyle/>
          <a:p>
            <a:r>
              <a:rPr lang="en-US" sz="1000">
                <a:solidFill>
                  <a:srgbClr val="FF0000"/>
                </a:solidFill>
              </a:rPr>
              <a:t>authentication and/or authorization Request</a:t>
            </a:r>
          </a:p>
        </p:txBody>
      </p:sp>
      <p:cxnSp>
        <p:nvCxnSpPr>
          <p:cNvPr id="139" name="Straight Arrow Connector 138"/>
          <p:cNvCxnSpPr/>
          <p:nvPr/>
        </p:nvCxnSpPr>
        <p:spPr>
          <a:xfrm>
            <a:off x="7261317" y="4623773"/>
            <a:ext cx="2188033" cy="6317"/>
          </a:xfrm>
          <a:prstGeom prst="straightConnector1">
            <a:avLst/>
          </a:prstGeom>
          <a:ln w="12700">
            <a:prstDash val="sysDot"/>
            <a:tailEnd type="triangle"/>
          </a:ln>
        </p:spPr>
        <p:style>
          <a:lnRef idx="1">
            <a:schemeClr val="accent1"/>
          </a:lnRef>
          <a:fillRef idx="0">
            <a:schemeClr val="accent1"/>
          </a:fillRef>
          <a:effectRef idx="0">
            <a:schemeClr val="accent1"/>
          </a:effectRef>
          <a:fontRef idx="minor">
            <a:schemeClr val="tx1"/>
          </a:fontRef>
        </p:style>
      </p:cxnSp>
      <p:sp>
        <p:nvSpPr>
          <p:cNvPr id="141" name="TextBox 140"/>
          <p:cNvSpPr txBox="1"/>
          <p:nvPr/>
        </p:nvSpPr>
        <p:spPr>
          <a:xfrm>
            <a:off x="7061370" y="4462005"/>
            <a:ext cx="2483372" cy="246221"/>
          </a:xfrm>
          <a:prstGeom prst="rect">
            <a:avLst/>
          </a:prstGeom>
          <a:noFill/>
        </p:spPr>
        <p:txBody>
          <a:bodyPr wrap="none" rtlCol="0">
            <a:spAutoFit/>
          </a:bodyPr>
          <a:lstStyle/>
          <a:p>
            <a:r>
              <a:rPr lang="en-US" sz="1000">
                <a:solidFill>
                  <a:srgbClr val="FF0000"/>
                </a:solidFill>
              </a:rPr>
              <a:t>authentication and/or authorization Answer</a:t>
            </a:r>
          </a:p>
        </p:txBody>
      </p:sp>
      <p:cxnSp>
        <p:nvCxnSpPr>
          <p:cNvPr id="142" name="Straight Arrow Connector 141"/>
          <p:cNvCxnSpPr/>
          <p:nvPr/>
        </p:nvCxnSpPr>
        <p:spPr>
          <a:xfrm>
            <a:off x="11192283" y="4669790"/>
            <a:ext cx="8432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3" name="TextBox 142"/>
          <p:cNvSpPr txBox="1"/>
          <p:nvPr/>
        </p:nvSpPr>
        <p:spPr>
          <a:xfrm>
            <a:off x="11283407" y="4485420"/>
            <a:ext cx="651140" cy="215444"/>
          </a:xfrm>
          <a:prstGeom prst="rect">
            <a:avLst/>
          </a:prstGeom>
          <a:noFill/>
        </p:spPr>
        <p:txBody>
          <a:bodyPr wrap="none" rtlCol="0">
            <a:spAutoFit/>
          </a:bodyPr>
          <a:lstStyle/>
          <a:p>
            <a:r>
              <a:rPr lang="en-US" sz="800"/>
              <a:t>Sip register</a:t>
            </a:r>
          </a:p>
        </p:txBody>
      </p:sp>
      <p:cxnSp>
        <p:nvCxnSpPr>
          <p:cNvPr id="144" name="Straight Arrow Connector 143"/>
          <p:cNvCxnSpPr/>
          <p:nvPr/>
        </p:nvCxnSpPr>
        <p:spPr>
          <a:xfrm flipH="1">
            <a:off x="8279350" y="4828191"/>
            <a:ext cx="3725547" cy="13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7" name="TextBox 146"/>
          <p:cNvSpPr txBox="1"/>
          <p:nvPr/>
        </p:nvSpPr>
        <p:spPr>
          <a:xfrm>
            <a:off x="9283056" y="4626298"/>
            <a:ext cx="1151277" cy="246221"/>
          </a:xfrm>
          <a:prstGeom prst="rect">
            <a:avLst/>
          </a:prstGeom>
          <a:noFill/>
        </p:spPr>
        <p:txBody>
          <a:bodyPr wrap="none" rtlCol="0">
            <a:spAutoFit/>
          </a:bodyPr>
          <a:lstStyle/>
          <a:p>
            <a:r>
              <a:rPr lang="en-US" sz="1000">
                <a:solidFill>
                  <a:srgbClr val="FF0000"/>
                </a:solidFill>
              </a:rPr>
              <a:t>User Data Request</a:t>
            </a:r>
          </a:p>
        </p:txBody>
      </p:sp>
      <p:cxnSp>
        <p:nvCxnSpPr>
          <p:cNvPr id="148" name="Straight Arrow Connector 147"/>
          <p:cNvCxnSpPr/>
          <p:nvPr/>
        </p:nvCxnSpPr>
        <p:spPr>
          <a:xfrm flipV="1">
            <a:off x="8550479" y="3463252"/>
            <a:ext cx="3715999" cy="74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9" name="TextBox 148"/>
          <p:cNvSpPr txBox="1"/>
          <p:nvPr/>
        </p:nvSpPr>
        <p:spPr>
          <a:xfrm>
            <a:off x="9310066" y="4854238"/>
            <a:ext cx="1117614" cy="246221"/>
          </a:xfrm>
          <a:prstGeom prst="rect">
            <a:avLst/>
          </a:prstGeom>
          <a:noFill/>
        </p:spPr>
        <p:txBody>
          <a:bodyPr wrap="none" rtlCol="0">
            <a:spAutoFit/>
          </a:bodyPr>
          <a:lstStyle/>
          <a:p>
            <a:r>
              <a:rPr lang="en-US" sz="1000">
                <a:solidFill>
                  <a:srgbClr val="FF0000"/>
                </a:solidFill>
              </a:rPr>
              <a:t>User Data Answer</a:t>
            </a:r>
          </a:p>
        </p:txBody>
      </p:sp>
      <p:sp>
        <p:nvSpPr>
          <p:cNvPr id="152" name="TextBox 151"/>
          <p:cNvSpPr txBox="1"/>
          <p:nvPr/>
        </p:nvSpPr>
        <p:spPr>
          <a:xfrm>
            <a:off x="11290257" y="5068650"/>
            <a:ext cx="513282" cy="215444"/>
          </a:xfrm>
          <a:prstGeom prst="rect">
            <a:avLst/>
          </a:prstGeom>
          <a:noFill/>
        </p:spPr>
        <p:txBody>
          <a:bodyPr wrap="none" rtlCol="0">
            <a:spAutoFit/>
          </a:bodyPr>
          <a:lstStyle/>
          <a:p>
            <a:r>
              <a:rPr lang="en-US" sz="800">
                <a:solidFill>
                  <a:srgbClr val="FF0000"/>
                </a:solidFill>
              </a:rPr>
              <a:t>200- OK</a:t>
            </a:r>
          </a:p>
        </p:txBody>
      </p:sp>
      <p:cxnSp>
        <p:nvCxnSpPr>
          <p:cNvPr id="153" name="Straight Arrow Connector 152"/>
          <p:cNvCxnSpPr/>
          <p:nvPr/>
        </p:nvCxnSpPr>
        <p:spPr>
          <a:xfrm flipH="1">
            <a:off x="11180381" y="5232578"/>
            <a:ext cx="838025" cy="1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p:cNvCxnSpPr/>
          <p:nvPr/>
        </p:nvCxnSpPr>
        <p:spPr>
          <a:xfrm flipV="1">
            <a:off x="9449350" y="5344598"/>
            <a:ext cx="1787349" cy="118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p:cNvCxnSpPr/>
          <p:nvPr/>
        </p:nvCxnSpPr>
        <p:spPr>
          <a:xfrm flipH="1">
            <a:off x="9419984" y="5543596"/>
            <a:ext cx="1791811" cy="89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6" name="TextBox 165"/>
          <p:cNvSpPr txBox="1"/>
          <p:nvPr/>
        </p:nvSpPr>
        <p:spPr>
          <a:xfrm>
            <a:off x="10275244" y="5137622"/>
            <a:ext cx="873957" cy="246221"/>
          </a:xfrm>
          <a:prstGeom prst="rect">
            <a:avLst/>
          </a:prstGeom>
          <a:noFill/>
        </p:spPr>
        <p:txBody>
          <a:bodyPr wrap="none" rtlCol="0">
            <a:spAutoFit/>
          </a:bodyPr>
          <a:lstStyle/>
          <a:p>
            <a:r>
              <a:rPr lang="en-US" sz="1000"/>
              <a:t>SIP Subscribe</a:t>
            </a:r>
          </a:p>
        </p:txBody>
      </p:sp>
      <p:sp>
        <p:nvSpPr>
          <p:cNvPr id="168" name="TextBox 167"/>
          <p:cNvSpPr txBox="1"/>
          <p:nvPr/>
        </p:nvSpPr>
        <p:spPr>
          <a:xfrm>
            <a:off x="9538997" y="5355501"/>
            <a:ext cx="1152880" cy="246221"/>
          </a:xfrm>
          <a:prstGeom prst="rect">
            <a:avLst/>
          </a:prstGeom>
          <a:noFill/>
        </p:spPr>
        <p:txBody>
          <a:bodyPr wrap="none" rtlCol="0">
            <a:spAutoFit/>
          </a:bodyPr>
          <a:lstStyle/>
          <a:p>
            <a:r>
              <a:rPr lang="en-US" sz="1000"/>
              <a:t>200 Ok (Subscribe)</a:t>
            </a:r>
          </a:p>
        </p:txBody>
      </p:sp>
      <p:cxnSp>
        <p:nvCxnSpPr>
          <p:cNvPr id="170" name="Straight Arrow Connector 169"/>
          <p:cNvCxnSpPr/>
          <p:nvPr/>
        </p:nvCxnSpPr>
        <p:spPr>
          <a:xfrm flipV="1">
            <a:off x="9434323" y="5741699"/>
            <a:ext cx="1787349" cy="118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170"/>
          <p:cNvCxnSpPr/>
          <p:nvPr/>
        </p:nvCxnSpPr>
        <p:spPr>
          <a:xfrm flipH="1">
            <a:off x="9417836" y="5966455"/>
            <a:ext cx="1791811" cy="89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2" name="TextBox 171"/>
          <p:cNvSpPr txBox="1"/>
          <p:nvPr/>
        </p:nvSpPr>
        <p:spPr>
          <a:xfrm>
            <a:off x="10260217" y="5534723"/>
            <a:ext cx="873957" cy="246221"/>
          </a:xfrm>
          <a:prstGeom prst="rect">
            <a:avLst/>
          </a:prstGeom>
          <a:noFill/>
        </p:spPr>
        <p:txBody>
          <a:bodyPr wrap="none" rtlCol="0">
            <a:spAutoFit/>
          </a:bodyPr>
          <a:lstStyle/>
          <a:p>
            <a:r>
              <a:rPr lang="en-US" sz="1000"/>
              <a:t>SIP Subscribe</a:t>
            </a:r>
          </a:p>
        </p:txBody>
      </p:sp>
      <p:sp>
        <p:nvSpPr>
          <p:cNvPr id="173" name="TextBox 172"/>
          <p:cNvSpPr txBox="1"/>
          <p:nvPr/>
        </p:nvSpPr>
        <p:spPr>
          <a:xfrm>
            <a:off x="9523970" y="5752602"/>
            <a:ext cx="1152880" cy="246221"/>
          </a:xfrm>
          <a:prstGeom prst="rect">
            <a:avLst/>
          </a:prstGeom>
          <a:noFill/>
        </p:spPr>
        <p:txBody>
          <a:bodyPr wrap="none" rtlCol="0">
            <a:spAutoFit/>
          </a:bodyPr>
          <a:lstStyle/>
          <a:p>
            <a:r>
              <a:rPr lang="en-US" sz="1000"/>
              <a:t>200 Ok (Subscribe)</a:t>
            </a:r>
          </a:p>
        </p:txBody>
      </p:sp>
      <p:cxnSp>
        <p:nvCxnSpPr>
          <p:cNvPr id="174" name="Straight Arrow Connector 173"/>
          <p:cNvCxnSpPr/>
          <p:nvPr/>
        </p:nvCxnSpPr>
        <p:spPr>
          <a:xfrm>
            <a:off x="703004" y="5752137"/>
            <a:ext cx="8712921" cy="5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75" name="TextBox 174"/>
          <p:cNvSpPr txBox="1"/>
          <p:nvPr/>
        </p:nvSpPr>
        <p:spPr>
          <a:xfrm>
            <a:off x="3536318" y="5520718"/>
            <a:ext cx="1011046" cy="276999"/>
          </a:xfrm>
          <a:prstGeom prst="rect">
            <a:avLst/>
          </a:prstGeom>
          <a:noFill/>
        </p:spPr>
        <p:txBody>
          <a:bodyPr wrap="none" rtlCol="0">
            <a:spAutoFit/>
          </a:bodyPr>
          <a:lstStyle/>
          <a:p>
            <a:r>
              <a:rPr lang="en-US" sz="1200"/>
              <a:t>SIP Subscribe</a:t>
            </a:r>
          </a:p>
        </p:txBody>
      </p:sp>
      <p:cxnSp>
        <p:nvCxnSpPr>
          <p:cNvPr id="176" name="Straight Arrow Connector 175"/>
          <p:cNvCxnSpPr/>
          <p:nvPr/>
        </p:nvCxnSpPr>
        <p:spPr>
          <a:xfrm flipH="1" flipV="1">
            <a:off x="703004" y="5962010"/>
            <a:ext cx="8728478" cy="1609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79" name="TextBox 178"/>
          <p:cNvSpPr txBox="1"/>
          <p:nvPr/>
        </p:nvSpPr>
        <p:spPr>
          <a:xfrm>
            <a:off x="892685" y="5766322"/>
            <a:ext cx="1358898" cy="276999"/>
          </a:xfrm>
          <a:prstGeom prst="rect">
            <a:avLst/>
          </a:prstGeom>
          <a:noFill/>
        </p:spPr>
        <p:txBody>
          <a:bodyPr wrap="none" rtlCol="0">
            <a:spAutoFit/>
          </a:bodyPr>
          <a:lstStyle/>
          <a:p>
            <a:r>
              <a:rPr lang="en-US" sz="1200"/>
              <a:t>200 Ok (Subscribe)</a:t>
            </a:r>
          </a:p>
        </p:txBody>
      </p:sp>
      <p:cxnSp>
        <p:nvCxnSpPr>
          <p:cNvPr id="181" name="Straight Arrow Connector 180"/>
          <p:cNvCxnSpPr/>
          <p:nvPr/>
        </p:nvCxnSpPr>
        <p:spPr>
          <a:xfrm flipV="1">
            <a:off x="9434155" y="6386799"/>
            <a:ext cx="1787349" cy="118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2" name="Straight Arrow Connector 181"/>
          <p:cNvCxnSpPr/>
          <p:nvPr/>
        </p:nvCxnSpPr>
        <p:spPr>
          <a:xfrm flipH="1">
            <a:off x="9417835" y="6185153"/>
            <a:ext cx="1791811" cy="89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3" name="TextBox 182"/>
          <p:cNvSpPr txBox="1"/>
          <p:nvPr/>
        </p:nvSpPr>
        <p:spPr>
          <a:xfrm>
            <a:off x="9795844" y="5984664"/>
            <a:ext cx="688009" cy="246221"/>
          </a:xfrm>
          <a:prstGeom prst="rect">
            <a:avLst/>
          </a:prstGeom>
          <a:noFill/>
        </p:spPr>
        <p:txBody>
          <a:bodyPr wrap="none" rtlCol="0">
            <a:spAutoFit/>
          </a:bodyPr>
          <a:lstStyle/>
          <a:p>
            <a:r>
              <a:rPr lang="en-US" sz="1000"/>
              <a:t>Sip Notify</a:t>
            </a:r>
          </a:p>
        </p:txBody>
      </p:sp>
      <p:cxnSp>
        <p:nvCxnSpPr>
          <p:cNvPr id="184" name="Straight Arrow Connector 183"/>
          <p:cNvCxnSpPr/>
          <p:nvPr/>
        </p:nvCxnSpPr>
        <p:spPr>
          <a:xfrm flipH="1">
            <a:off x="11180380" y="6071408"/>
            <a:ext cx="838025" cy="1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5" name="TextBox 184"/>
          <p:cNvSpPr txBox="1"/>
          <p:nvPr/>
        </p:nvSpPr>
        <p:spPr>
          <a:xfrm>
            <a:off x="11237906" y="5854288"/>
            <a:ext cx="736099" cy="215444"/>
          </a:xfrm>
          <a:prstGeom prst="rect">
            <a:avLst/>
          </a:prstGeom>
          <a:noFill/>
        </p:spPr>
        <p:txBody>
          <a:bodyPr wrap="none" rtlCol="0">
            <a:spAutoFit/>
          </a:bodyPr>
          <a:lstStyle/>
          <a:p>
            <a:r>
              <a:rPr lang="en-US" sz="800">
                <a:solidFill>
                  <a:srgbClr val="FF0000"/>
                </a:solidFill>
              </a:rPr>
              <a:t>SIP Subscribe</a:t>
            </a:r>
          </a:p>
        </p:txBody>
      </p:sp>
      <p:sp>
        <p:nvSpPr>
          <p:cNvPr id="186" name="TextBox 185"/>
          <p:cNvSpPr txBox="1"/>
          <p:nvPr/>
        </p:nvSpPr>
        <p:spPr>
          <a:xfrm>
            <a:off x="9664976" y="6170697"/>
            <a:ext cx="978153" cy="246221"/>
          </a:xfrm>
          <a:prstGeom prst="rect">
            <a:avLst/>
          </a:prstGeom>
          <a:noFill/>
        </p:spPr>
        <p:txBody>
          <a:bodyPr wrap="none" rtlCol="0">
            <a:spAutoFit/>
          </a:bodyPr>
          <a:lstStyle/>
          <a:p>
            <a:r>
              <a:rPr lang="en-US" sz="1000"/>
              <a:t>200 Ok (Notify)</a:t>
            </a:r>
          </a:p>
        </p:txBody>
      </p:sp>
      <p:cxnSp>
        <p:nvCxnSpPr>
          <p:cNvPr id="187" name="Straight Arrow Connector 186"/>
          <p:cNvCxnSpPr/>
          <p:nvPr/>
        </p:nvCxnSpPr>
        <p:spPr>
          <a:xfrm>
            <a:off x="11229567" y="6385844"/>
            <a:ext cx="8432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8" name="TextBox 187"/>
          <p:cNvSpPr txBox="1"/>
          <p:nvPr/>
        </p:nvSpPr>
        <p:spPr>
          <a:xfrm>
            <a:off x="11114716" y="6175523"/>
            <a:ext cx="962123" cy="215444"/>
          </a:xfrm>
          <a:prstGeom prst="rect">
            <a:avLst/>
          </a:prstGeom>
          <a:noFill/>
        </p:spPr>
        <p:txBody>
          <a:bodyPr wrap="none" rtlCol="0">
            <a:spAutoFit/>
          </a:bodyPr>
          <a:lstStyle/>
          <a:p>
            <a:r>
              <a:rPr lang="en-US" sz="800">
                <a:solidFill>
                  <a:srgbClr val="FF0000"/>
                </a:solidFill>
              </a:rPr>
              <a:t>200 Ok (Subscribe)</a:t>
            </a:r>
          </a:p>
        </p:txBody>
      </p:sp>
      <p:cxnSp>
        <p:nvCxnSpPr>
          <p:cNvPr id="190" name="Straight Arrow Connector 189"/>
          <p:cNvCxnSpPr/>
          <p:nvPr/>
        </p:nvCxnSpPr>
        <p:spPr>
          <a:xfrm flipV="1">
            <a:off x="9444823" y="6809945"/>
            <a:ext cx="1787349" cy="118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p:nvPr/>
        </p:nvCxnSpPr>
        <p:spPr>
          <a:xfrm flipH="1">
            <a:off x="9428503" y="6608299"/>
            <a:ext cx="1791811" cy="89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2" name="TextBox 191"/>
          <p:cNvSpPr txBox="1"/>
          <p:nvPr/>
        </p:nvSpPr>
        <p:spPr>
          <a:xfrm>
            <a:off x="9845149" y="6407810"/>
            <a:ext cx="688009" cy="246221"/>
          </a:xfrm>
          <a:prstGeom prst="rect">
            <a:avLst/>
          </a:prstGeom>
          <a:noFill/>
        </p:spPr>
        <p:txBody>
          <a:bodyPr wrap="none" rtlCol="0">
            <a:spAutoFit/>
          </a:bodyPr>
          <a:lstStyle/>
          <a:p>
            <a:r>
              <a:rPr lang="en-US" sz="1000"/>
              <a:t>Sip Notify</a:t>
            </a:r>
          </a:p>
        </p:txBody>
      </p:sp>
      <p:sp>
        <p:nvSpPr>
          <p:cNvPr id="193" name="TextBox 192"/>
          <p:cNvSpPr txBox="1"/>
          <p:nvPr/>
        </p:nvSpPr>
        <p:spPr>
          <a:xfrm>
            <a:off x="9714281" y="6593843"/>
            <a:ext cx="978153" cy="246221"/>
          </a:xfrm>
          <a:prstGeom prst="rect">
            <a:avLst/>
          </a:prstGeom>
          <a:noFill/>
        </p:spPr>
        <p:txBody>
          <a:bodyPr wrap="none" rtlCol="0">
            <a:spAutoFit/>
          </a:bodyPr>
          <a:lstStyle/>
          <a:p>
            <a:r>
              <a:rPr lang="en-US" sz="1000"/>
              <a:t>200 Ok (Notify)</a:t>
            </a:r>
          </a:p>
        </p:txBody>
      </p:sp>
      <p:cxnSp>
        <p:nvCxnSpPr>
          <p:cNvPr id="194" name="Straight Arrow Connector 193"/>
          <p:cNvCxnSpPr/>
          <p:nvPr/>
        </p:nvCxnSpPr>
        <p:spPr>
          <a:xfrm>
            <a:off x="11217878" y="6593843"/>
            <a:ext cx="8432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11278692" y="6416918"/>
            <a:ext cx="588623" cy="215444"/>
          </a:xfrm>
          <a:prstGeom prst="rect">
            <a:avLst/>
          </a:prstGeom>
          <a:noFill/>
        </p:spPr>
        <p:txBody>
          <a:bodyPr wrap="none" rtlCol="0">
            <a:spAutoFit/>
          </a:bodyPr>
          <a:lstStyle/>
          <a:p>
            <a:r>
              <a:rPr lang="en-US" sz="800">
                <a:solidFill>
                  <a:srgbClr val="FF0000"/>
                </a:solidFill>
              </a:rPr>
              <a:t>SIP Notify</a:t>
            </a:r>
          </a:p>
        </p:txBody>
      </p:sp>
      <p:cxnSp>
        <p:nvCxnSpPr>
          <p:cNvPr id="196" name="Straight Arrow Connector 195"/>
          <p:cNvCxnSpPr/>
          <p:nvPr/>
        </p:nvCxnSpPr>
        <p:spPr>
          <a:xfrm flipH="1">
            <a:off x="11204470" y="6799995"/>
            <a:ext cx="838025" cy="1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11210346" y="6639244"/>
            <a:ext cx="853119" cy="215444"/>
          </a:xfrm>
          <a:prstGeom prst="rect">
            <a:avLst/>
          </a:prstGeom>
          <a:noFill/>
        </p:spPr>
        <p:txBody>
          <a:bodyPr wrap="none" rtlCol="0">
            <a:spAutoFit/>
          </a:bodyPr>
          <a:lstStyle/>
          <a:p>
            <a:r>
              <a:rPr lang="en-US" sz="800">
                <a:solidFill>
                  <a:srgbClr val="FF0000"/>
                </a:solidFill>
              </a:rPr>
              <a:t>200- OK (Notify)</a:t>
            </a:r>
          </a:p>
        </p:txBody>
      </p:sp>
      <p:cxnSp>
        <p:nvCxnSpPr>
          <p:cNvPr id="198" name="Straight Arrow Connector 197"/>
          <p:cNvCxnSpPr/>
          <p:nvPr/>
        </p:nvCxnSpPr>
        <p:spPr>
          <a:xfrm>
            <a:off x="740152" y="6818629"/>
            <a:ext cx="8712921" cy="5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0" name="Straight Arrow Connector 199"/>
          <p:cNvCxnSpPr/>
          <p:nvPr/>
        </p:nvCxnSpPr>
        <p:spPr>
          <a:xfrm flipH="1" flipV="1">
            <a:off x="752372" y="6590928"/>
            <a:ext cx="8728478" cy="1609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02" name="TextBox 201"/>
          <p:cNvSpPr txBox="1"/>
          <p:nvPr/>
        </p:nvSpPr>
        <p:spPr>
          <a:xfrm>
            <a:off x="1046997" y="6352756"/>
            <a:ext cx="789768" cy="276999"/>
          </a:xfrm>
          <a:prstGeom prst="rect">
            <a:avLst/>
          </a:prstGeom>
          <a:noFill/>
        </p:spPr>
        <p:txBody>
          <a:bodyPr wrap="none" rtlCol="0">
            <a:spAutoFit/>
          </a:bodyPr>
          <a:lstStyle/>
          <a:p>
            <a:r>
              <a:rPr lang="en-US" sz="1200"/>
              <a:t>Sip Notify</a:t>
            </a:r>
          </a:p>
        </p:txBody>
      </p:sp>
      <p:sp>
        <p:nvSpPr>
          <p:cNvPr id="203" name="TextBox 202"/>
          <p:cNvSpPr txBox="1"/>
          <p:nvPr/>
        </p:nvSpPr>
        <p:spPr>
          <a:xfrm>
            <a:off x="3388336" y="6606706"/>
            <a:ext cx="1140825" cy="276999"/>
          </a:xfrm>
          <a:prstGeom prst="rect">
            <a:avLst/>
          </a:prstGeom>
          <a:noFill/>
        </p:spPr>
        <p:txBody>
          <a:bodyPr wrap="none" rtlCol="0">
            <a:spAutoFit/>
          </a:bodyPr>
          <a:lstStyle/>
          <a:p>
            <a:r>
              <a:rPr lang="en-US" sz="1200"/>
              <a:t>200 Ok (Notify)</a:t>
            </a:r>
          </a:p>
        </p:txBody>
      </p:sp>
      <p:sp>
        <p:nvSpPr>
          <p:cNvPr id="204" name="TextBox 203"/>
          <p:cNvSpPr txBox="1"/>
          <p:nvPr/>
        </p:nvSpPr>
        <p:spPr>
          <a:xfrm>
            <a:off x="291548" y="26886"/>
            <a:ext cx="11900451" cy="369332"/>
          </a:xfrm>
          <a:prstGeom prst="rect">
            <a:avLst/>
          </a:prstGeom>
          <a:solidFill>
            <a:srgbClr val="FFC000"/>
          </a:solidFill>
        </p:spPr>
        <p:txBody>
          <a:bodyPr wrap="square" rtlCol="0">
            <a:spAutoFit/>
          </a:bodyPr>
          <a:lstStyle/>
          <a:p>
            <a:pPr algn="ctr"/>
            <a:r>
              <a:rPr lang="en-US"/>
              <a:t>IMS Registration – SIP (Session Initiation Protocol) Registration</a:t>
            </a:r>
          </a:p>
        </p:txBody>
      </p:sp>
    </p:spTree>
    <p:extLst>
      <p:ext uri="{BB962C8B-B14F-4D97-AF65-F5344CB8AC3E}">
        <p14:creationId xmlns:p14="http://schemas.microsoft.com/office/powerpoint/2010/main" val="4156205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barn(inVertical)">
                                      <p:cBhvr>
                                        <p:cTn id="7" dur="500"/>
                                        <p:tgtEl>
                                          <p:spTgt spid="8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0"/>
                                        </p:tgtEl>
                                        <p:attrNameLst>
                                          <p:attrName>style.visibility</p:attrName>
                                        </p:attrNameLst>
                                      </p:cBhvr>
                                      <p:to>
                                        <p:strVal val="visible"/>
                                      </p:to>
                                    </p:set>
                                    <p:animEffect transition="in" filter="barn(inVertical)">
                                      <p:cBhvr>
                                        <p:cTn id="10" dur="500"/>
                                        <p:tgtEl>
                                          <p:spTgt spid="9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91"/>
                                        </p:tgtEl>
                                        <p:attrNameLst>
                                          <p:attrName>style.visibility</p:attrName>
                                        </p:attrNameLst>
                                      </p:cBhvr>
                                      <p:to>
                                        <p:strVal val="visible"/>
                                      </p:to>
                                    </p:set>
                                    <p:animEffect transition="in" filter="barn(inVertical)">
                                      <p:cBhvr>
                                        <p:cTn id="15" dur="500"/>
                                        <p:tgtEl>
                                          <p:spTgt spid="91"/>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92"/>
                                        </p:tgtEl>
                                        <p:attrNameLst>
                                          <p:attrName>style.visibility</p:attrName>
                                        </p:attrNameLst>
                                      </p:cBhvr>
                                      <p:to>
                                        <p:strVal val="visible"/>
                                      </p:to>
                                    </p:set>
                                    <p:animEffect transition="in" filter="barn(inVertical)">
                                      <p:cBhvr>
                                        <p:cTn id="18" dur="500"/>
                                        <p:tgtEl>
                                          <p:spTgt spid="92"/>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94"/>
                                        </p:tgtEl>
                                        <p:attrNameLst>
                                          <p:attrName>style.visibility</p:attrName>
                                        </p:attrNameLst>
                                      </p:cBhvr>
                                      <p:to>
                                        <p:strVal val="visible"/>
                                      </p:to>
                                    </p:set>
                                    <p:animEffect transition="in" filter="barn(inVertical)">
                                      <p:cBhvr>
                                        <p:cTn id="23" dur="500"/>
                                        <p:tgtEl>
                                          <p:spTgt spid="94"/>
                                        </p:tgtEl>
                                      </p:cBhvr>
                                    </p:animEffect>
                                  </p:childTnLst>
                                </p:cTn>
                              </p:par>
                              <p:par>
                                <p:cTn id="24" presetID="16" presetClass="entr" presetSubtype="21" fill="hold" nodeType="withEffect">
                                  <p:stCondLst>
                                    <p:cond delay="0"/>
                                  </p:stCondLst>
                                  <p:childTnLst>
                                    <p:set>
                                      <p:cBhvr>
                                        <p:cTn id="25" dur="1" fill="hold">
                                          <p:stCondLst>
                                            <p:cond delay="0"/>
                                          </p:stCondLst>
                                        </p:cTn>
                                        <p:tgtEl>
                                          <p:spTgt spid="93"/>
                                        </p:tgtEl>
                                        <p:attrNameLst>
                                          <p:attrName>style.visibility</p:attrName>
                                        </p:attrNameLst>
                                      </p:cBhvr>
                                      <p:to>
                                        <p:strVal val="visible"/>
                                      </p:to>
                                    </p:set>
                                    <p:animEffect transition="in" filter="barn(inVertical)">
                                      <p:cBhvr>
                                        <p:cTn id="26" dur="500"/>
                                        <p:tgtEl>
                                          <p:spTgt spid="93"/>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95"/>
                                        </p:tgtEl>
                                        <p:attrNameLst>
                                          <p:attrName>style.visibility</p:attrName>
                                        </p:attrNameLst>
                                      </p:cBhvr>
                                      <p:to>
                                        <p:strVal val="visible"/>
                                      </p:to>
                                    </p:set>
                                    <p:animEffect transition="in" filter="barn(inVertical)">
                                      <p:cBhvr>
                                        <p:cTn id="31" dur="500"/>
                                        <p:tgtEl>
                                          <p:spTgt spid="95"/>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96"/>
                                        </p:tgtEl>
                                        <p:attrNameLst>
                                          <p:attrName>style.visibility</p:attrName>
                                        </p:attrNameLst>
                                      </p:cBhvr>
                                      <p:to>
                                        <p:strVal val="visible"/>
                                      </p:to>
                                    </p:set>
                                    <p:animEffect transition="in" filter="barn(inVertical)">
                                      <p:cBhvr>
                                        <p:cTn id="34" dur="500"/>
                                        <p:tgtEl>
                                          <p:spTgt spid="96"/>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97"/>
                                        </p:tgtEl>
                                        <p:attrNameLst>
                                          <p:attrName>style.visibility</p:attrName>
                                        </p:attrNameLst>
                                      </p:cBhvr>
                                      <p:to>
                                        <p:strVal val="visible"/>
                                      </p:to>
                                    </p:set>
                                    <p:animEffect transition="in" filter="barn(inVertical)">
                                      <p:cBhvr>
                                        <p:cTn id="39" dur="500"/>
                                        <p:tgtEl>
                                          <p:spTgt spid="97"/>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98"/>
                                        </p:tgtEl>
                                        <p:attrNameLst>
                                          <p:attrName>style.visibility</p:attrName>
                                        </p:attrNameLst>
                                      </p:cBhvr>
                                      <p:to>
                                        <p:strVal val="visible"/>
                                      </p:to>
                                    </p:set>
                                    <p:animEffect transition="in" filter="barn(inVertical)">
                                      <p:cBhvr>
                                        <p:cTn id="42" dur="500"/>
                                        <p:tgtEl>
                                          <p:spTgt spid="98"/>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100"/>
                                        </p:tgtEl>
                                        <p:attrNameLst>
                                          <p:attrName>style.visibility</p:attrName>
                                        </p:attrNameLst>
                                      </p:cBhvr>
                                      <p:to>
                                        <p:strVal val="visible"/>
                                      </p:to>
                                    </p:set>
                                    <p:animEffect transition="in" filter="barn(inVertical)">
                                      <p:cBhvr>
                                        <p:cTn id="47" dur="500"/>
                                        <p:tgtEl>
                                          <p:spTgt spid="100"/>
                                        </p:tgtEl>
                                      </p:cBhvr>
                                    </p:animEffect>
                                  </p:childTnLst>
                                </p:cTn>
                              </p:par>
                              <p:par>
                                <p:cTn id="48" presetID="16" presetClass="entr" presetSubtype="21" fill="hold" nodeType="withEffect">
                                  <p:stCondLst>
                                    <p:cond delay="0"/>
                                  </p:stCondLst>
                                  <p:childTnLst>
                                    <p:set>
                                      <p:cBhvr>
                                        <p:cTn id="49" dur="1" fill="hold">
                                          <p:stCondLst>
                                            <p:cond delay="0"/>
                                          </p:stCondLst>
                                        </p:cTn>
                                        <p:tgtEl>
                                          <p:spTgt spid="99"/>
                                        </p:tgtEl>
                                        <p:attrNameLst>
                                          <p:attrName>style.visibility</p:attrName>
                                        </p:attrNameLst>
                                      </p:cBhvr>
                                      <p:to>
                                        <p:strVal val="visible"/>
                                      </p:to>
                                    </p:set>
                                    <p:animEffect transition="in" filter="barn(inVertical)">
                                      <p:cBhvr>
                                        <p:cTn id="50" dur="500"/>
                                        <p:tgtEl>
                                          <p:spTgt spid="99"/>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101"/>
                                        </p:tgtEl>
                                        <p:attrNameLst>
                                          <p:attrName>style.visibility</p:attrName>
                                        </p:attrNameLst>
                                      </p:cBhvr>
                                      <p:to>
                                        <p:strVal val="visible"/>
                                      </p:to>
                                    </p:set>
                                    <p:animEffect transition="in" filter="barn(inVertical)">
                                      <p:cBhvr>
                                        <p:cTn id="53" dur="500"/>
                                        <p:tgtEl>
                                          <p:spTgt spid="101"/>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102"/>
                                        </p:tgtEl>
                                        <p:attrNameLst>
                                          <p:attrName>style.visibility</p:attrName>
                                        </p:attrNameLst>
                                      </p:cBhvr>
                                      <p:to>
                                        <p:strVal val="visible"/>
                                      </p:to>
                                    </p:set>
                                    <p:animEffect transition="in" filter="barn(inVertical)">
                                      <p:cBhvr>
                                        <p:cTn id="56" dur="500"/>
                                        <p:tgtEl>
                                          <p:spTgt spid="102"/>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21" fill="hold" nodeType="clickEffect">
                                  <p:stCondLst>
                                    <p:cond delay="0"/>
                                  </p:stCondLst>
                                  <p:childTnLst>
                                    <p:set>
                                      <p:cBhvr>
                                        <p:cTn id="60" dur="1" fill="hold">
                                          <p:stCondLst>
                                            <p:cond delay="0"/>
                                          </p:stCondLst>
                                        </p:cTn>
                                        <p:tgtEl>
                                          <p:spTgt spid="107"/>
                                        </p:tgtEl>
                                        <p:attrNameLst>
                                          <p:attrName>style.visibility</p:attrName>
                                        </p:attrNameLst>
                                      </p:cBhvr>
                                      <p:to>
                                        <p:strVal val="visible"/>
                                      </p:to>
                                    </p:set>
                                    <p:animEffect transition="in" filter="barn(inVertical)">
                                      <p:cBhvr>
                                        <p:cTn id="61" dur="500"/>
                                        <p:tgtEl>
                                          <p:spTgt spid="107"/>
                                        </p:tgtEl>
                                      </p:cBhvr>
                                    </p:animEffect>
                                  </p:childTnLst>
                                </p:cTn>
                              </p:par>
                            </p:childTnLst>
                          </p:cTn>
                        </p:par>
                      </p:childTnLst>
                    </p:cTn>
                  </p:par>
                  <p:par>
                    <p:cTn id="62" fill="hold">
                      <p:stCondLst>
                        <p:cond delay="indefinite"/>
                      </p:stCondLst>
                      <p:childTnLst>
                        <p:par>
                          <p:cTn id="63" fill="hold">
                            <p:stCondLst>
                              <p:cond delay="0"/>
                            </p:stCondLst>
                            <p:childTnLst>
                              <p:par>
                                <p:cTn id="64" presetID="16" presetClass="entr" presetSubtype="21" fill="hold" grpId="0" nodeType="clickEffect">
                                  <p:stCondLst>
                                    <p:cond delay="0"/>
                                  </p:stCondLst>
                                  <p:childTnLst>
                                    <p:set>
                                      <p:cBhvr>
                                        <p:cTn id="65" dur="1" fill="hold">
                                          <p:stCondLst>
                                            <p:cond delay="0"/>
                                          </p:stCondLst>
                                        </p:cTn>
                                        <p:tgtEl>
                                          <p:spTgt spid="104"/>
                                        </p:tgtEl>
                                        <p:attrNameLst>
                                          <p:attrName>style.visibility</p:attrName>
                                        </p:attrNameLst>
                                      </p:cBhvr>
                                      <p:to>
                                        <p:strVal val="visible"/>
                                      </p:to>
                                    </p:set>
                                    <p:animEffect transition="in" filter="barn(inVertical)">
                                      <p:cBhvr>
                                        <p:cTn id="66" dur="500"/>
                                        <p:tgtEl>
                                          <p:spTgt spid="104"/>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21" fill="hold" nodeType="clickEffect">
                                  <p:stCondLst>
                                    <p:cond delay="0"/>
                                  </p:stCondLst>
                                  <p:childTnLst>
                                    <p:set>
                                      <p:cBhvr>
                                        <p:cTn id="70" dur="1" fill="hold">
                                          <p:stCondLst>
                                            <p:cond delay="0"/>
                                          </p:stCondLst>
                                        </p:cTn>
                                        <p:tgtEl>
                                          <p:spTgt spid="105"/>
                                        </p:tgtEl>
                                        <p:attrNameLst>
                                          <p:attrName>style.visibility</p:attrName>
                                        </p:attrNameLst>
                                      </p:cBhvr>
                                      <p:to>
                                        <p:strVal val="visible"/>
                                      </p:to>
                                    </p:set>
                                    <p:animEffect transition="in" filter="barn(inVertical)">
                                      <p:cBhvr>
                                        <p:cTn id="71" dur="500"/>
                                        <p:tgtEl>
                                          <p:spTgt spid="105"/>
                                        </p:tgtEl>
                                      </p:cBhvr>
                                    </p:animEffect>
                                  </p:childTnLst>
                                </p:cTn>
                              </p:par>
                            </p:childTnLst>
                          </p:cTn>
                        </p:par>
                      </p:childTnLst>
                    </p:cTn>
                  </p:par>
                  <p:par>
                    <p:cTn id="72" fill="hold">
                      <p:stCondLst>
                        <p:cond delay="indefinite"/>
                      </p:stCondLst>
                      <p:childTnLst>
                        <p:par>
                          <p:cTn id="73" fill="hold">
                            <p:stCondLst>
                              <p:cond delay="0"/>
                            </p:stCondLst>
                            <p:childTnLst>
                              <p:par>
                                <p:cTn id="74" presetID="16" presetClass="entr" presetSubtype="21" fill="hold" grpId="0" nodeType="clickEffect">
                                  <p:stCondLst>
                                    <p:cond delay="0"/>
                                  </p:stCondLst>
                                  <p:childTnLst>
                                    <p:set>
                                      <p:cBhvr>
                                        <p:cTn id="75" dur="1" fill="hold">
                                          <p:stCondLst>
                                            <p:cond delay="0"/>
                                          </p:stCondLst>
                                        </p:cTn>
                                        <p:tgtEl>
                                          <p:spTgt spid="108"/>
                                        </p:tgtEl>
                                        <p:attrNameLst>
                                          <p:attrName>style.visibility</p:attrName>
                                        </p:attrNameLst>
                                      </p:cBhvr>
                                      <p:to>
                                        <p:strVal val="visible"/>
                                      </p:to>
                                    </p:set>
                                    <p:animEffect transition="in" filter="barn(inVertical)">
                                      <p:cBhvr>
                                        <p:cTn id="76" dur="500"/>
                                        <p:tgtEl>
                                          <p:spTgt spid="108"/>
                                        </p:tgtEl>
                                      </p:cBhvr>
                                    </p:animEffect>
                                  </p:childTnLst>
                                </p:cTn>
                              </p:par>
                            </p:childTnLst>
                          </p:cTn>
                        </p:par>
                      </p:childTnLst>
                    </p:cTn>
                  </p:par>
                  <p:par>
                    <p:cTn id="77" fill="hold">
                      <p:stCondLst>
                        <p:cond delay="indefinite"/>
                      </p:stCondLst>
                      <p:childTnLst>
                        <p:par>
                          <p:cTn id="78" fill="hold">
                            <p:stCondLst>
                              <p:cond delay="0"/>
                            </p:stCondLst>
                            <p:childTnLst>
                              <p:par>
                                <p:cTn id="79" presetID="16" presetClass="entr" presetSubtype="21" fill="hold" nodeType="clickEffect">
                                  <p:stCondLst>
                                    <p:cond delay="0"/>
                                  </p:stCondLst>
                                  <p:childTnLst>
                                    <p:set>
                                      <p:cBhvr>
                                        <p:cTn id="80" dur="1" fill="hold">
                                          <p:stCondLst>
                                            <p:cond delay="0"/>
                                          </p:stCondLst>
                                        </p:cTn>
                                        <p:tgtEl>
                                          <p:spTgt spid="109"/>
                                        </p:tgtEl>
                                        <p:attrNameLst>
                                          <p:attrName>style.visibility</p:attrName>
                                        </p:attrNameLst>
                                      </p:cBhvr>
                                      <p:to>
                                        <p:strVal val="visible"/>
                                      </p:to>
                                    </p:set>
                                    <p:animEffect transition="in" filter="barn(inVertical)">
                                      <p:cBhvr>
                                        <p:cTn id="81" dur="500"/>
                                        <p:tgtEl>
                                          <p:spTgt spid="109"/>
                                        </p:tgtEl>
                                      </p:cBhvr>
                                    </p:animEffect>
                                  </p:childTnLst>
                                </p:cTn>
                              </p:par>
                            </p:childTnLst>
                          </p:cTn>
                        </p:par>
                      </p:childTnLst>
                    </p:cTn>
                  </p:par>
                  <p:par>
                    <p:cTn id="82" fill="hold">
                      <p:stCondLst>
                        <p:cond delay="indefinite"/>
                      </p:stCondLst>
                      <p:childTnLst>
                        <p:par>
                          <p:cTn id="83" fill="hold">
                            <p:stCondLst>
                              <p:cond delay="0"/>
                            </p:stCondLst>
                            <p:childTnLst>
                              <p:par>
                                <p:cTn id="84" presetID="16" presetClass="entr" presetSubtype="21" fill="hold" grpId="0" nodeType="clickEffect">
                                  <p:stCondLst>
                                    <p:cond delay="0"/>
                                  </p:stCondLst>
                                  <p:childTnLst>
                                    <p:set>
                                      <p:cBhvr>
                                        <p:cTn id="85" dur="1" fill="hold">
                                          <p:stCondLst>
                                            <p:cond delay="0"/>
                                          </p:stCondLst>
                                        </p:cTn>
                                        <p:tgtEl>
                                          <p:spTgt spid="114"/>
                                        </p:tgtEl>
                                        <p:attrNameLst>
                                          <p:attrName>style.visibility</p:attrName>
                                        </p:attrNameLst>
                                      </p:cBhvr>
                                      <p:to>
                                        <p:strVal val="visible"/>
                                      </p:to>
                                    </p:set>
                                    <p:animEffect transition="in" filter="barn(inVertical)">
                                      <p:cBhvr>
                                        <p:cTn id="86" dur="500"/>
                                        <p:tgtEl>
                                          <p:spTgt spid="114"/>
                                        </p:tgtEl>
                                      </p:cBhvr>
                                    </p:animEffect>
                                  </p:childTnLst>
                                </p:cTn>
                              </p:par>
                            </p:childTnLst>
                          </p:cTn>
                        </p:par>
                      </p:childTnLst>
                    </p:cTn>
                  </p:par>
                  <p:par>
                    <p:cTn id="87" fill="hold">
                      <p:stCondLst>
                        <p:cond delay="indefinite"/>
                      </p:stCondLst>
                      <p:childTnLst>
                        <p:par>
                          <p:cTn id="88" fill="hold">
                            <p:stCondLst>
                              <p:cond delay="0"/>
                            </p:stCondLst>
                            <p:childTnLst>
                              <p:par>
                                <p:cTn id="89" presetID="16" presetClass="entr" presetSubtype="21" fill="hold" nodeType="clickEffect">
                                  <p:stCondLst>
                                    <p:cond delay="0"/>
                                  </p:stCondLst>
                                  <p:childTnLst>
                                    <p:set>
                                      <p:cBhvr>
                                        <p:cTn id="90" dur="1" fill="hold">
                                          <p:stCondLst>
                                            <p:cond delay="0"/>
                                          </p:stCondLst>
                                        </p:cTn>
                                        <p:tgtEl>
                                          <p:spTgt spid="115"/>
                                        </p:tgtEl>
                                        <p:attrNameLst>
                                          <p:attrName>style.visibility</p:attrName>
                                        </p:attrNameLst>
                                      </p:cBhvr>
                                      <p:to>
                                        <p:strVal val="visible"/>
                                      </p:to>
                                    </p:set>
                                    <p:animEffect transition="in" filter="barn(inVertical)">
                                      <p:cBhvr>
                                        <p:cTn id="91" dur="500"/>
                                        <p:tgtEl>
                                          <p:spTgt spid="115"/>
                                        </p:tgtEl>
                                      </p:cBhvr>
                                    </p:animEffect>
                                  </p:childTnLst>
                                </p:cTn>
                              </p:par>
                              <p:par>
                                <p:cTn id="92" presetID="16" presetClass="entr" presetSubtype="21" fill="hold" grpId="0" nodeType="withEffect">
                                  <p:stCondLst>
                                    <p:cond delay="0"/>
                                  </p:stCondLst>
                                  <p:childTnLst>
                                    <p:set>
                                      <p:cBhvr>
                                        <p:cTn id="93" dur="1" fill="hold">
                                          <p:stCondLst>
                                            <p:cond delay="0"/>
                                          </p:stCondLst>
                                        </p:cTn>
                                        <p:tgtEl>
                                          <p:spTgt spid="116"/>
                                        </p:tgtEl>
                                        <p:attrNameLst>
                                          <p:attrName>style.visibility</p:attrName>
                                        </p:attrNameLst>
                                      </p:cBhvr>
                                      <p:to>
                                        <p:strVal val="visible"/>
                                      </p:to>
                                    </p:set>
                                    <p:animEffect transition="in" filter="barn(inVertical)">
                                      <p:cBhvr>
                                        <p:cTn id="94" dur="500"/>
                                        <p:tgtEl>
                                          <p:spTgt spid="116"/>
                                        </p:tgtEl>
                                      </p:cBhvr>
                                    </p:animEffect>
                                  </p:childTnLst>
                                </p:cTn>
                              </p:par>
                            </p:childTnLst>
                          </p:cTn>
                        </p:par>
                      </p:childTnLst>
                    </p:cTn>
                  </p:par>
                  <p:par>
                    <p:cTn id="95" fill="hold">
                      <p:stCondLst>
                        <p:cond delay="indefinite"/>
                      </p:stCondLst>
                      <p:childTnLst>
                        <p:par>
                          <p:cTn id="96" fill="hold">
                            <p:stCondLst>
                              <p:cond delay="0"/>
                            </p:stCondLst>
                            <p:childTnLst>
                              <p:par>
                                <p:cTn id="97" presetID="16" presetClass="entr" presetSubtype="21" fill="hold" nodeType="clickEffect">
                                  <p:stCondLst>
                                    <p:cond delay="0"/>
                                  </p:stCondLst>
                                  <p:childTnLst>
                                    <p:set>
                                      <p:cBhvr>
                                        <p:cTn id="98" dur="1" fill="hold">
                                          <p:stCondLst>
                                            <p:cond delay="0"/>
                                          </p:stCondLst>
                                        </p:cTn>
                                        <p:tgtEl>
                                          <p:spTgt spid="117"/>
                                        </p:tgtEl>
                                        <p:attrNameLst>
                                          <p:attrName>style.visibility</p:attrName>
                                        </p:attrNameLst>
                                      </p:cBhvr>
                                      <p:to>
                                        <p:strVal val="visible"/>
                                      </p:to>
                                    </p:set>
                                    <p:animEffect transition="in" filter="barn(inVertical)">
                                      <p:cBhvr>
                                        <p:cTn id="99" dur="500"/>
                                        <p:tgtEl>
                                          <p:spTgt spid="117"/>
                                        </p:tgtEl>
                                      </p:cBhvr>
                                    </p:animEffect>
                                  </p:childTnLst>
                                </p:cTn>
                              </p:par>
                              <p:par>
                                <p:cTn id="100" presetID="16" presetClass="entr" presetSubtype="21" fill="hold" grpId="0" nodeType="withEffect">
                                  <p:stCondLst>
                                    <p:cond delay="0"/>
                                  </p:stCondLst>
                                  <p:childTnLst>
                                    <p:set>
                                      <p:cBhvr>
                                        <p:cTn id="101" dur="1" fill="hold">
                                          <p:stCondLst>
                                            <p:cond delay="0"/>
                                          </p:stCondLst>
                                        </p:cTn>
                                        <p:tgtEl>
                                          <p:spTgt spid="118"/>
                                        </p:tgtEl>
                                        <p:attrNameLst>
                                          <p:attrName>style.visibility</p:attrName>
                                        </p:attrNameLst>
                                      </p:cBhvr>
                                      <p:to>
                                        <p:strVal val="visible"/>
                                      </p:to>
                                    </p:set>
                                    <p:animEffect transition="in" filter="barn(inVertical)">
                                      <p:cBhvr>
                                        <p:cTn id="102" dur="500"/>
                                        <p:tgtEl>
                                          <p:spTgt spid="118"/>
                                        </p:tgtEl>
                                      </p:cBhvr>
                                    </p:animEffect>
                                  </p:childTnLst>
                                </p:cTn>
                              </p:par>
                            </p:childTnLst>
                          </p:cTn>
                        </p:par>
                      </p:childTnLst>
                    </p:cTn>
                  </p:par>
                  <p:par>
                    <p:cTn id="103" fill="hold">
                      <p:stCondLst>
                        <p:cond delay="indefinite"/>
                      </p:stCondLst>
                      <p:childTnLst>
                        <p:par>
                          <p:cTn id="104" fill="hold">
                            <p:stCondLst>
                              <p:cond delay="0"/>
                            </p:stCondLst>
                            <p:childTnLst>
                              <p:par>
                                <p:cTn id="105" presetID="16" presetClass="entr" presetSubtype="21" fill="hold" grpId="0" nodeType="clickEffect">
                                  <p:stCondLst>
                                    <p:cond delay="0"/>
                                  </p:stCondLst>
                                  <p:childTnLst>
                                    <p:set>
                                      <p:cBhvr>
                                        <p:cTn id="106" dur="1" fill="hold">
                                          <p:stCondLst>
                                            <p:cond delay="0"/>
                                          </p:stCondLst>
                                        </p:cTn>
                                        <p:tgtEl>
                                          <p:spTgt spid="120"/>
                                        </p:tgtEl>
                                        <p:attrNameLst>
                                          <p:attrName>style.visibility</p:attrName>
                                        </p:attrNameLst>
                                      </p:cBhvr>
                                      <p:to>
                                        <p:strVal val="visible"/>
                                      </p:to>
                                    </p:set>
                                    <p:animEffect transition="in" filter="barn(inVertical)">
                                      <p:cBhvr>
                                        <p:cTn id="107" dur="500"/>
                                        <p:tgtEl>
                                          <p:spTgt spid="120"/>
                                        </p:tgtEl>
                                      </p:cBhvr>
                                    </p:animEffect>
                                  </p:childTnLst>
                                </p:cTn>
                              </p:par>
                              <p:par>
                                <p:cTn id="108" presetID="16" presetClass="entr" presetSubtype="21" fill="hold" nodeType="withEffect">
                                  <p:stCondLst>
                                    <p:cond delay="0"/>
                                  </p:stCondLst>
                                  <p:childTnLst>
                                    <p:set>
                                      <p:cBhvr>
                                        <p:cTn id="109" dur="1" fill="hold">
                                          <p:stCondLst>
                                            <p:cond delay="0"/>
                                          </p:stCondLst>
                                        </p:cTn>
                                        <p:tgtEl>
                                          <p:spTgt spid="119"/>
                                        </p:tgtEl>
                                        <p:attrNameLst>
                                          <p:attrName>style.visibility</p:attrName>
                                        </p:attrNameLst>
                                      </p:cBhvr>
                                      <p:to>
                                        <p:strVal val="visible"/>
                                      </p:to>
                                    </p:set>
                                    <p:animEffect transition="in" filter="barn(inVertical)">
                                      <p:cBhvr>
                                        <p:cTn id="110" dur="500"/>
                                        <p:tgtEl>
                                          <p:spTgt spid="119"/>
                                        </p:tgtEl>
                                      </p:cBhvr>
                                    </p:animEffect>
                                  </p:childTnLst>
                                </p:cTn>
                              </p:par>
                            </p:childTnLst>
                          </p:cTn>
                        </p:par>
                      </p:childTnLst>
                    </p:cTn>
                  </p:par>
                  <p:par>
                    <p:cTn id="111" fill="hold">
                      <p:stCondLst>
                        <p:cond delay="indefinite"/>
                      </p:stCondLst>
                      <p:childTnLst>
                        <p:par>
                          <p:cTn id="112" fill="hold">
                            <p:stCondLst>
                              <p:cond delay="0"/>
                            </p:stCondLst>
                            <p:childTnLst>
                              <p:par>
                                <p:cTn id="113" presetID="16" presetClass="entr" presetSubtype="21" fill="hold" nodeType="clickEffect">
                                  <p:stCondLst>
                                    <p:cond delay="0"/>
                                  </p:stCondLst>
                                  <p:childTnLst>
                                    <p:set>
                                      <p:cBhvr>
                                        <p:cTn id="114" dur="1" fill="hold">
                                          <p:stCondLst>
                                            <p:cond delay="0"/>
                                          </p:stCondLst>
                                        </p:cTn>
                                        <p:tgtEl>
                                          <p:spTgt spid="121"/>
                                        </p:tgtEl>
                                        <p:attrNameLst>
                                          <p:attrName>style.visibility</p:attrName>
                                        </p:attrNameLst>
                                      </p:cBhvr>
                                      <p:to>
                                        <p:strVal val="visible"/>
                                      </p:to>
                                    </p:set>
                                    <p:animEffect transition="in" filter="barn(inVertical)">
                                      <p:cBhvr>
                                        <p:cTn id="115" dur="500"/>
                                        <p:tgtEl>
                                          <p:spTgt spid="121"/>
                                        </p:tgtEl>
                                      </p:cBhvr>
                                    </p:animEffect>
                                  </p:childTnLst>
                                </p:cTn>
                              </p:par>
                              <p:par>
                                <p:cTn id="116" presetID="16" presetClass="entr" presetSubtype="21" fill="hold" grpId="0" nodeType="withEffect">
                                  <p:stCondLst>
                                    <p:cond delay="0"/>
                                  </p:stCondLst>
                                  <p:childTnLst>
                                    <p:set>
                                      <p:cBhvr>
                                        <p:cTn id="117" dur="1" fill="hold">
                                          <p:stCondLst>
                                            <p:cond delay="0"/>
                                          </p:stCondLst>
                                        </p:cTn>
                                        <p:tgtEl>
                                          <p:spTgt spid="122"/>
                                        </p:tgtEl>
                                        <p:attrNameLst>
                                          <p:attrName>style.visibility</p:attrName>
                                        </p:attrNameLst>
                                      </p:cBhvr>
                                      <p:to>
                                        <p:strVal val="visible"/>
                                      </p:to>
                                    </p:set>
                                    <p:animEffect transition="in" filter="barn(inVertical)">
                                      <p:cBhvr>
                                        <p:cTn id="118" dur="500"/>
                                        <p:tgtEl>
                                          <p:spTgt spid="122"/>
                                        </p:tgtEl>
                                      </p:cBhvr>
                                    </p:animEffect>
                                  </p:childTnLst>
                                </p:cTn>
                              </p:par>
                            </p:childTnLst>
                          </p:cTn>
                        </p:par>
                      </p:childTnLst>
                    </p:cTn>
                  </p:par>
                  <p:par>
                    <p:cTn id="119" fill="hold">
                      <p:stCondLst>
                        <p:cond delay="indefinite"/>
                      </p:stCondLst>
                      <p:childTnLst>
                        <p:par>
                          <p:cTn id="120" fill="hold">
                            <p:stCondLst>
                              <p:cond delay="0"/>
                            </p:stCondLst>
                            <p:childTnLst>
                              <p:par>
                                <p:cTn id="121" presetID="16" presetClass="entr" presetSubtype="21" fill="hold" nodeType="clickEffect">
                                  <p:stCondLst>
                                    <p:cond delay="0"/>
                                  </p:stCondLst>
                                  <p:childTnLst>
                                    <p:set>
                                      <p:cBhvr>
                                        <p:cTn id="122" dur="1" fill="hold">
                                          <p:stCondLst>
                                            <p:cond delay="0"/>
                                          </p:stCondLst>
                                        </p:cTn>
                                        <p:tgtEl>
                                          <p:spTgt spid="123"/>
                                        </p:tgtEl>
                                        <p:attrNameLst>
                                          <p:attrName>style.visibility</p:attrName>
                                        </p:attrNameLst>
                                      </p:cBhvr>
                                      <p:to>
                                        <p:strVal val="visible"/>
                                      </p:to>
                                    </p:set>
                                    <p:animEffect transition="in" filter="barn(inVertical)">
                                      <p:cBhvr>
                                        <p:cTn id="123" dur="500"/>
                                        <p:tgtEl>
                                          <p:spTgt spid="123"/>
                                        </p:tgtEl>
                                      </p:cBhvr>
                                    </p:animEffect>
                                  </p:childTnLst>
                                </p:cTn>
                              </p:par>
                              <p:par>
                                <p:cTn id="124" presetID="16" presetClass="entr" presetSubtype="21" fill="hold" grpId="0" nodeType="withEffect">
                                  <p:stCondLst>
                                    <p:cond delay="0"/>
                                  </p:stCondLst>
                                  <p:childTnLst>
                                    <p:set>
                                      <p:cBhvr>
                                        <p:cTn id="125" dur="1" fill="hold">
                                          <p:stCondLst>
                                            <p:cond delay="0"/>
                                          </p:stCondLst>
                                        </p:cTn>
                                        <p:tgtEl>
                                          <p:spTgt spid="124"/>
                                        </p:tgtEl>
                                        <p:attrNameLst>
                                          <p:attrName>style.visibility</p:attrName>
                                        </p:attrNameLst>
                                      </p:cBhvr>
                                      <p:to>
                                        <p:strVal val="visible"/>
                                      </p:to>
                                    </p:set>
                                    <p:animEffect transition="in" filter="barn(inVertical)">
                                      <p:cBhvr>
                                        <p:cTn id="126" dur="500"/>
                                        <p:tgtEl>
                                          <p:spTgt spid="124"/>
                                        </p:tgtEl>
                                      </p:cBhvr>
                                    </p:animEffect>
                                  </p:childTnLst>
                                </p:cTn>
                              </p:par>
                            </p:childTnLst>
                          </p:cTn>
                        </p:par>
                      </p:childTnLst>
                    </p:cTn>
                  </p:par>
                  <p:par>
                    <p:cTn id="127" fill="hold">
                      <p:stCondLst>
                        <p:cond delay="indefinite"/>
                      </p:stCondLst>
                      <p:childTnLst>
                        <p:par>
                          <p:cTn id="128" fill="hold">
                            <p:stCondLst>
                              <p:cond delay="0"/>
                            </p:stCondLst>
                            <p:childTnLst>
                              <p:par>
                                <p:cTn id="129" presetID="16" presetClass="entr" presetSubtype="21" fill="hold" nodeType="clickEffect">
                                  <p:stCondLst>
                                    <p:cond delay="0"/>
                                  </p:stCondLst>
                                  <p:childTnLst>
                                    <p:set>
                                      <p:cBhvr>
                                        <p:cTn id="130" dur="1" fill="hold">
                                          <p:stCondLst>
                                            <p:cond delay="0"/>
                                          </p:stCondLst>
                                        </p:cTn>
                                        <p:tgtEl>
                                          <p:spTgt spid="126"/>
                                        </p:tgtEl>
                                        <p:attrNameLst>
                                          <p:attrName>style.visibility</p:attrName>
                                        </p:attrNameLst>
                                      </p:cBhvr>
                                      <p:to>
                                        <p:strVal val="visible"/>
                                      </p:to>
                                    </p:set>
                                    <p:animEffect transition="in" filter="barn(inVertical)">
                                      <p:cBhvr>
                                        <p:cTn id="131" dur="500"/>
                                        <p:tgtEl>
                                          <p:spTgt spid="126"/>
                                        </p:tgtEl>
                                      </p:cBhvr>
                                    </p:animEffect>
                                  </p:childTnLst>
                                </p:cTn>
                              </p:par>
                              <p:par>
                                <p:cTn id="132" presetID="16" presetClass="entr" presetSubtype="21" fill="hold" nodeType="withEffect">
                                  <p:stCondLst>
                                    <p:cond delay="0"/>
                                  </p:stCondLst>
                                  <p:childTnLst>
                                    <p:set>
                                      <p:cBhvr>
                                        <p:cTn id="133" dur="1" fill="hold">
                                          <p:stCondLst>
                                            <p:cond delay="0"/>
                                          </p:stCondLst>
                                        </p:cTn>
                                        <p:tgtEl>
                                          <p:spTgt spid="125"/>
                                        </p:tgtEl>
                                        <p:attrNameLst>
                                          <p:attrName>style.visibility</p:attrName>
                                        </p:attrNameLst>
                                      </p:cBhvr>
                                      <p:to>
                                        <p:strVal val="visible"/>
                                      </p:to>
                                    </p:set>
                                    <p:animEffect transition="in" filter="barn(inVertical)">
                                      <p:cBhvr>
                                        <p:cTn id="134" dur="500"/>
                                        <p:tgtEl>
                                          <p:spTgt spid="125"/>
                                        </p:tgtEl>
                                      </p:cBhvr>
                                    </p:animEffect>
                                  </p:childTnLst>
                                </p:cTn>
                              </p:par>
                              <p:par>
                                <p:cTn id="135" presetID="16" presetClass="entr" presetSubtype="21" fill="hold" grpId="0" nodeType="withEffect">
                                  <p:stCondLst>
                                    <p:cond delay="0"/>
                                  </p:stCondLst>
                                  <p:childTnLst>
                                    <p:set>
                                      <p:cBhvr>
                                        <p:cTn id="136" dur="1" fill="hold">
                                          <p:stCondLst>
                                            <p:cond delay="0"/>
                                          </p:stCondLst>
                                        </p:cTn>
                                        <p:tgtEl>
                                          <p:spTgt spid="127"/>
                                        </p:tgtEl>
                                        <p:attrNameLst>
                                          <p:attrName>style.visibility</p:attrName>
                                        </p:attrNameLst>
                                      </p:cBhvr>
                                      <p:to>
                                        <p:strVal val="visible"/>
                                      </p:to>
                                    </p:set>
                                    <p:animEffect transition="in" filter="barn(inVertical)">
                                      <p:cBhvr>
                                        <p:cTn id="137" dur="500"/>
                                        <p:tgtEl>
                                          <p:spTgt spid="127"/>
                                        </p:tgtEl>
                                      </p:cBhvr>
                                    </p:animEffect>
                                  </p:childTnLst>
                                </p:cTn>
                              </p:par>
                              <p:par>
                                <p:cTn id="138" presetID="16" presetClass="entr" presetSubtype="21" fill="hold" grpId="0" nodeType="withEffect">
                                  <p:stCondLst>
                                    <p:cond delay="0"/>
                                  </p:stCondLst>
                                  <p:childTnLst>
                                    <p:set>
                                      <p:cBhvr>
                                        <p:cTn id="139" dur="1" fill="hold">
                                          <p:stCondLst>
                                            <p:cond delay="0"/>
                                          </p:stCondLst>
                                        </p:cTn>
                                        <p:tgtEl>
                                          <p:spTgt spid="128"/>
                                        </p:tgtEl>
                                        <p:attrNameLst>
                                          <p:attrName>style.visibility</p:attrName>
                                        </p:attrNameLst>
                                      </p:cBhvr>
                                      <p:to>
                                        <p:strVal val="visible"/>
                                      </p:to>
                                    </p:set>
                                    <p:animEffect transition="in" filter="barn(inVertical)">
                                      <p:cBhvr>
                                        <p:cTn id="140" dur="500"/>
                                        <p:tgtEl>
                                          <p:spTgt spid="128"/>
                                        </p:tgtEl>
                                      </p:cBhvr>
                                    </p:animEffect>
                                  </p:childTnLst>
                                </p:cTn>
                              </p:par>
                            </p:childTnLst>
                          </p:cTn>
                        </p:par>
                      </p:childTnLst>
                    </p:cTn>
                  </p:par>
                  <p:par>
                    <p:cTn id="141" fill="hold">
                      <p:stCondLst>
                        <p:cond delay="indefinite"/>
                      </p:stCondLst>
                      <p:childTnLst>
                        <p:par>
                          <p:cTn id="142" fill="hold">
                            <p:stCondLst>
                              <p:cond delay="0"/>
                            </p:stCondLst>
                            <p:childTnLst>
                              <p:par>
                                <p:cTn id="143" presetID="16" presetClass="entr" presetSubtype="21" fill="hold" grpId="0" nodeType="clickEffect">
                                  <p:stCondLst>
                                    <p:cond delay="0"/>
                                  </p:stCondLst>
                                  <p:childTnLst>
                                    <p:set>
                                      <p:cBhvr>
                                        <p:cTn id="144" dur="1" fill="hold">
                                          <p:stCondLst>
                                            <p:cond delay="0"/>
                                          </p:stCondLst>
                                        </p:cTn>
                                        <p:tgtEl>
                                          <p:spTgt spid="129"/>
                                        </p:tgtEl>
                                        <p:attrNameLst>
                                          <p:attrName>style.visibility</p:attrName>
                                        </p:attrNameLst>
                                      </p:cBhvr>
                                      <p:to>
                                        <p:strVal val="visible"/>
                                      </p:to>
                                    </p:set>
                                    <p:animEffect transition="in" filter="barn(inVertical)">
                                      <p:cBhvr>
                                        <p:cTn id="145" dur="500"/>
                                        <p:tgtEl>
                                          <p:spTgt spid="129"/>
                                        </p:tgtEl>
                                      </p:cBhvr>
                                    </p:animEffect>
                                  </p:childTnLst>
                                </p:cTn>
                              </p:par>
                            </p:childTnLst>
                          </p:cTn>
                        </p:par>
                      </p:childTnLst>
                    </p:cTn>
                  </p:par>
                  <p:par>
                    <p:cTn id="146" fill="hold">
                      <p:stCondLst>
                        <p:cond delay="indefinite"/>
                      </p:stCondLst>
                      <p:childTnLst>
                        <p:par>
                          <p:cTn id="147" fill="hold">
                            <p:stCondLst>
                              <p:cond delay="0"/>
                            </p:stCondLst>
                            <p:childTnLst>
                              <p:par>
                                <p:cTn id="148" presetID="16" presetClass="entr" presetSubtype="21" fill="hold" nodeType="clickEffect">
                                  <p:stCondLst>
                                    <p:cond delay="0"/>
                                  </p:stCondLst>
                                  <p:childTnLst>
                                    <p:set>
                                      <p:cBhvr>
                                        <p:cTn id="149" dur="1" fill="hold">
                                          <p:stCondLst>
                                            <p:cond delay="0"/>
                                          </p:stCondLst>
                                        </p:cTn>
                                        <p:tgtEl>
                                          <p:spTgt spid="131"/>
                                        </p:tgtEl>
                                        <p:attrNameLst>
                                          <p:attrName>style.visibility</p:attrName>
                                        </p:attrNameLst>
                                      </p:cBhvr>
                                      <p:to>
                                        <p:strVal val="visible"/>
                                      </p:to>
                                    </p:set>
                                    <p:animEffect transition="in" filter="barn(inVertical)">
                                      <p:cBhvr>
                                        <p:cTn id="150" dur="500"/>
                                        <p:tgtEl>
                                          <p:spTgt spid="131"/>
                                        </p:tgtEl>
                                      </p:cBhvr>
                                    </p:animEffect>
                                  </p:childTnLst>
                                </p:cTn>
                              </p:par>
                            </p:childTnLst>
                          </p:cTn>
                        </p:par>
                      </p:childTnLst>
                    </p:cTn>
                  </p:par>
                  <p:par>
                    <p:cTn id="151" fill="hold">
                      <p:stCondLst>
                        <p:cond delay="indefinite"/>
                      </p:stCondLst>
                      <p:childTnLst>
                        <p:par>
                          <p:cTn id="152" fill="hold">
                            <p:stCondLst>
                              <p:cond delay="0"/>
                            </p:stCondLst>
                            <p:childTnLst>
                              <p:par>
                                <p:cTn id="153" presetID="16" presetClass="entr" presetSubtype="21" fill="hold" nodeType="clickEffect">
                                  <p:stCondLst>
                                    <p:cond delay="0"/>
                                  </p:stCondLst>
                                  <p:childTnLst>
                                    <p:set>
                                      <p:cBhvr>
                                        <p:cTn id="154" dur="1" fill="hold">
                                          <p:stCondLst>
                                            <p:cond delay="0"/>
                                          </p:stCondLst>
                                        </p:cTn>
                                        <p:tgtEl>
                                          <p:spTgt spid="130"/>
                                        </p:tgtEl>
                                        <p:attrNameLst>
                                          <p:attrName>style.visibility</p:attrName>
                                        </p:attrNameLst>
                                      </p:cBhvr>
                                      <p:to>
                                        <p:strVal val="visible"/>
                                      </p:to>
                                    </p:set>
                                    <p:animEffect transition="in" filter="barn(inVertical)">
                                      <p:cBhvr>
                                        <p:cTn id="155" dur="500"/>
                                        <p:tgtEl>
                                          <p:spTgt spid="130"/>
                                        </p:tgtEl>
                                      </p:cBhvr>
                                    </p:animEffect>
                                  </p:childTnLst>
                                </p:cTn>
                              </p:par>
                            </p:childTnLst>
                          </p:cTn>
                        </p:par>
                      </p:childTnLst>
                    </p:cTn>
                  </p:par>
                  <p:par>
                    <p:cTn id="156" fill="hold">
                      <p:stCondLst>
                        <p:cond delay="indefinite"/>
                      </p:stCondLst>
                      <p:childTnLst>
                        <p:par>
                          <p:cTn id="157" fill="hold">
                            <p:stCondLst>
                              <p:cond delay="0"/>
                            </p:stCondLst>
                            <p:childTnLst>
                              <p:par>
                                <p:cTn id="158" presetID="16" presetClass="entr" presetSubtype="21" fill="hold" grpId="0" nodeType="clickEffect">
                                  <p:stCondLst>
                                    <p:cond delay="0"/>
                                  </p:stCondLst>
                                  <p:childTnLst>
                                    <p:set>
                                      <p:cBhvr>
                                        <p:cTn id="159" dur="1" fill="hold">
                                          <p:stCondLst>
                                            <p:cond delay="0"/>
                                          </p:stCondLst>
                                        </p:cTn>
                                        <p:tgtEl>
                                          <p:spTgt spid="135"/>
                                        </p:tgtEl>
                                        <p:attrNameLst>
                                          <p:attrName>style.visibility</p:attrName>
                                        </p:attrNameLst>
                                      </p:cBhvr>
                                      <p:to>
                                        <p:strVal val="visible"/>
                                      </p:to>
                                    </p:set>
                                    <p:animEffect transition="in" filter="barn(inVertical)">
                                      <p:cBhvr>
                                        <p:cTn id="160" dur="500"/>
                                        <p:tgtEl>
                                          <p:spTgt spid="135"/>
                                        </p:tgtEl>
                                      </p:cBhvr>
                                    </p:animEffect>
                                  </p:childTnLst>
                                </p:cTn>
                              </p:par>
                            </p:childTnLst>
                          </p:cTn>
                        </p:par>
                      </p:childTnLst>
                    </p:cTn>
                  </p:par>
                  <p:par>
                    <p:cTn id="161" fill="hold">
                      <p:stCondLst>
                        <p:cond delay="indefinite"/>
                      </p:stCondLst>
                      <p:childTnLst>
                        <p:par>
                          <p:cTn id="162" fill="hold">
                            <p:stCondLst>
                              <p:cond delay="0"/>
                            </p:stCondLst>
                            <p:childTnLst>
                              <p:par>
                                <p:cTn id="163" presetID="16" presetClass="entr" presetSubtype="21" fill="hold" nodeType="clickEffect">
                                  <p:stCondLst>
                                    <p:cond delay="0"/>
                                  </p:stCondLst>
                                  <p:childTnLst>
                                    <p:set>
                                      <p:cBhvr>
                                        <p:cTn id="164" dur="1" fill="hold">
                                          <p:stCondLst>
                                            <p:cond delay="0"/>
                                          </p:stCondLst>
                                        </p:cTn>
                                        <p:tgtEl>
                                          <p:spTgt spid="133"/>
                                        </p:tgtEl>
                                        <p:attrNameLst>
                                          <p:attrName>style.visibility</p:attrName>
                                        </p:attrNameLst>
                                      </p:cBhvr>
                                      <p:to>
                                        <p:strVal val="visible"/>
                                      </p:to>
                                    </p:set>
                                    <p:animEffect transition="in" filter="barn(inVertical)">
                                      <p:cBhvr>
                                        <p:cTn id="165" dur="500"/>
                                        <p:tgtEl>
                                          <p:spTgt spid="133"/>
                                        </p:tgtEl>
                                      </p:cBhvr>
                                    </p:animEffect>
                                  </p:childTnLst>
                                </p:cTn>
                              </p:par>
                            </p:childTnLst>
                          </p:cTn>
                        </p:par>
                      </p:childTnLst>
                    </p:cTn>
                  </p:par>
                  <p:par>
                    <p:cTn id="166" fill="hold">
                      <p:stCondLst>
                        <p:cond delay="indefinite"/>
                      </p:stCondLst>
                      <p:childTnLst>
                        <p:par>
                          <p:cTn id="167" fill="hold">
                            <p:stCondLst>
                              <p:cond delay="0"/>
                            </p:stCondLst>
                            <p:childTnLst>
                              <p:par>
                                <p:cTn id="168" presetID="16" presetClass="entr" presetSubtype="21" fill="hold" grpId="0" nodeType="clickEffect">
                                  <p:stCondLst>
                                    <p:cond delay="0"/>
                                  </p:stCondLst>
                                  <p:childTnLst>
                                    <p:set>
                                      <p:cBhvr>
                                        <p:cTn id="169" dur="1" fill="hold">
                                          <p:stCondLst>
                                            <p:cond delay="0"/>
                                          </p:stCondLst>
                                        </p:cTn>
                                        <p:tgtEl>
                                          <p:spTgt spid="134"/>
                                        </p:tgtEl>
                                        <p:attrNameLst>
                                          <p:attrName>style.visibility</p:attrName>
                                        </p:attrNameLst>
                                      </p:cBhvr>
                                      <p:to>
                                        <p:strVal val="visible"/>
                                      </p:to>
                                    </p:set>
                                    <p:animEffect transition="in" filter="barn(inVertical)">
                                      <p:cBhvr>
                                        <p:cTn id="170" dur="500"/>
                                        <p:tgtEl>
                                          <p:spTgt spid="134"/>
                                        </p:tgtEl>
                                      </p:cBhvr>
                                    </p:animEffect>
                                  </p:childTnLst>
                                </p:cTn>
                              </p:par>
                            </p:childTnLst>
                          </p:cTn>
                        </p:par>
                      </p:childTnLst>
                    </p:cTn>
                  </p:par>
                  <p:par>
                    <p:cTn id="171" fill="hold">
                      <p:stCondLst>
                        <p:cond delay="indefinite"/>
                      </p:stCondLst>
                      <p:childTnLst>
                        <p:par>
                          <p:cTn id="172" fill="hold">
                            <p:stCondLst>
                              <p:cond delay="0"/>
                            </p:stCondLst>
                            <p:childTnLst>
                              <p:par>
                                <p:cTn id="173" presetID="16" presetClass="entr" presetSubtype="21" fill="hold" grpId="0" nodeType="clickEffect">
                                  <p:stCondLst>
                                    <p:cond delay="0"/>
                                  </p:stCondLst>
                                  <p:childTnLst>
                                    <p:set>
                                      <p:cBhvr>
                                        <p:cTn id="174" dur="1" fill="hold">
                                          <p:stCondLst>
                                            <p:cond delay="0"/>
                                          </p:stCondLst>
                                        </p:cTn>
                                        <p:tgtEl>
                                          <p:spTgt spid="138"/>
                                        </p:tgtEl>
                                        <p:attrNameLst>
                                          <p:attrName>style.visibility</p:attrName>
                                        </p:attrNameLst>
                                      </p:cBhvr>
                                      <p:to>
                                        <p:strVal val="visible"/>
                                      </p:to>
                                    </p:set>
                                    <p:animEffect transition="in" filter="barn(inVertical)">
                                      <p:cBhvr>
                                        <p:cTn id="175" dur="500"/>
                                        <p:tgtEl>
                                          <p:spTgt spid="138"/>
                                        </p:tgtEl>
                                      </p:cBhvr>
                                    </p:animEffect>
                                  </p:childTnLst>
                                </p:cTn>
                              </p:par>
                              <p:par>
                                <p:cTn id="176" presetID="16" presetClass="entr" presetSubtype="21" fill="hold" nodeType="withEffect">
                                  <p:stCondLst>
                                    <p:cond delay="0"/>
                                  </p:stCondLst>
                                  <p:childTnLst>
                                    <p:set>
                                      <p:cBhvr>
                                        <p:cTn id="177" dur="1" fill="hold">
                                          <p:stCondLst>
                                            <p:cond delay="0"/>
                                          </p:stCondLst>
                                        </p:cTn>
                                        <p:tgtEl>
                                          <p:spTgt spid="136"/>
                                        </p:tgtEl>
                                        <p:attrNameLst>
                                          <p:attrName>style.visibility</p:attrName>
                                        </p:attrNameLst>
                                      </p:cBhvr>
                                      <p:to>
                                        <p:strVal val="visible"/>
                                      </p:to>
                                    </p:set>
                                    <p:animEffect transition="in" filter="barn(inVertical)">
                                      <p:cBhvr>
                                        <p:cTn id="178" dur="500"/>
                                        <p:tgtEl>
                                          <p:spTgt spid="136"/>
                                        </p:tgtEl>
                                      </p:cBhvr>
                                    </p:animEffect>
                                  </p:childTnLst>
                                </p:cTn>
                              </p:par>
                            </p:childTnLst>
                          </p:cTn>
                        </p:par>
                      </p:childTnLst>
                    </p:cTn>
                  </p:par>
                  <p:par>
                    <p:cTn id="179" fill="hold">
                      <p:stCondLst>
                        <p:cond delay="indefinite"/>
                      </p:stCondLst>
                      <p:childTnLst>
                        <p:par>
                          <p:cTn id="180" fill="hold">
                            <p:stCondLst>
                              <p:cond delay="0"/>
                            </p:stCondLst>
                            <p:childTnLst>
                              <p:par>
                                <p:cTn id="181" presetID="16" presetClass="entr" presetSubtype="21" fill="hold" nodeType="clickEffect">
                                  <p:stCondLst>
                                    <p:cond delay="0"/>
                                  </p:stCondLst>
                                  <p:childTnLst>
                                    <p:set>
                                      <p:cBhvr>
                                        <p:cTn id="182" dur="1" fill="hold">
                                          <p:stCondLst>
                                            <p:cond delay="0"/>
                                          </p:stCondLst>
                                        </p:cTn>
                                        <p:tgtEl>
                                          <p:spTgt spid="139"/>
                                        </p:tgtEl>
                                        <p:attrNameLst>
                                          <p:attrName>style.visibility</p:attrName>
                                        </p:attrNameLst>
                                      </p:cBhvr>
                                      <p:to>
                                        <p:strVal val="visible"/>
                                      </p:to>
                                    </p:set>
                                    <p:animEffect transition="in" filter="barn(inVertical)">
                                      <p:cBhvr>
                                        <p:cTn id="183" dur="500"/>
                                        <p:tgtEl>
                                          <p:spTgt spid="139"/>
                                        </p:tgtEl>
                                      </p:cBhvr>
                                    </p:animEffect>
                                  </p:childTnLst>
                                </p:cTn>
                              </p:par>
                            </p:childTnLst>
                          </p:cTn>
                        </p:par>
                      </p:childTnLst>
                    </p:cTn>
                  </p:par>
                  <p:par>
                    <p:cTn id="184" fill="hold">
                      <p:stCondLst>
                        <p:cond delay="indefinite"/>
                      </p:stCondLst>
                      <p:childTnLst>
                        <p:par>
                          <p:cTn id="185" fill="hold">
                            <p:stCondLst>
                              <p:cond delay="0"/>
                            </p:stCondLst>
                            <p:childTnLst>
                              <p:par>
                                <p:cTn id="186" presetID="16" presetClass="entr" presetSubtype="21" fill="hold" grpId="0" nodeType="clickEffect">
                                  <p:stCondLst>
                                    <p:cond delay="0"/>
                                  </p:stCondLst>
                                  <p:childTnLst>
                                    <p:set>
                                      <p:cBhvr>
                                        <p:cTn id="187" dur="1" fill="hold">
                                          <p:stCondLst>
                                            <p:cond delay="0"/>
                                          </p:stCondLst>
                                        </p:cTn>
                                        <p:tgtEl>
                                          <p:spTgt spid="141"/>
                                        </p:tgtEl>
                                        <p:attrNameLst>
                                          <p:attrName>style.visibility</p:attrName>
                                        </p:attrNameLst>
                                      </p:cBhvr>
                                      <p:to>
                                        <p:strVal val="visible"/>
                                      </p:to>
                                    </p:set>
                                    <p:animEffect transition="in" filter="barn(inVertical)">
                                      <p:cBhvr>
                                        <p:cTn id="188" dur="500"/>
                                        <p:tgtEl>
                                          <p:spTgt spid="141"/>
                                        </p:tgtEl>
                                      </p:cBhvr>
                                    </p:animEffect>
                                  </p:childTnLst>
                                </p:cTn>
                              </p:par>
                            </p:childTnLst>
                          </p:cTn>
                        </p:par>
                      </p:childTnLst>
                    </p:cTn>
                  </p:par>
                  <p:par>
                    <p:cTn id="189" fill="hold">
                      <p:stCondLst>
                        <p:cond delay="indefinite"/>
                      </p:stCondLst>
                      <p:childTnLst>
                        <p:par>
                          <p:cTn id="190" fill="hold">
                            <p:stCondLst>
                              <p:cond delay="0"/>
                            </p:stCondLst>
                            <p:childTnLst>
                              <p:par>
                                <p:cTn id="191" presetID="16" presetClass="entr" presetSubtype="21" fill="hold" nodeType="clickEffect">
                                  <p:stCondLst>
                                    <p:cond delay="0"/>
                                  </p:stCondLst>
                                  <p:childTnLst>
                                    <p:set>
                                      <p:cBhvr>
                                        <p:cTn id="192" dur="1" fill="hold">
                                          <p:stCondLst>
                                            <p:cond delay="0"/>
                                          </p:stCondLst>
                                        </p:cTn>
                                        <p:tgtEl>
                                          <p:spTgt spid="142"/>
                                        </p:tgtEl>
                                        <p:attrNameLst>
                                          <p:attrName>style.visibility</p:attrName>
                                        </p:attrNameLst>
                                      </p:cBhvr>
                                      <p:to>
                                        <p:strVal val="visible"/>
                                      </p:to>
                                    </p:set>
                                    <p:animEffect transition="in" filter="barn(inVertical)">
                                      <p:cBhvr>
                                        <p:cTn id="193" dur="500"/>
                                        <p:tgtEl>
                                          <p:spTgt spid="142"/>
                                        </p:tgtEl>
                                      </p:cBhvr>
                                    </p:animEffect>
                                  </p:childTnLst>
                                </p:cTn>
                              </p:par>
                              <p:par>
                                <p:cTn id="194" presetID="16" presetClass="entr" presetSubtype="21" fill="hold" grpId="0" nodeType="withEffect">
                                  <p:stCondLst>
                                    <p:cond delay="0"/>
                                  </p:stCondLst>
                                  <p:childTnLst>
                                    <p:set>
                                      <p:cBhvr>
                                        <p:cTn id="195" dur="1" fill="hold">
                                          <p:stCondLst>
                                            <p:cond delay="0"/>
                                          </p:stCondLst>
                                        </p:cTn>
                                        <p:tgtEl>
                                          <p:spTgt spid="143"/>
                                        </p:tgtEl>
                                        <p:attrNameLst>
                                          <p:attrName>style.visibility</p:attrName>
                                        </p:attrNameLst>
                                      </p:cBhvr>
                                      <p:to>
                                        <p:strVal val="visible"/>
                                      </p:to>
                                    </p:set>
                                    <p:animEffect transition="in" filter="barn(inVertical)">
                                      <p:cBhvr>
                                        <p:cTn id="196" dur="500"/>
                                        <p:tgtEl>
                                          <p:spTgt spid="143"/>
                                        </p:tgtEl>
                                      </p:cBhvr>
                                    </p:animEffect>
                                  </p:childTnLst>
                                </p:cTn>
                              </p:par>
                            </p:childTnLst>
                          </p:cTn>
                        </p:par>
                      </p:childTnLst>
                    </p:cTn>
                  </p:par>
                  <p:par>
                    <p:cTn id="197" fill="hold">
                      <p:stCondLst>
                        <p:cond delay="indefinite"/>
                      </p:stCondLst>
                      <p:childTnLst>
                        <p:par>
                          <p:cTn id="198" fill="hold">
                            <p:stCondLst>
                              <p:cond delay="0"/>
                            </p:stCondLst>
                            <p:childTnLst>
                              <p:par>
                                <p:cTn id="199" presetID="16" presetClass="entr" presetSubtype="21" fill="hold" grpId="0" nodeType="clickEffect">
                                  <p:stCondLst>
                                    <p:cond delay="0"/>
                                  </p:stCondLst>
                                  <p:childTnLst>
                                    <p:set>
                                      <p:cBhvr>
                                        <p:cTn id="200" dur="1" fill="hold">
                                          <p:stCondLst>
                                            <p:cond delay="0"/>
                                          </p:stCondLst>
                                        </p:cTn>
                                        <p:tgtEl>
                                          <p:spTgt spid="147"/>
                                        </p:tgtEl>
                                        <p:attrNameLst>
                                          <p:attrName>style.visibility</p:attrName>
                                        </p:attrNameLst>
                                      </p:cBhvr>
                                      <p:to>
                                        <p:strVal val="visible"/>
                                      </p:to>
                                    </p:set>
                                    <p:animEffect transition="in" filter="barn(inVertical)">
                                      <p:cBhvr>
                                        <p:cTn id="201" dur="500"/>
                                        <p:tgtEl>
                                          <p:spTgt spid="147"/>
                                        </p:tgtEl>
                                      </p:cBhvr>
                                    </p:animEffect>
                                  </p:childTnLst>
                                </p:cTn>
                              </p:par>
                              <p:par>
                                <p:cTn id="202" presetID="16" presetClass="entr" presetSubtype="21" fill="hold" nodeType="withEffect">
                                  <p:stCondLst>
                                    <p:cond delay="0"/>
                                  </p:stCondLst>
                                  <p:childTnLst>
                                    <p:set>
                                      <p:cBhvr>
                                        <p:cTn id="203" dur="1" fill="hold">
                                          <p:stCondLst>
                                            <p:cond delay="0"/>
                                          </p:stCondLst>
                                        </p:cTn>
                                        <p:tgtEl>
                                          <p:spTgt spid="144"/>
                                        </p:tgtEl>
                                        <p:attrNameLst>
                                          <p:attrName>style.visibility</p:attrName>
                                        </p:attrNameLst>
                                      </p:cBhvr>
                                      <p:to>
                                        <p:strVal val="visible"/>
                                      </p:to>
                                    </p:set>
                                    <p:animEffect transition="in" filter="barn(inVertical)">
                                      <p:cBhvr>
                                        <p:cTn id="204" dur="500"/>
                                        <p:tgtEl>
                                          <p:spTgt spid="144"/>
                                        </p:tgtEl>
                                      </p:cBhvr>
                                    </p:animEffect>
                                  </p:childTnLst>
                                </p:cTn>
                              </p:par>
                            </p:childTnLst>
                          </p:cTn>
                        </p:par>
                      </p:childTnLst>
                    </p:cTn>
                  </p:par>
                  <p:par>
                    <p:cTn id="205" fill="hold">
                      <p:stCondLst>
                        <p:cond delay="indefinite"/>
                      </p:stCondLst>
                      <p:childTnLst>
                        <p:par>
                          <p:cTn id="206" fill="hold">
                            <p:stCondLst>
                              <p:cond delay="0"/>
                            </p:stCondLst>
                            <p:childTnLst>
                              <p:par>
                                <p:cTn id="207" presetID="16" presetClass="entr" presetSubtype="21" fill="hold" nodeType="clickEffect">
                                  <p:stCondLst>
                                    <p:cond delay="0"/>
                                  </p:stCondLst>
                                  <p:childTnLst>
                                    <p:set>
                                      <p:cBhvr>
                                        <p:cTn id="208" dur="1" fill="hold">
                                          <p:stCondLst>
                                            <p:cond delay="0"/>
                                          </p:stCondLst>
                                        </p:cTn>
                                        <p:tgtEl>
                                          <p:spTgt spid="148"/>
                                        </p:tgtEl>
                                        <p:attrNameLst>
                                          <p:attrName>style.visibility</p:attrName>
                                        </p:attrNameLst>
                                      </p:cBhvr>
                                      <p:to>
                                        <p:strVal val="visible"/>
                                      </p:to>
                                    </p:set>
                                    <p:animEffect transition="in" filter="barn(inVertical)">
                                      <p:cBhvr>
                                        <p:cTn id="209" dur="500"/>
                                        <p:tgtEl>
                                          <p:spTgt spid="148"/>
                                        </p:tgtEl>
                                      </p:cBhvr>
                                    </p:animEffect>
                                  </p:childTnLst>
                                </p:cTn>
                              </p:par>
                            </p:childTnLst>
                          </p:cTn>
                        </p:par>
                      </p:childTnLst>
                    </p:cTn>
                  </p:par>
                  <p:par>
                    <p:cTn id="210" fill="hold">
                      <p:stCondLst>
                        <p:cond delay="indefinite"/>
                      </p:stCondLst>
                      <p:childTnLst>
                        <p:par>
                          <p:cTn id="211" fill="hold">
                            <p:stCondLst>
                              <p:cond delay="0"/>
                            </p:stCondLst>
                            <p:childTnLst>
                              <p:par>
                                <p:cTn id="212" presetID="16" presetClass="entr" presetSubtype="21" fill="hold" grpId="0" nodeType="clickEffect">
                                  <p:stCondLst>
                                    <p:cond delay="0"/>
                                  </p:stCondLst>
                                  <p:childTnLst>
                                    <p:set>
                                      <p:cBhvr>
                                        <p:cTn id="213" dur="1" fill="hold">
                                          <p:stCondLst>
                                            <p:cond delay="0"/>
                                          </p:stCondLst>
                                        </p:cTn>
                                        <p:tgtEl>
                                          <p:spTgt spid="149"/>
                                        </p:tgtEl>
                                        <p:attrNameLst>
                                          <p:attrName>style.visibility</p:attrName>
                                        </p:attrNameLst>
                                      </p:cBhvr>
                                      <p:to>
                                        <p:strVal val="visible"/>
                                      </p:to>
                                    </p:set>
                                    <p:animEffect transition="in" filter="barn(inVertical)">
                                      <p:cBhvr>
                                        <p:cTn id="214" dur="500"/>
                                        <p:tgtEl>
                                          <p:spTgt spid="149"/>
                                        </p:tgtEl>
                                      </p:cBhvr>
                                    </p:animEffect>
                                  </p:childTnLst>
                                </p:cTn>
                              </p:par>
                            </p:childTnLst>
                          </p:cTn>
                        </p:par>
                      </p:childTnLst>
                    </p:cTn>
                  </p:par>
                  <p:par>
                    <p:cTn id="215" fill="hold">
                      <p:stCondLst>
                        <p:cond delay="indefinite"/>
                      </p:stCondLst>
                      <p:childTnLst>
                        <p:par>
                          <p:cTn id="216" fill="hold">
                            <p:stCondLst>
                              <p:cond delay="0"/>
                            </p:stCondLst>
                            <p:childTnLst>
                              <p:par>
                                <p:cTn id="217" presetID="16" presetClass="entr" presetSubtype="21" fill="hold" nodeType="clickEffect">
                                  <p:stCondLst>
                                    <p:cond delay="0"/>
                                  </p:stCondLst>
                                  <p:childTnLst>
                                    <p:set>
                                      <p:cBhvr>
                                        <p:cTn id="218" dur="1" fill="hold">
                                          <p:stCondLst>
                                            <p:cond delay="0"/>
                                          </p:stCondLst>
                                        </p:cTn>
                                        <p:tgtEl>
                                          <p:spTgt spid="153"/>
                                        </p:tgtEl>
                                        <p:attrNameLst>
                                          <p:attrName>style.visibility</p:attrName>
                                        </p:attrNameLst>
                                      </p:cBhvr>
                                      <p:to>
                                        <p:strVal val="visible"/>
                                      </p:to>
                                    </p:set>
                                    <p:animEffect transition="in" filter="barn(inVertical)">
                                      <p:cBhvr>
                                        <p:cTn id="219" dur="500"/>
                                        <p:tgtEl>
                                          <p:spTgt spid="153"/>
                                        </p:tgtEl>
                                      </p:cBhvr>
                                    </p:animEffect>
                                  </p:childTnLst>
                                </p:cTn>
                              </p:par>
                            </p:childTnLst>
                          </p:cTn>
                        </p:par>
                      </p:childTnLst>
                    </p:cTn>
                  </p:par>
                  <p:par>
                    <p:cTn id="220" fill="hold">
                      <p:stCondLst>
                        <p:cond delay="indefinite"/>
                      </p:stCondLst>
                      <p:childTnLst>
                        <p:par>
                          <p:cTn id="221" fill="hold">
                            <p:stCondLst>
                              <p:cond delay="0"/>
                            </p:stCondLst>
                            <p:childTnLst>
                              <p:par>
                                <p:cTn id="222" presetID="16" presetClass="entr" presetSubtype="21" fill="hold" grpId="0" nodeType="clickEffect">
                                  <p:stCondLst>
                                    <p:cond delay="0"/>
                                  </p:stCondLst>
                                  <p:childTnLst>
                                    <p:set>
                                      <p:cBhvr>
                                        <p:cTn id="223" dur="1" fill="hold">
                                          <p:stCondLst>
                                            <p:cond delay="0"/>
                                          </p:stCondLst>
                                        </p:cTn>
                                        <p:tgtEl>
                                          <p:spTgt spid="152"/>
                                        </p:tgtEl>
                                        <p:attrNameLst>
                                          <p:attrName>style.visibility</p:attrName>
                                        </p:attrNameLst>
                                      </p:cBhvr>
                                      <p:to>
                                        <p:strVal val="visible"/>
                                      </p:to>
                                    </p:set>
                                    <p:animEffect transition="in" filter="barn(inVertical)">
                                      <p:cBhvr>
                                        <p:cTn id="224" dur="500"/>
                                        <p:tgtEl>
                                          <p:spTgt spid="152"/>
                                        </p:tgtEl>
                                      </p:cBhvr>
                                    </p:animEffect>
                                  </p:childTnLst>
                                </p:cTn>
                              </p:par>
                            </p:childTnLst>
                          </p:cTn>
                        </p:par>
                      </p:childTnLst>
                    </p:cTn>
                  </p:par>
                  <p:par>
                    <p:cTn id="225" fill="hold">
                      <p:stCondLst>
                        <p:cond delay="indefinite"/>
                      </p:stCondLst>
                      <p:childTnLst>
                        <p:par>
                          <p:cTn id="226" fill="hold">
                            <p:stCondLst>
                              <p:cond delay="0"/>
                            </p:stCondLst>
                            <p:childTnLst>
                              <p:par>
                                <p:cTn id="227" presetID="16" presetClass="entr" presetSubtype="21" fill="hold" nodeType="clickEffect">
                                  <p:stCondLst>
                                    <p:cond delay="0"/>
                                  </p:stCondLst>
                                  <p:childTnLst>
                                    <p:set>
                                      <p:cBhvr>
                                        <p:cTn id="228" dur="1" fill="hold">
                                          <p:stCondLst>
                                            <p:cond delay="0"/>
                                          </p:stCondLst>
                                        </p:cTn>
                                        <p:tgtEl>
                                          <p:spTgt spid="154"/>
                                        </p:tgtEl>
                                        <p:attrNameLst>
                                          <p:attrName>style.visibility</p:attrName>
                                        </p:attrNameLst>
                                      </p:cBhvr>
                                      <p:to>
                                        <p:strVal val="visible"/>
                                      </p:to>
                                    </p:set>
                                    <p:animEffect transition="in" filter="barn(inVertical)">
                                      <p:cBhvr>
                                        <p:cTn id="229" dur="500"/>
                                        <p:tgtEl>
                                          <p:spTgt spid="154"/>
                                        </p:tgtEl>
                                      </p:cBhvr>
                                    </p:animEffect>
                                  </p:childTnLst>
                                </p:cTn>
                              </p:par>
                            </p:childTnLst>
                          </p:cTn>
                        </p:par>
                      </p:childTnLst>
                    </p:cTn>
                  </p:par>
                  <p:par>
                    <p:cTn id="230" fill="hold">
                      <p:stCondLst>
                        <p:cond delay="indefinite"/>
                      </p:stCondLst>
                      <p:childTnLst>
                        <p:par>
                          <p:cTn id="231" fill="hold">
                            <p:stCondLst>
                              <p:cond delay="0"/>
                            </p:stCondLst>
                            <p:childTnLst>
                              <p:par>
                                <p:cTn id="232" presetID="16" presetClass="entr" presetSubtype="21" fill="hold" grpId="0" nodeType="clickEffect">
                                  <p:stCondLst>
                                    <p:cond delay="0"/>
                                  </p:stCondLst>
                                  <p:childTnLst>
                                    <p:set>
                                      <p:cBhvr>
                                        <p:cTn id="233" dur="1" fill="hold">
                                          <p:stCondLst>
                                            <p:cond delay="0"/>
                                          </p:stCondLst>
                                        </p:cTn>
                                        <p:tgtEl>
                                          <p:spTgt spid="166"/>
                                        </p:tgtEl>
                                        <p:attrNameLst>
                                          <p:attrName>style.visibility</p:attrName>
                                        </p:attrNameLst>
                                      </p:cBhvr>
                                      <p:to>
                                        <p:strVal val="visible"/>
                                      </p:to>
                                    </p:set>
                                    <p:animEffect transition="in" filter="barn(inVertical)">
                                      <p:cBhvr>
                                        <p:cTn id="234" dur="500"/>
                                        <p:tgtEl>
                                          <p:spTgt spid="166"/>
                                        </p:tgtEl>
                                      </p:cBhvr>
                                    </p:animEffect>
                                  </p:childTnLst>
                                </p:cTn>
                              </p:par>
                            </p:childTnLst>
                          </p:cTn>
                        </p:par>
                      </p:childTnLst>
                    </p:cTn>
                  </p:par>
                  <p:par>
                    <p:cTn id="235" fill="hold">
                      <p:stCondLst>
                        <p:cond delay="indefinite"/>
                      </p:stCondLst>
                      <p:childTnLst>
                        <p:par>
                          <p:cTn id="236" fill="hold">
                            <p:stCondLst>
                              <p:cond delay="0"/>
                            </p:stCondLst>
                            <p:childTnLst>
                              <p:par>
                                <p:cTn id="237" presetID="16" presetClass="entr" presetSubtype="21" fill="hold" grpId="0" nodeType="clickEffect">
                                  <p:stCondLst>
                                    <p:cond delay="0"/>
                                  </p:stCondLst>
                                  <p:childTnLst>
                                    <p:set>
                                      <p:cBhvr>
                                        <p:cTn id="238" dur="1" fill="hold">
                                          <p:stCondLst>
                                            <p:cond delay="0"/>
                                          </p:stCondLst>
                                        </p:cTn>
                                        <p:tgtEl>
                                          <p:spTgt spid="168"/>
                                        </p:tgtEl>
                                        <p:attrNameLst>
                                          <p:attrName>style.visibility</p:attrName>
                                        </p:attrNameLst>
                                      </p:cBhvr>
                                      <p:to>
                                        <p:strVal val="visible"/>
                                      </p:to>
                                    </p:set>
                                    <p:animEffect transition="in" filter="barn(inVertical)">
                                      <p:cBhvr>
                                        <p:cTn id="239" dur="500"/>
                                        <p:tgtEl>
                                          <p:spTgt spid="168"/>
                                        </p:tgtEl>
                                      </p:cBhvr>
                                    </p:animEffect>
                                  </p:childTnLst>
                                </p:cTn>
                              </p:par>
                              <p:par>
                                <p:cTn id="240" presetID="16" presetClass="entr" presetSubtype="21" fill="hold" nodeType="withEffect">
                                  <p:stCondLst>
                                    <p:cond delay="0"/>
                                  </p:stCondLst>
                                  <p:childTnLst>
                                    <p:set>
                                      <p:cBhvr>
                                        <p:cTn id="241" dur="1" fill="hold">
                                          <p:stCondLst>
                                            <p:cond delay="0"/>
                                          </p:stCondLst>
                                        </p:cTn>
                                        <p:tgtEl>
                                          <p:spTgt spid="159"/>
                                        </p:tgtEl>
                                        <p:attrNameLst>
                                          <p:attrName>style.visibility</p:attrName>
                                        </p:attrNameLst>
                                      </p:cBhvr>
                                      <p:to>
                                        <p:strVal val="visible"/>
                                      </p:to>
                                    </p:set>
                                    <p:animEffect transition="in" filter="barn(inVertical)">
                                      <p:cBhvr>
                                        <p:cTn id="242" dur="500"/>
                                        <p:tgtEl>
                                          <p:spTgt spid="159"/>
                                        </p:tgtEl>
                                      </p:cBhvr>
                                    </p:animEffect>
                                  </p:childTnLst>
                                </p:cTn>
                              </p:par>
                            </p:childTnLst>
                          </p:cTn>
                        </p:par>
                      </p:childTnLst>
                    </p:cTn>
                  </p:par>
                  <p:par>
                    <p:cTn id="243" fill="hold">
                      <p:stCondLst>
                        <p:cond delay="indefinite"/>
                      </p:stCondLst>
                      <p:childTnLst>
                        <p:par>
                          <p:cTn id="244" fill="hold">
                            <p:stCondLst>
                              <p:cond delay="0"/>
                            </p:stCondLst>
                            <p:childTnLst>
                              <p:par>
                                <p:cTn id="245" presetID="16" presetClass="entr" presetSubtype="21" fill="hold" nodeType="clickEffect">
                                  <p:stCondLst>
                                    <p:cond delay="0"/>
                                  </p:stCondLst>
                                  <p:childTnLst>
                                    <p:set>
                                      <p:cBhvr>
                                        <p:cTn id="246" dur="1" fill="hold">
                                          <p:stCondLst>
                                            <p:cond delay="0"/>
                                          </p:stCondLst>
                                        </p:cTn>
                                        <p:tgtEl>
                                          <p:spTgt spid="174"/>
                                        </p:tgtEl>
                                        <p:attrNameLst>
                                          <p:attrName>style.visibility</p:attrName>
                                        </p:attrNameLst>
                                      </p:cBhvr>
                                      <p:to>
                                        <p:strVal val="visible"/>
                                      </p:to>
                                    </p:set>
                                    <p:animEffect transition="in" filter="barn(inVertical)">
                                      <p:cBhvr>
                                        <p:cTn id="247" dur="500"/>
                                        <p:tgtEl>
                                          <p:spTgt spid="174"/>
                                        </p:tgtEl>
                                      </p:cBhvr>
                                    </p:animEffect>
                                  </p:childTnLst>
                                </p:cTn>
                              </p:par>
                            </p:childTnLst>
                          </p:cTn>
                        </p:par>
                      </p:childTnLst>
                    </p:cTn>
                  </p:par>
                  <p:par>
                    <p:cTn id="248" fill="hold">
                      <p:stCondLst>
                        <p:cond delay="indefinite"/>
                      </p:stCondLst>
                      <p:childTnLst>
                        <p:par>
                          <p:cTn id="249" fill="hold">
                            <p:stCondLst>
                              <p:cond delay="0"/>
                            </p:stCondLst>
                            <p:childTnLst>
                              <p:par>
                                <p:cTn id="250" presetID="16" presetClass="entr" presetSubtype="21" fill="hold" grpId="0" nodeType="clickEffect">
                                  <p:stCondLst>
                                    <p:cond delay="0"/>
                                  </p:stCondLst>
                                  <p:childTnLst>
                                    <p:set>
                                      <p:cBhvr>
                                        <p:cTn id="251" dur="1" fill="hold">
                                          <p:stCondLst>
                                            <p:cond delay="0"/>
                                          </p:stCondLst>
                                        </p:cTn>
                                        <p:tgtEl>
                                          <p:spTgt spid="175"/>
                                        </p:tgtEl>
                                        <p:attrNameLst>
                                          <p:attrName>style.visibility</p:attrName>
                                        </p:attrNameLst>
                                      </p:cBhvr>
                                      <p:to>
                                        <p:strVal val="visible"/>
                                      </p:to>
                                    </p:set>
                                    <p:animEffect transition="in" filter="barn(inVertical)">
                                      <p:cBhvr>
                                        <p:cTn id="252" dur="500"/>
                                        <p:tgtEl>
                                          <p:spTgt spid="175"/>
                                        </p:tgtEl>
                                      </p:cBhvr>
                                    </p:animEffect>
                                  </p:childTnLst>
                                </p:cTn>
                              </p:par>
                            </p:childTnLst>
                          </p:cTn>
                        </p:par>
                      </p:childTnLst>
                    </p:cTn>
                  </p:par>
                  <p:par>
                    <p:cTn id="253" fill="hold">
                      <p:stCondLst>
                        <p:cond delay="indefinite"/>
                      </p:stCondLst>
                      <p:childTnLst>
                        <p:par>
                          <p:cTn id="254" fill="hold">
                            <p:stCondLst>
                              <p:cond delay="0"/>
                            </p:stCondLst>
                            <p:childTnLst>
                              <p:par>
                                <p:cTn id="255" presetID="16" presetClass="entr" presetSubtype="21" fill="hold" nodeType="clickEffect">
                                  <p:stCondLst>
                                    <p:cond delay="0"/>
                                  </p:stCondLst>
                                  <p:childTnLst>
                                    <p:set>
                                      <p:cBhvr>
                                        <p:cTn id="256" dur="1" fill="hold">
                                          <p:stCondLst>
                                            <p:cond delay="0"/>
                                          </p:stCondLst>
                                        </p:cTn>
                                        <p:tgtEl>
                                          <p:spTgt spid="170"/>
                                        </p:tgtEl>
                                        <p:attrNameLst>
                                          <p:attrName>style.visibility</p:attrName>
                                        </p:attrNameLst>
                                      </p:cBhvr>
                                      <p:to>
                                        <p:strVal val="visible"/>
                                      </p:to>
                                    </p:set>
                                    <p:animEffect transition="in" filter="barn(inVertical)">
                                      <p:cBhvr>
                                        <p:cTn id="257" dur="500"/>
                                        <p:tgtEl>
                                          <p:spTgt spid="170"/>
                                        </p:tgtEl>
                                      </p:cBhvr>
                                    </p:animEffect>
                                  </p:childTnLst>
                                </p:cTn>
                              </p:par>
                            </p:childTnLst>
                          </p:cTn>
                        </p:par>
                      </p:childTnLst>
                    </p:cTn>
                  </p:par>
                  <p:par>
                    <p:cTn id="258" fill="hold">
                      <p:stCondLst>
                        <p:cond delay="indefinite"/>
                      </p:stCondLst>
                      <p:childTnLst>
                        <p:par>
                          <p:cTn id="259" fill="hold">
                            <p:stCondLst>
                              <p:cond delay="0"/>
                            </p:stCondLst>
                            <p:childTnLst>
                              <p:par>
                                <p:cTn id="260" presetID="16" presetClass="entr" presetSubtype="21" fill="hold" grpId="0" nodeType="clickEffect">
                                  <p:stCondLst>
                                    <p:cond delay="0"/>
                                  </p:stCondLst>
                                  <p:childTnLst>
                                    <p:set>
                                      <p:cBhvr>
                                        <p:cTn id="261" dur="1" fill="hold">
                                          <p:stCondLst>
                                            <p:cond delay="0"/>
                                          </p:stCondLst>
                                        </p:cTn>
                                        <p:tgtEl>
                                          <p:spTgt spid="172"/>
                                        </p:tgtEl>
                                        <p:attrNameLst>
                                          <p:attrName>style.visibility</p:attrName>
                                        </p:attrNameLst>
                                      </p:cBhvr>
                                      <p:to>
                                        <p:strVal val="visible"/>
                                      </p:to>
                                    </p:set>
                                    <p:animEffect transition="in" filter="barn(inVertical)">
                                      <p:cBhvr>
                                        <p:cTn id="262" dur="500"/>
                                        <p:tgtEl>
                                          <p:spTgt spid="172"/>
                                        </p:tgtEl>
                                      </p:cBhvr>
                                    </p:animEffect>
                                  </p:childTnLst>
                                </p:cTn>
                              </p:par>
                            </p:childTnLst>
                          </p:cTn>
                        </p:par>
                      </p:childTnLst>
                    </p:cTn>
                  </p:par>
                  <p:par>
                    <p:cTn id="263" fill="hold">
                      <p:stCondLst>
                        <p:cond delay="indefinite"/>
                      </p:stCondLst>
                      <p:childTnLst>
                        <p:par>
                          <p:cTn id="264" fill="hold">
                            <p:stCondLst>
                              <p:cond delay="0"/>
                            </p:stCondLst>
                            <p:childTnLst>
                              <p:par>
                                <p:cTn id="265" presetID="16" presetClass="entr" presetSubtype="21" fill="hold" grpId="0" nodeType="clickEffect">
                                  <p:stCondLst>
                                    <p:cond delay="0"/>
                                  </p:stCondLst>
                                  <p:childTnLst>
                                    <p:set>
                                      <p:cBhvr>
                                        <p:cTn id="266" dur="1" fill="hold">
                                          <p:stCondLst>
                                            <p:cond delay="0"/>
                                          </p:stCondLst>
                                        </p:cTn>
                                        <p:tgtEl>
                                          <p:spTgt spid="173"/>
                                        </p:tgtEl>
                                        <p:attrNameLst>
                                          <p:attrName>style.visibility</p:attrName>
                                        </p:attrNameLst>
                                      </p:cBhvr>
                                      <p:to>
                                        <p:strVal val="visible"/>
                                      </p:to>
                                    </p:set>
                                    <p:animEffect transition="in" filter="barn(inVertical)">
                                      <p:cBhvr>
                                        <p:cTn id="267" dur="500"/>
                                        <p:tgtEl>
                                          <p:spTgt spid="173"/>
                                        </p:tgtEl>
                                      </p:cBhvr>
                                    </p:animEffect>
                                  </p:childTnLst>
                                </p:cTn>
                              </p:par>
                              <p:par>
                                <p:cTn id="268" presetID="16" presetClass="entr" presetSubtype="21" fill="hold" nodeType="withEffect">
                                  <p:stCondLst>
                                    <p:cond delay="0"/>
                                  </p:stCondLst>
                                  <p:childTnLst>
                                    <p:set>
                                      <p:cBhvr>
                                        <p:cTn id="269" dur="1" fill="hold">
                                          <p:stCondLst>
                                            <p:cond delay="0"/>
                                          </p:stCondLst>
                                        </p:cTn>
                                        <p:tgtEl>
                                          <p:spTgt spid="171"/>
                                        </p:tgtEl>
                                        <p:attrNameLst>
                                          <p:attrName>style.visibility</p:attrName>
                                        </p:attrNameLst>
                                      </p:cBhvr>
                                      <p:to>
                                        <p:strVal val="visible"/>
                                      </p:to>
                                    </p:set>
                                    <p:animEffect transition="in" filter="barn(inVertical)">
                                      <p:cBhvr>
                                        <p:cTn id="270" dur="500"/>
                                        <p:tgtEl>
                                          <p:spTgt spid="171"/>
                                        </p:tgtEl>
                                      </p:cBhvr>
                                    </p:animEffect>
                                  </p:childTnLst>
                                </p:cTn>
                              </p:par>
                            </p:childTnLst>
                          </p:cTn>
                        </p:par>
                      </p:childTnLst>
                    </p:cTn>
                  </p:par>
                  <p:par>
                    <p:cTn id="271" fill="hold">
                      <p:stCondLst>
                        <p:cond delay="indefinite"/>
                      </p:stCondLst>
                      <p:childTnLst>
                        <p:par>
                          <p:cTn id="272" fill="hold">
                            <p:stCondLst>
                              <p:cond delay="0"/>
                            </p:stCondLst>
                            <p:childTnLst>
                              <p:par>
                                <p:cTn id="273" presetID="16" presetClass="entr" presetSubtype="21" fill="hold" nodeType="clickEffect">
                                  <p:stCondLst>
                                    <p:cond delay="0"/>
                                  </p:stCondLst>
                                  <p:childTnLst>
                                    <p:set>
                                      <p:cBhvr>
                                        <p:cTn id="274" dur="1" fill="hold">
                                          <p:stCondLst>
                                            <p:cond delay="0"/>
                                          </p:stCondLst>
                                        </p:cTn>
                                        <p:tgtEl>
                                          <p:spTgt spid="176"/>
                                        </p:tgtEl>
                                        <p:attrNameLst>
                                          <p:attrName>style.visibility</p:attrName>
                                        </p:attrNameLst>
                                      </p:cBhvr>
                                      <p:to>
                                        <p:strVal val="visible"/>
                                      </p:to>
                                    </p:set>
                                    <p:animEffect transition="in" filter="barn(inVertical)">
                                      <p:cBhvr>
                                        <p:cTn id="275" dur="500"/>
                                        <p:tgtEl>
                                          <p:spTgt spid="176"/>
                                        </p:tgtEl>
                                      </p:cBhvr>
                                    </p:animEffect>
                                  </p:childTnLst>
                                </p:cTn>
                              </p:par>
                            </p:childTnLst>
                          </p:cTn>
                        </p:par>
                      </p:childTnLst>
                    </p:cTn>
                  </p:par>
                  <p:par>
                    <p:cTn id="276" fill="hold">
                      <p:stCondLst>
                        <p:cond delay="indefinite"/>
                      </p:stCondLst>
                      <p:childTnLst>
                        <p:par>
                          <p:cTn id="277" fill="hold">
                            <p:stCondLst>
                              <p:cond delay="0"/>
                            </p:stCondLst>
                            <p:childTnLst>
                              <p:par>
                                <p:cTn id="278" presetID="16" presetClass="entr" presetSubtype="21" fill="hold" grpId="0" nodeType="clickEffect">
                                  <p:stCondLst>
                                    <p:cond delay="0"/>
                                  </p:stCondLst>
                                  <p:childTnLst>
                                    <p:set>
                                      <p:cBhvr>
                                        <p:cTn id="279" dur="1" fill="hold">
                                          <p:stCondLst>
                                            <p:cond delay="0"/>
                                          </p:stCondLst>
                                        </p:cTn>
                                        <p:tgtEl>
                                          <p:spTgt spid="179"/>
                                        </p:tgtEl>
                                        <p:attrNameLst>
                                          <p:attrName>style.visibility</p:attrName>
                                        </p:attrNameLst>
                                      </p:cBhvr>
                                      <p:to>
                                        <p:strVal val="visible"/>
                                      </p:to>
                                    </p:set>
                                    <p:animEffect transition="in" filter="barn(inVertical)">
                                      <p:cBhvr>
                                        <p:cTn id="280" dur="500"/>
                                        <p:tgtEl>
                                          <p:spTgt spid="179"/>
                                        </p:tgtEl>
                                      </p:cBhvr>
                                    </p:animEffect>
                                  </p:childTnLst>
                                </p:cTn>
                              </p:par>
                            </p:childTnLst>
                          </p:cTn>
                        </p:par>
                      </p:childTnLst>
                    </p:cTn>
                  </p:par>
                  <p:par>
                    <p:cTn id="281" fill="hold">
                      <p:stCondLst>
                        <p:cond delay="indefinite"/>
                      </p:stCondLst>
                      <p:childTnLst>
                        <p:par>
                          <p:cTn id="282" fill="hold">
                            <p:stCondLst>
                              <p:cond delay="0"/>
                            </p:stCondLst>
                            <p:childTnLst>
                              <p:par>
                                <p:cTn id="283" presetID="16" presetClass="entr" presetSubtype="21" fill="hold" grpId="0" nodeType="clickEffect">
                                  <p:stCondLst>
                                    <p:cond delay="0"/>
                                  </p:stCondLst>
                                  <p:childTnLst>
                                    <p:set>
                                      <p:cBhvr>
                                        <p:cTn id="284" dur="1" fill="hold">
                                          <p:stCondLst>
                                            <p:cond delay="0"/>
                                          </p:stCondLst>
                                        </p:cTn>
                                        <p:tgtEl>
                                          <p:spTgt spid="185"/>
                                        </p:tgtEl>
                                        <p:attrNameLst>
                                          <p:attrName>style.visibility</p:attrName>
                                        </p:attrNameLst>
                                      </p:cBhvr>
                                      <p:to>
                                        <p:strVal val="visible"/>
                                      </p:to>
                                    </p:set>
                                    <p:animEffect transition="in" filter="barn(inVertical)">
                                      <p:cBhvr>
                                        <p:cTn id="285" dur="500"/>
                                        <p:tgtEl>
                                          <p:spTgt spid="185"/>
                                        </p:tgtEl>
                                      </p:cBhvr>
                                    </p:animEffect>
                                  </p:childTnLst>
                                </p:cTn>
                              </p:par>
                              <p:par>
                                <p:cTn id="286" presetID="16" presetClass="entr" presetSubtype="21" fill="hold" nodeType="withEffect">
                                  <p:stCondLst>
                                    <p:cond delay="0"/>
                                  </p:stCondLst>
                                  <p:childTnLst>
                                    <p:set>
                                      <p:cBhvr>
                                        <p:cTn id="287" dur="1" fill="hold">
                                          <p:stCondLst>
                                            <p:cond delay="0"/>
                                          </p:stCondLst>
                                        </p:cTn>
                                        <p:tgtEl>
                                          <p:spTgt spid="184"/>
                                        </p:tgtEl>
                                        <p:attrNameLst>
                                          <p:attrName>style.visibility</p:attrName>
                                        </p:attrNameLst>
                                      </p:cBhvr>
                                      <p:to>
                                        <p:strVal val="visible"/>
                                      </p:to>
                                    </p:set>
                                    <p:animEffect transition="in" filter="barn(inVertical)">
                                      <p:cBhvr>
                                        <p:cTn id="288" dur="500"/>
                                        <p:tgtEl>
                                          <p:spTgt spid="184"/>
                                        </p:tgtEl>
                                      </p:cBhvr>
                                    </p:animEffect>
                                  </p:childTnLst>
                                </p:cTn>
                              </p:par>
                            </p:childTnLst>
                          </p:cTn>
                        </p:par>
                      </p:childTnLst>
                    </p:cTn>
                  </p:par>
                  <p:par>
                    <p:cTn id="289" fill="hold">
                      <p:stCondLst>
                        <p:cond delay="indefinite"/>
                      </p:stCondLst>
                      <p:childTnLst>
                        <p:par>
                          <p:cTn id="290" fill="hold">
                            <p:stCondLst>
                              <p:cond delay="0"/>
                            </p:stCondLst>
                            <p:childTnLst>
                              <p:par>
                                <p:cTn id="291" presetID="16" presetClass="entr" presetSubtype="21" fill="hold" grpId="0" nodeType="clickEffect">
                                  <p:stCondLst>
                                    <p:cond delay="0"/>
                                  </p:stCondLst>
                                  <p:childTnLst>
                                    <p:set>
                                      <p:cBhvr>
                                        <p:cTn id="292" dur="1" fill="hold">
                                          <p:stCondLst>
                                            <p:cond delay="0"/>
                                          </p:stCondLst>
                                        </p:cTn>
                                        <p:tgtEl>
                                          <p:spTgt spid="183"/>
                                        </p:tgtEl>
                                        <p:attrNameLst>
                                          <p:attrName>style.visibility</p:attrName>
                                        </p:attrNameLst>
                                      </p:cBhvr>
                                      <p:to>
                                        <p:strVal val="visible"/>
                                      </p:to>
                                    </p:set>
                                    <p:animEffect transition="in" filter="barn(inVertical)">
                                      <p:cBhvr>
                                        <p:cTn id="293" dur="500"/>
                                        <p:tgtEl>
                                          <p:spTgt spid="183"/>
                                        </p:tgtEl>
                                      </p:cBhvr>
                                    </p:animEffect>
                                  </p:childTnLst>
                                </p:cTn>
                              </p:par>
                              <p:par>
                                <p:cTn id="294" presetID="16" presetClass="entr" presetSubtype="21" fill="hold" nodeType="withEffect">
                                  <p:stCondLst>
                                    <p:cond delay="0"/>
                                  </p:stCondLst>
                                  <p:childTnLst>
                                    <p:set>
                                      <p:cBhvr>
                                        <p:cTn id="295" dur="1" fill="hold">
                                          <p:stCondLst>
                                            <p:cond delay="0"/>
                                          </p:stCondLst>
                                        </p:cTn>
                                        <p:tgtEl>
                                          <p:spTgt spid="182"/>
                                        </p:tgtEl>
                                        <p:attrNameLst>
                                          <p:attrName>style.visibility</p:attrName>
                                        </p:attrNameLst>
                                      </p:cBhvr>
                                      <p:to>
                                        <p:strVal val="visible"/>
                                      </p:to>
                                    </p:set>
                                    <p:animEffect transition="in" filter="barn(inVertical)">
                                      <p:cBhvr>
                                        <p:cTn id="296" dur="500"/>
                                        <p:tgtEl>
                                          <p:spTgt spid="182"/>
                                        </p:tgtEl>
                                      </p:cBhvr>
                                    </p:animEffect>
                                  </p:childTnLst>
                                </p:cTn>
                              </p:par>
                            </p:childTnLst>
                          </p:cTn>
                        </p:par>
                      </p:childTnLst>
                    </p:cTn>
                  </p:par>
                  <p:par>
                    <p:cTn id="297" fill="hold">
                      <p:stCondLst>
                        <p:cond delay="indefinite"/>
                      </p:stCondLst>
                      <p:childTnLst>
                        <p:par>
                          <p:cTn id="298" fill="hold">
                            <p:stCondLst>
                              <p:cond delay="0"/>
                            </p:stCondLst>
                            <p:childTnLst>
                              <p:par>
                                <p:cTn id="299" presetID="16" presetClass="entr" presetSubtype="21" fill="hold" grpId="0" nodeType="clickEffect">
                                  <p:stCondLst>
                                    <p:cond delay="0"/>
                                  </p:stCondLst>
                                  <p:childTnLst>
                                    <p:set>
                                      <p:cBhvr>
                                        <p:cTn id="300" dur="1" fill="hold">
                                          <p:stCondLst>
                                            <p:cond delay="0"/>
                                          </p:stCondLst>
                                        </p:cTn>
                                        <p:tgtEl>
                                          <p:spTgt spid="186"/>
                                        </p:tgtEl>
                                        <p:attrNameLst>
                                          <p:attrName>style.visibility</p:attrName>
                                        </p:attrNameLst>
                                      </p:cBhvr>
                                      <p:to>
                                        <p:strVal val="visible"/>
                                      </p:to>
                                    </p:set>
                                    <p:animEffect transition="in" filter="barn(inVertical)">
                                      <p:cBhvr>
                                        <p:cTn id="301" dur="500"/>
                                        <p:tgtEl>
                                          <p:spTgt spid="186"/>
                                        </p:tgtEl>
                                      </p:cBhvr>
                                    </p:animEffect>
                                  </p:childTnLst>
                                </p:cTn>
                              </p:par>
                              <p:par>
                                <p:cTn id="302" presetID="16" presetClass="entr" presetSubtype="21" fill="hold" nodeType="withEffect">
                                  <p:stCondLst>
                                    <p:cond delay="0"/>
                                  </p:stCondLst>
                                  <p:childTnLst>
                                    <p:set>
                                      <p:cBhvr>
                                        <p:cTn id="303" dur="1" fill="hold">
                                          <p:stCondLst>
                                            <p:cond delay="0"/>
                                          </p:stCondLst>
                                        </p:cTn>
                                        <p:tgtEl>
                                          <p:spTgt spid="181"/>
                                        </p:tgtEl>
                                        <p:attrNameLst>
                                          <p:attrName>style.visibility</p:attrName>
                                        </p:attrNameLst>
                                      </p:cBhvr>
                                      <p:to>
                                        <p:strVal val="visible"/>
                                      </p:to>
                                    </p:set>
                                    <p:animEffect transition="in" filter="barn(inVertical)">
                                      <p:cBhvr>
                                        <p:cTn id="304" dur="500"/>
                                        <p:tgtEl>
                                          <p:spTgt spid="181"/>
                                        </p:tgtEl>
                                      </p:cBhvr>
                                    </p:animEffect>
                                  </p:childTnLst>
                                </p:cTn>
                              </p:par>
                            </p:childTnLst>
                          </p:cTn>
                        </p:par>
                      </p:childTnLst>
                    </p:cTn>
                  </p:par>
                  <p:par>
                    <p:cTn id="305" fill="hold">
                      <p:stCondLst>
                        <p:cond delay="indefinite"/>
                      </p:stCondLst>
                      <p:childTnLst>
                        <p:par>
                          <p:cTn id="306" fill="hold">
                            <p:stCondLst>
                              <p:cond delay="0"/>
                            </p:stCondLst>
                            <p:childTnLst>
                              <p:par>
                                <p:cTn id="307" presetID="16" presetClass="entr" presetSubtype="21" fill="hold" nodeType="clickEffect">
                                  <p:stCondLst>
                                    <p:cond delay="0"/>
                                  </p:stCondLst>
                                  <p:childTnLst>
                                    <p:set>
                                      <p:cBhvr>
                                        <p:cTn id="308" dur="1" fill="hold">
                                          <p:stCondLst>
                                            <p:cond delay="0"/>
                                          </p:stCondLst>
                                        </p:cTn>
                                        <p:tgtEl>
                                          <p:spTgt spid="187"/>
                                        </p:tgtEl>
                                        <p:attrNameLst>
                                          <p:attrName>style.visibility</p:attrName>
                                        </p:attrNameLst>
                                      </p:cBhvr>
                                      <p:to>
                                        <p:strVal val="visible"/>
                                      </p:to>
                                    </p:set>
                                    <p:animEffect transition="in" filter="barn(inVertical)">
                                      <p:cBhvr>
                                        <p:cTn id="309" dur="500"/>
                                        <p:tgtEl>
                                          <p:spTgt spid="187"/>
                                        </p:tgtEl>
                                      </p:cBhvr>
                                    </p:animEffect>
                                  </p:childTnLst>
                                </p:cTn>
                              </p:par>
                              <p:par>
                                <p:cTn id="310" presetID="16" presetClass="entr" presetSubtype="21" fill="hold" grpId="0" nodeType="withEffect">
                                  <p:stCondLst>
                                    <p:cond delay="0"/>
                                  </p:stCondLst>
                                  <p:childTnLst>
                                    <p:set>
                                      <p:cBhvr>
                                        <p:cTn id="311" dur="1" fill="hold">
                                          <p:stCondLst>
                                            <p:cond delay="0"/>
                                          </p:stCondLst>
                                        </p:cTn>
                                        <p:tgtEl>
                                          <p:spTgt spid="188"/>
                                        </p:tgtEl>
                                        <p:attrNameLst>
                                          <p:attrName>style.visibility</p:attrName>
                                        </p:attrNameLst>
                                      </p:cBhvr>
                                      <p:to>
                                        <p:strVal val="visible"/>
                                      </p:to>
                                    </p:set>
                                    <p:animEffect transition="in" filter="barn(inVertical)">
                                      <p:cBhvr>
                                        <p:cTn id="312" dur="500"/>
                                        <p:tgtEl>
                                          <p:spTgt spid="188"/>
                                        </p:tgtEl>
                                      </p:cBhvr>
                                    </p:animEffect>
                                  </p:childTnLst>
                                </p:cTn>
                              </p:par>
                            </p:childTnLst>
                          </p:cTn>
                        </p:par>
                      </p:childTnLst>
                    </p:cTn>
                  </p:par>
                  <p:par>
                    <p:cTn id="313" fill="hold">
                      <p:stCondLst>
                        <p:cond delay="indefinite"/>
                      </p:stCondLst>
                      <p:childTnLst>
                        <p:par>
                          <p:cTn id="314" fill="hold">
                            <p:stCondLst>
                              <p:cond delay="0"/>
                            </p:stCondLst>
                            <p:childTnLst>
                              <p:par>
                                <p:cTn id="315" presetID="16" presetClass="entr" presetSubtype="21" fill="hold" grpId="0" nodeType="clickEffect">
                                  <p:stCondLst>
                                    <p:cond delay="0"/>
                                  </p:stCondLst>
                                  <p:childTnLst>
                                    <p:set>
                                      <p:cBhvr>
                                        <p:cTn id="316" dur="1" fill="hold">
                                          <p:stCondLst>
                                            <p:cond delay="0"/>
                                          </p:stCondLst>
                                        </p:cTn>
                                        <p:tgtEl>
                                          <p:spTgt spid="192"/>
                                        </p:tgtEl>
                                        <p:attrNameLst>
                                          <p:attrName>style.visibility</p:attrName>
                                        </p:attrNameLst>
                                      </p:cBhvr>
                                      <p:to>
                                        <p:strVal val="visible"/>
                                      </p:to>
                                    </p:set>
                                    <p:animEffect transition="in" filter="barn(inVertical)">
                                      <p:cBhvr>
                                        <p:cTn id="317" dur="500"/>
                                        <p:tgtEl>
                                          <p:spTgt spid="192"/>
                                        </p:tgtEl>
                                      </p:cBhvr>
                                    </p:animEffect>
                                  </p:childTnLst>
                                </p:cTn>
                              </p:par>
                              <p:par>
                                <p:cTn id="318" presetID="16" presetClass="entr" presetSubtype="21" fill="hold" nodeType="withEffect">
                                  <p:stCondLst>
                                    <p:cond delay="0"/>
                                  </p:stCondLst>
                                  <p:childTnLst>
                                    <p:set>
                                      <p:cBhvr>
                                        <p:cTn id="319" dur="1" fill="hold">
                                          <p:stCondLst>
                                            <p:cond delay="0"/>
                                          </p:stCondLst>
                                        </p:cTn>
                                        <p:tgtEl>
                                          <p:spTgt spid="191"/>
                                        </p:tgtEl>
                                        <p:attrNameLst>
                                          <p:attrName>style.visibility</p:attrName>
                                        </p:attrNameLst>
                                      </p:cBhvr>
                                      <p:to>
                                        <p:strVal val="visible"/>
                                      </p:to>
                                    </p:set>
                                    <p:animEffect transition="in" filter="barn(inVertical)">
                                      <p:cBhvr>
                                        <p:cTn id="320" dur="500"/>
                                        <p:tgtEl>
                                          <p:spTgt spid="191"/>
                                        </p:tgtEl>
                                      </p:cBhvr>
                                    </p:animEffect>
                                  </p:childTnLst>
                                </p:cTn>
                              </p:par>
                            </p:childTnLst>
                          </p:cTn>
                        </p:par>
                      </p:childTnLst>
                    </p:cTn>
                  </p:par>
                  <p:par>
                    <p:cTn id="321" fill="hold">
                      <p:stCondLst>
                        <p:cond delay="indefinite"/>
                      </p:stCondLst>
                      <p:childTnLst>
                        <p:par>
                          <p:cTn id="322" fill="hold">
                            <p:stCondLst>
                              <p:cond delay="0"/>
                            </p:stCondLst>
                            <p:childTnLst>
                              <p:par>
                                <p:cTn id="323" presetID="16" presetClass="entr" presetSubtype="21" fill="hold" nodeType="clickEffect">
                                  <p:stCondLst>
                                    <p:cond delay="0"/>
                                  </p:stCondLst>
                                  <p:childTnLst>
                                    <p:set>
                                      <p:cBhvr>
                                        <p:cTn id="324" dur="1" fill="hold">
                                          <p:stCondLst>
                                            <p:cond delay="0"/>
                                          </p:stCondLst>
                                        </p:cTn>
                                        <p:tgtEl>
                                          <p:spTgt spid="200"/>
                                        </p:tgtEl>
                                        <p:attrNameLst>
                                          <p:attrName>style.visibility</p:attrName>
                                        </p:attrNameLst>
                                      </p:cBhvr>
                                      <p:to>
                                        <p:strVal val="visible"/>
                                      </p:to>
                                    </p:set>
                                    <p:animEffect transition="in" filter="barn(inVertical)">
                                      <p:cBhvr>
                                        <p:cTn id="325" dur="500"/>
                                        <p:tgtEl>
                                          <p:spTgt spid="200"/>
                                        </p:tgtEl>
                                      </p:cBhvr>
                                    </p:animEffect>
                                  </p:childTnLst>
                                </p:cTn>
                              </p:par>
                              <p:par>
                                <p:cTn id="326" presetID="16" presetClass="entr" presetSubtype="21" fill="hold" nodeType="withEffect">
                                  <p:stCondLst>
                                    <p:cond delay="0"/>
                                  </p:stCondLst>
                                  <p:childTnLst>
                                    <p:set>
                                      <p:cBhvr>
                                        <p:cTn id="327" dur="1" fill="hold">
                                          <p:stCondLst>
                                            <p:cond delay="0"/>
                                          </p:stCondLst>
                                        </p:cTn>
                                        <p:tgtEl>
                                          <p:spTgt spid="194"/>
                                        </p:tgtEl>
                                        <p:attrNameLst>
                                          <p:attrName>style.visibility</p:attrName>
                                        </p:attrNameLst>
                                      </p:cBhvr>
                                      <p:to>
                                        <p:strVal val="visible"/>
                                      </p:to>
                                    </p:set>
                                    <p:animEffect transition="in" filter="barn(inVertical)">
                                      <p:cBhvr>
                                        <p:cTn id="328" dur="500"/>
                                        <p:tgtEl>
                                          <p:spTgt spid="194"/>
                                        </p:tgtEl>
                                      </p:cBhvr>
                                    </p:animEffect>
                                  </p:childTnLst>
                                </p:cTn>
                              </p:par>
                              <p:par>
                                <p:cTn id="329" presetID="16" presetClass="entr" presetSubtype="21" fill="hold" grpId="0" nodeType="withEffect">
                                  <p:stCondLst>
                                    <p:cond delay="0"/>
                                  </p:stCondLst>
                                  <p:childTnLst>
                                    <p:set>
                                      <p:cBhvr>
                                        <p:cTn id="330" dur="1" fill="hold">
                                          <p:stCondLst>
                                            <p:cond delay="0"/>
                                          </p:stCondLst>
                                        </p:cTn>
                                        <p:tgtEl>
                                          <p:spTgt spid="195"/>
                                        </p:tgtEl>
                                        <p:attrNameLst>
                                          <p:attrName>style.visibility</p:attrName>
                                        </p:attrNameLst>
                                      </p:cBhvr>
                                      <p:to>
                                        <p:strVal val="visible"/>
                                      </p:to>
                                    </p:set>
                                    <p:animEffect transition="in" filter="barn(inVertical)">
                                      <p:cBhvr>
                                        <p:cTn id="331" dur="500"/>
                                        <p:tgtEl>
                                          <p:spTgt spid="195"/>
                                        </p:tgtEl>
                                      </p:cBhvr>
                                    </p:animEffect>
                                  </p:childTnLst>
                                </p:cTn>
                              </p:par>
                              <p:par>
                                <p:cTn id="332" presetID="16" presetClass="entr" presetSubtype="21" fill="hold" grpId="0" nodeType="withEffect">
                                  <p:stCondLst>
                                    <p:cond delay="0"/>
                                  </p:stCondLst>
                                  <p:childTnLst>
                                    <p:set>
                                      <p:cBhvr>
                                        <p:cTn id="333" dur="1" fill="hold">
                                          <p:stCondLst>
                                            <p:cond delay="0"/>
                                          </p:stCondLst>
                                        </p:cTn>
                                        <p:tgtEl>
                                          <p:spTgt spid="202"/>
                                        </p:tgtEl>
                                        <p:attrNameLst>
                                          <p:attrName>style.visibility</p:attrName>
                                        </p:attrNameLst>
                                      </p:cBhvr>
                                      <p:to>
                                        <p:strVal val="visible"/>
                                      </p:to>
                                    </p:set>
                                    <p:animEffect transition="in" filter="barn(inVertical)">
                                      <p:cBhvr>
                                        <p:cTn id="334" dur="500"/>
                                        <p:tgtEl>
                                          <p:spTgt spid="202"/>
                                        </p:tgtEl>
                                      </p:cBhvr>
                                    </p:animEffect>
                                  </p:childTnLst>
                                </p:cTn>
                              </p:par>
                            </p:childTnLst>
                          </p:cTn>
                        </p:par>
                      </p:childTnLst>
                    </p:cTn>
                  </p:par>
                  <p:par>
                    <p:cTn id="335" fill="hold">
                      <p:stCondLst>
                        <p:cond delay="indefinite"/>
                      </p:stCondLst>
                      <p:childTnLst>
                        <p:par>
                          <p:cTn id="336" fill="hold">
                            <p:stCondLst>
                              <p:cond delay="0"/>
                            </p:stCondLst>
                            <p:childTnLst>
                              <p:par>
                                <p:cTn id="337" presetID="16" presetClass="entr" presetSubtype="21" fill="hold" grpId="0" nodeType="clickEffect">
                                  <p:stCondLst>
                                    <p:cond delay="0"/>
                                  </p:stCondLst>
                                  <p:childTnLst>
                                    <p:set>
                                      <p:cBhvr>
                                        <p:cTn id="338" dur="1" fill="hold">
                                          <p:stCondLst>
                                            <p:cond delay="0"/>
                                          </p:stCondLst>
                                        </p:cTn>
                                        <p:tgtEl>
                                          <p:spTgt spid="203"/>
                                        </p:tgtEl>
                                        <p:attrNameLst>
                                          <p:attrName>style.visibility</p:attrName>
                                        </p:attrNameLst>
                                      </p:cBhvr>
                                      <p:to>
                                        <p:strVal val="visible"/>
                                      </p:to>
                                    </p:set>
                                    <p:animEffect transition="in" filter="barn(inVertical)">
                                      <p:cBhvr>
                                        <p:cTn id="339" dur="500"/>
                                        <p:tgtEl>
                                          <p:spTgt spid="203"/>
                                        </p:tgtEl>
                                      </p:cBhvr>
                                    </p:animEffect>
                                  </p:childTnLst>
                                </p:cTn>
                              </p:par>
                              <p:par>
                                <p:cTn id="340" presetID="16" presetClass="entr" presetSubtype="21" fill="hold" nodeType="withEffect">
                                  <p:stCondLst>
                                    <p:cond delay="0"/>
                                  </p:stCondLst>
                                  <p:childTnLst>
                                    <p:set>
                                      <p:cBhvr>
                                        <p:cTn id="341" dur="1" fill="hold">
                                          <p:stCondLst>
                                            <p:cond delay="0"/>
                                          </p:stCondLst>
                                        </p:cTn>
                                        <p:tgtEl>
                                          <p:spTgt spid="198"/>
                                        </p:tgtEl>
                                        <p:attrNameLst>
                                          <p:attrName>style.visibility</p:attrName>
                                        </p:attrNameLst>
                                      </p:cBhvr>
                                      <p:to>
                                        <p:strVal val="visible"/>
                                      </p:to>
                                    </p:set>
                                    <p:animEffect transition="in" filter="barn(inVertical)">
                                      <p:cBhvr>
                                        <p:cTn id="342" dur="500"/>
                                        <p:tgtEl>
                                          <p:spTgt spid="198"/>
                                        </p:tgtEl>
                                      </p:cBhvr>
                                    </p:animEffect>
                                  </p:childTnLst>
                                </p:cTn>
                              </p:par>
                            </p:childTnLst>
                          </p:cTn>
                        </p:par>
                      </p:childTnLst>
                    </p:cTn>
                  </p:par>
                  <p:par>
                    <p:cTn id="343" fill="hold">
                      <p:stCondLst>
                        <p:cond delay="indefinite"/>
                      </p:stCondLst>
                      <p:childTnLst>
                        <p:par>
                          <p:cTn id="344" fill="hold">
                            <p:stCondLst>
                              <p:cond delay="0"/>
                            </p:stCondLst>
                            <p:childTnLst>
                              <p:par>
                                <p:cTn id="345" presetID="16" presetClass="entr" presetSubtype="21" fill="hold" grpId="0" nodeType="clickEffect">
                                  <p:stCondLst>
                                    <p:cond delay="0"/>
                                  </p:stCondLst>
                                  <p:childTnLst>
                                    <p:set>
                                      <p:cBhvr>
                                        <p:cTn id="346" dur="1" fill="hold">
                                          <p:stCondLst>
                                            <p:cond delay="0"/>
                                          </p:stCondLst>
                                        </p:cTn>
                                        <p:tgtEl>
                                          <p:spTgt spid="193"/>
                                        </p:tgtEl>
                                        <p:attrNameLst>
                                          <p:attrName>style.visibility</p:attrName>
                                        </p:attrNameLst>
                                      </p:cBhvr>
                                      <p:to>
                                        <p:strVal val="visible"/>
                                      </p:to>
                                    </p:set>
                                    <p:animEffect transition="in" filter="barn(inVertical)">
                                      <p:cBhvr>
                                        <p:cTn id="347" dur="500"/>
                                        <p:tgtEl>
                                          <p:spTgt spid="193"/>
                                        </p:tgtEl>
                                      </p:cBhvr>
                                    </p:animEffect>
                                  </p:childTnLst>
                                </p:cTn>
                              </p:par>
                              <p:par>
                                <p:cTn id="348" presetID="16" presetClass="entr" presetSubtype="21" fill="hold" nodeType="withEffect">
                                  <p:stCondLst>
                                    <p:cond delay="0"/>
                                  </p:stCondLst>
                                  <p:childTnLst>
                                    <p:set>
                                      <p:cBhvr>
                                        <p:cTn id="349" dur="1" fill="hold">
                                          <p:stCondLst>
                                            <p:cond delay="0"/>
                                          </p:stCondLst>
                                        </p:cTn>
                                        <p:tgtEl>
                                          <p:spTgt spid="190"/>
                                        </p:tgtEl>
                                        <p:attrNameLst>
                                          <p:attrName>style.visibility</p:attrName>
                                        </p:attrNameLst>
                                      </p:cBhvr>
                                      <p:to>
                                        <p:strVal val="visible"/>
                                      </p:to>
                                    </p:set>
                                    <p:animEffect transition="in" filter="barn(inVertical)">
                                      <p:cBhvr>
                                        <p:cTn id="350" dur="500"/>
                                        <p:tgtEl>
                                          <p:spTgt spid="190"/>
                                        </p:tgtEl>
                                      </p:cBhvr>
                                    </p:animEffect>
                                  </p:childTnLst>
                                </p:cTn>
                              </p:par>
                            </p:childTnLst>
                          </p:cTn>
                        </p:par>
                      </p:childTnLst>
                    </p:cTn>
                  </p:par>
                  <p:par>
                    <p:cTn id="351" fill="hold">
                      <p:stCondLst>
                        <p:cond delay="indefinite"/>
                      </p:stCondLst>
                      <p:childTnLst>
                        <p:par>
                          <p:cTn id="352" fill="hold">
                            <p:stCondLst>
                              <p:cond delay="0"/>
                            </p:stCondLst>
                            <p:childTnLst>
                              <p:par>
                                <p:cTn id="353" presetID="16" presetClass="entr" presetSubtype="21" fill="hold" nodeType="clickEffect">
                                  <p:stCondLst>
                                    <p:cond delay="0"/>
                                  </p:stCondLst>
                                  <p:childTnLst>
                                    <p:set>
                                      <p:cBhvr>
                                        <p:cTn id="354" dur="1" fill="hold">
                                          <p:stCondLst>
                                            <p:cond delay="0"/>
                                          </p:stCondLst>
                                        </p:cTn>
                                        <p:tgtEl>
                                          <p:spTgt spid="196"/>
                                        </p:tgtEl>
                                        <p:attrNameLst>
                                          <p:attrName>style.visibility</p:attrName>
                                        </p:attrNameLst>
                                      </p:cBhvr>
                                      <p:to>
                                        <p:strVal val="visible"/>
                                      </p:to>
                                    </p:set>
                                    <p:animEffect transition="in" filter="barn(inVertical)">
                                      <p:cBhvr>
                                        <p:cTn id="355" dur="500"/>
                                        <p:tgtEl>
                                          <p:spTgt spid="196"/>
                                        </p:tgtEl>
                                      </p:cBhvr>
                                    </p:animEffect>
                                  </p:childTnLst>
                                </p:cTn>
                              </p:par>
                            </p:childTnLst>
                          </p:cTn>
                        </p:par>
                      </p:childTnLst>
                    </p:cTn>
                  </p:par>
                  <p:par>
                    <p:cTn id="356" fill="hold">
                      <p:stCondLst>
                        <p:cond delay="indefinite"/>
                      </p:stCondLst>
                      <p:childTnLst>
                        <p:par>
                          <p:cTn id="357" fill="hold">
                            <p:stCondLst>
                              <p:cond delay="0"/>
                            </p:stCondLst>
                            <p:childTnLst>
                              <p:par>
                                <p:cTn id="358" presetID="16" presetClass="entr" presetSubtype="21" fill="hold" grpId="0" nodeType="clickEffect">
                                  <p:stCondLst>
                                    <p:cond delay="0"/>
                                  </p:stCondLst>
                                  <p:childTnLst>
                                    <p:set>
                                      <p:cBhvr>
                                        <p:cTn id="359" dur="1" fill="hold">
                                          <p:stCondLst>
                                            <p:cond delay="0"/>
                                          </p:stCondLst>
                                        </p:cTn>
                                        <p:tgtEl>
                                          <p:spTgt spid="197"/>
                                        </p:tgtEl>
                                        <p:attrNameLst>
                                          <p:attrName>style.visibility</p:attrName>
                                        </p:attrNameLst>
                                      </p:cBhvr>
                                      <p:to>
                                        <p:strVal val="visible"/>
                                      </p:to>
                                    </p:set>
                                    <p:animEffect transition="in" filter="barn(inVertical)">
                                      <p:cBhvr>
                                        <p:cTn id="360" dur="500"/>
                                        <p:tgtEl>
                                          <p:spTgt spid="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P spid="92" grpId="0"/>
      <p:bldP spid="94" grpId="0"/>
      <p:bldP spid="96" grpId="0"/>
      <p:bldP spid="98" grpId="0"/>
      <p:bldP spid="101" grpId="0"/>
      <p:bldP spid="102" grpId="0"/>
      <p:bldP spid="104" grpId="0"/>
      <p:bldP spid="108" grpId="0"/>
      <p:bldP spid="114" grpId="0"/>
      <p:bldP spid="116" grpId="0"/>
      <p:bldP spid="118" grpId="0"/>
      <p:bldP spid="120" grpId="0"/>
      <p:bldP spid="122" grpId="0"/>
      <p:bldP spid="124" grpId="0"/>
      <p:bldP spid="127" grpId="0"/>
      <p:bldP spid="128" grpId="0"/>
      <p:bldP spid="129" grpId="0"/>
      <p:bldP spid="134" grpId="0"/>
      <p:bldP spid="135" grpId="0"/>
      <p:bldP spid="138" grpId="0"/>
      <p:bldP spid="141" grpId="0"/>
      <p:bldP spid="143" grpId="0"/>
      <p:bldP spid="147" grpId="0"/>
      <p:bldP spid="149" grpId="0"/>
      <p:bldP spid="152" grpId="0"/>
      <p:bldP spid="166" grpId="0"/>
      <p:bldP spid="168" grpId="0"/>
      <p:bldP spid="172" grpId="0"/>
      <p:bldP spid="173" grpId="0"/>
      <p:bldP spid="175" grpId="0"/>
      <p:bldP spid="179" grpId="0"/>
      <p:bldP spid="183" grpId="0"/>
      <p:bldP spid="185" grpId="0"/>
      <p:bldP spid="186" grpId="0"/>
      <p:bldP spid="188" grpId="0"/>
      <p:bldP spid="192" grpId="0"/>
      <p:bldP spid="193" grpId="0"/>
      <p:bldP spid="195" grpId="0"/>
      <p:bldP spid="197" grpId="0"/>
      <p:bldP spid="202" grpId="0"/>
      <p:bldP spid="20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1549" y="530087"/>
            <a:ext cx="887895" cy="3445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0000"/>
                </a:solidFill>
              </a:rPr>
              <a:t>UE</a:t>
            </a:r>
          </a:p>
        </p:txBody>
      </p:sp>
      <p:sp>
        <p:nvSpPr>
          <p:cNvPr id="5" name="Rectangle 4"/>
          <p:cNvSpPr/>
          <p:nvPr/>
        </p:nvSpPr>
        <p:spPr>
          <a:xfrm>
            <a:off x="1626705" y="526775"/>
            <a:ext cx="887895" cy="3445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err="1">
                <a:solidFill>
                  <a:srgbClr val="FF0000"/>
                </a:solidFill>
              </a:rPr>
              <a:t>eNodeB</a:t>
            </a:r>
            <a:endParaRPr lang="en-US" sz="1600">
              <a:solidFill>
                <a:srgbClr val="FF0000"/>
              </a:solidFill>
            </a:endParaRPr>
          </a:p>
        </p:txBody>
      </p:sp>
      <p:sp>
        <p:nvSpPr>
          <p:cNvPr id="6" name="Rectangle 5"/>
          <p:cNvSpPr/>
          <p:nvPr/>
        </p:nvSpPr>
        <p:spPr>
          <a:xfrm>
            <a:off x="2859158" y="516834"/>
            <a:ext cx="887895" cy="3445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0000"/>
                </a:solidFill>
              </a:rPr>
              <a:t>MME</a:t>
            </a:r>
          </a:p>
        </p:txBody>
      </p:sp>
      <p:sp>
        <p:nvSpPr>
          <p:cNvPr id="7" name="Rectangle 6"/>
          <p:cNvSpPr/>
          <p:nvPr/>
        </p:nvSpPr>
        <p:spPr>
          <a:xfrm>
            <a:off x="11532221" y="396219"/>
            <a:ext cx="666402" cy="54501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rgbClr val="FF0000"/>
                </a:solidFill>
              </a:rPr>
              <a:t>TAS</a:t>
            </a:r>
            <a:r>
              <a:rPr lang="en-US" sz="800" b="1">
                <a:solidFill>
                  <a:srgbClr val="222222"/>
                </a:solidFill>
                <a:latin typeface="Roboto"/>
              </a:rPr>
              <a:t> Telecom Application Server</a:t>
            </a:r>
            <a:endParaRPr lang="en-US" sz="800">
              <a:solidFill>
                <a:srgbClr val="FF0000"/>
              </a:solidFill>
            </a:endParaRPr>
          </a:p>
        </p:txBody>
      </p:sp>
      <p:sp>
        <p:nvSpPr>
          <p:cNvPr id="8" name="Rectangle 7"/>
          <p:cNvSpPr/>
          <p:nvPr/>
        </p:nvSpPr>
        <p:spPr>
          <a:xfrm>
            <a:off x="8918723" y="530086"/>
            <a:ext cx="887895" cy="3445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rgbClr val="FF0000"/>
                </a:solidFill>
              </a:rPr>
              <a:t>P-CSCF</a:t>
            </a:r>
          </a:p>
        </p:txBody>
      </p:sp>
      <p:sp>
        <p:nvSpPr>
          <p:cNvPr id="9" name="Rectangle 8"/>
          <p:cNvSpPr/>
          <p:nvPr/>
        </p:nvSpPr>
        <p:spPr>
          <a:xfrm>
            <a:off x="7865166" y="468824"/>
            <a:ext cx="1013814" cy="4510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rgbClr val="FF0000"/>
                </a:solidFill>
              </a:rPr>
              <a:t>HSS</a:t>
            </a:r>
          </a:p>
          <a:p>
            <a:pPr algn="ctr"/>
            <a:r>
              <a:rPr lang="en-US" sz="1000">
                <a:solidFill>
                  <a:schemeClr val="tx1"/>
                </a:solidFill>
              </a:rPr>
              <a:t>Home subs. server</a:t>
            </a:r>
          </a:p>
        </p:txBody>
      </p:sp>
      <p:sp>
        <p:nvSpPr>
          <p:cNvPr id="10" name="Rectangle 9"/>
          <p:cNvSpPr/>
          <p:nvPr/>
        </p:nvSpPr>
        <p:spPr>
          <a:xfrm>
            <a:off x="6639344" y="468825"/>
            <a:ext cx="1127262" cy="4510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rgbClr val="FF0000"/>
                </a:solidFill>
              </a:rPr>
              <a:t>PCRF</a:t>
            </a:r>
          </a:p>
          <a:p>
            <a:pPr algn="ctr"/>
            <a:r>
              <a:rPr lang="en-US" sz="800">
                <a:solidFill>
                  <a:schemeClr val="tx1"/>
                </a:solidFill>
              </a:rPr>
              <a:t>Policy and Charging Rules Function</a:t>
            </a:r>
          </a:p>
        </p:txBody>
      </p:sp>
      <p:sp>
        <p:nvSpPr>
          <p:cNvPr id="11" name="Rectangle 10"/>
          <p:cNvSpPr/>
          <p:nvPr/>
        </p:nvSpPr>
        <p:spPr>
          <a:xfrm>
            <a:off x="5496334" y="530089"/>
            <a:ext cx="887895" cy="3445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0000"/>
                </a:solidFill>
              </a:rPr>
              <a:t>PGW</a:t>
            </a:r>
          </a:p>
        </p:txBody>
      </p:sp>
      <p:sp>
        <p:nvSpPr>
          <p:cNvPr id="12" name="Rectangle 11"/>
          <p:cNvSpPr/>
          <p:nvPr/>
        </p:nvSpPr>
        <p:spPr>
          <a:xfrm>
            <a:off x="4133024" y="526775"/>
            <a:ext cx="887895" cy="3445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0000"/>
                </a:solidFill>
              </a:rPr>
              <a:t>SGW</a:t>
            </a:r>
          </a:p>
        </p:txBody>
      </p:sp>
      <p:sp>
        <p:nvSpPr>
          <p:cNvPr id="13" name="Rectangle 12"/>
          <p:cNvSpPr/>
          <p:nvPr/>
        </p:nvSpPr>
        <p:spPr>
          <a:xfrm>
            <a:off x="10801648" y="516833"/>
            <a:ext cx="680822" cy="3445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rgbClr val="FF0000"/>
                </a:solidFill>
              </a:rPr>
              <a:t>S-CSCF</a:t>
            </a:r>
          </a:p>
        </p:txBody>
      </p:sp>
      <p:cxnSp>
        <p:nvCxnSpPr>
          <p:cNvPr id="15" name="Straight Connector 14"/>
          <p:cNvCxnSpPr>
            <a:stCxn id="4" idx="2"/>
          </p:cNvCxnSpPr>
          <p:nvPr/>
        </p:nvCxnSpPr>
        <p:spPr>
          <a:xfrm flipH="1">
            <a:off x="735496" y="874643"/>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2070652" y="891209"/>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3303104" y="884583"/>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4614244" y="891209"/>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5940281" y="891209"/>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7266318" y="891209"/>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8309113" y="891209"/>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9441338" y="891209"/>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10323455" y="871331"/>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11205571" y="861389"/>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759513" y="1099930"/>
            <a:ext cx="13111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007186" y="891209"/>
            <a:ext cx="755335" cy="215444"/>
          </a:xfrm>
          <a:prstGeom prst="rect">
            <a:avLst/>
          </a:prstGeom>
          <a:noFill/>
        </p:spPr>
        <p:txBody>
          <a:bodyPr wrap="none" rtlCol="0">
            <a:spAutoFit/>
          </a:bodyPr>
          <a:lstStyle/>
          <a:p>
            <a:r>
              <a:rPr lang="en-US" sz="800"/>
              <a:t>RRC Conn </a:t>
            </a:r>
            <a:r>
              <a:rPr lang="en-US" sz="800" err="1"/>
              <a:t>req</a:t>
            </a:r>
            <a:endParaRPr lang="en-US" sz="800"/>
          </a:p>
        </p:txBody>
      </p:sp>
      <p:cxnSp>
        <p:nvCxnSpPr>
          <p:cNvPr id="30" name="Straight Arrow Connector 29"/>
          <p:cNvCxnSpPr/>
          <p:nvPr/>
        </p:nvCxnSpPr>
        <p:spPr>
          <a:xfrm flipH="1">
            <a:off x="735496" y="1298713"/>
            <a:ext cx="13351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1013399" y="1143001"/>
            <a:ext cx="854721" cy="215444"/>
          </a:xfrm>
          <a:prstGeom prst="rect">
            <a:avLst/>
          </a:prstGeom>
          <a:noFill/>
        </p:spPr>
        <p:txBody>
          <a:bodyPr wrap="none" rtlCol="0">
            <a:spAutoFit/>
          </a:bodyPr>
          <a:lstStyle/>
          <a:p>
            <a:r>
              <a:rPr lang="en-US" sz="800"/>
              <a:t>RRC Conn Setup</a:t>
            </a:r>
          </a:p>
        </p:txBody>
      </p:sp>
      <p:cxnSp>
        <p:nvCxnSpPr>
          <p:cNvPr id="32" name="Straight Arrow Connector 31"/>
          <p:cNvCxnSpPr/>
          <p:nvPr/>
        </p:nvCxnSpPr>
        <p:spPr>
          <a:xfrm>
            <a:off x="752889" y="1583636"/>
            <a:ext cx="13111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013814" y="1374915"/>
            <a:ext cx="643125" cy="215444"/>
          </a:xfrm>
          <a:prstGeom prst="rect">
            <a:avLst/>
          </a:prstGeom>
          <a:noFill/>
        </p:spPr>
        <p:txBody>
          <a:bodyPr wrap="none" rtlCol="0">
            <a:spAutoFit/>
          </a:bodyPr>
          <a:lstStyle/>
          <a:p>
            <a:r>
              <a:rPr lang="en-US" sz="800"/>
              <a:t>Attach </a:t>
            </a:r>
            <a:r>
              <a:rPr lang="en-US" sz="800" err="1"/>
              <a:t>Req</a:t>
            </a:r>
            <a:endParaRPr lang="en-US" sz="800"/>
          </a:p>
        </p:txBody>
      </p:sp>
      <p:sp>
        <p:nvSpPr>
          <p:cNvPr id="34" name="Rectangle 33"/>
          <p:cNvSpPr/>
          <p:nvPr/>
        </p:nvSpPr>
        <p:spPr>
          <a:xfrm>
            <a:off x="690749" y="1574766"/>
            <a:ext cx="1500020" cy="415498"/>
          </a:xfrm>
          <a:prstGeom prst="rect">
            <a:avLst/>
          </a:prstGeom>
        </p:spPr>
        <p:txBody>
          <a:bodyPr wrap="square">
            <a:spAutoFit/>
          </a:bodyPr>
          <a:lstStyle/>
          <a:p>
            <a:r>
              <a:rPr lang="en-US" sz="700">
                <a:solidFill>
                  <a:srgbClr val="000000"/>
                </a:solidFill>
              </a:rPr>
              <a:t>RRC Connection Setup complete </a:t>
            </a:r>
          </a:p>
          <a:p>
            <a:r>
              <a:rPr lang="en-US" sz="700">
                <a:solidFill>
                  <a:srgbClr val="000000"/>
                </a:solidFill>
              </a:rPr>
              <a:t>[ Dedicated NAS ]</a:t>
            </a:r>
          </a:p>
          <a:p>
            <a:r>
              <a:rPr lang="en-US" sz="700">
                <a:solidFill>
                  <a:srgbClr val="000000"/>
                </a:solidFill>
              </a:rPr>
              <a:t> [ PDN Connectivity Request] </a:t>
            </a:r>
            <a:endParaRPr lang="en-US" sz="700"/>
          </a:p>
        </p:txBody>
      </p:sp>
      <p:cxnSp>
        <p:nvCxnSpPr>
          <p:cNvPr id="35" name="Straight Arrow Connector 34"/>
          <p:cNvCxnSpPr/>
          <p:nvPr/>
        </p:nvCxnSpPr>
        <p:spPr>
          <a:xfrm>
            <a:off x="2044563" y="1807749"/>
            <a:ext cx="13111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2305488" y="1599028"/>
            <a:ext cx="643125" cy="215444"/>
          </a:xfrm>
          <a:prstGeom prst="rect">
            <a:avLst/>
          </a:prstGeom>
          <a:noFill/>
        </p:spPr>
        <p:txBody>
          <a:bodyPr wrap="none" rtlCol="0">
            <a:spAutoFit/>
          </a:bodyPr>
          <a:lstStyle/>
          <a:p>
            <a:r>
              <a:rPr lang="en-US" sz="800"/>
              <a:t>Attach </a:t>
            </a:r>
            <a:r>
              <a:rPr lang="en-US" sz="800" err="1"/>
              <a:t>Req</a:t>
            </a:r>
            <a:endParaRPr lang="en-US" sz="800"/>
          </a:p>
        </p:txBody>
      </p:sp>
      <p:sp>
        <p:nvSpPr>
          <p:cNvPr id="37" name="Rectangle 36"/>
          <p:cNvSpPr/>
          <p:nvPr/>
        </p:nvSpPr>
        <p:spPr>
          <a:xfrm>
            <a:off x="2061113" y="1782515"/>
            <a:ext cx="1247402" cy="461665"/>
          </a:xfrm>
          <a:prstGeom prst="rect">
            <a:avLst/>
          </a:prstGeom>
        </p:spPr>
        <p:txBody>
          <a:bodyPr wrap="square">
            <a:spAutoFit/>
          </a:bodyPr>
          <a:lstStyle/>
          <a:p>
            <a:r>
              <a:rPr lang="en-US" sz="800">
                <a:solidFill>
                  <a:srgbClr val="000000"/>
                </a:solidFill>
              </a:rPr>
              <a:t>NAS PDU </a:t>
            </a:r>
          </a:p>
          <a:p>
            <a:r>
              <a:rPr lang="en-US" sz="800">
                <a:solidFill>
                  <a:srgbClr val="000000"/>
                </a:solidFill>
              </a:rPr>
              <a:t> EPS SM: PDN Connectivity Request </a:t>
            </a:r>
            <a:endParaRPr lang="en-US" sz="800"/>
          </a:p>
        </p:txBody>
      </p:sp>
      <p:cxnSp>
        <p:nvCxnSpPr>
          <p:cNvPr id="39" name="Straight Arrow Connector 38"/>
          <p:cNvCxnSpPr/>
          <p:nvPr/>
        </p:nvCxnSpPr>
        <p:spPr>
          <a:xfrm flipV="1">
            <a:off x="766118" y="2465099"/>
            <a:ext cx="2550215" cy="13252"/>
          </a:xfrm>
          <a:prstGeom prst="straightConnector1">
            <a:avLst/>
          </a:prstGeom>
          <a:ln w="28575">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V="1">
            <a:off x="3332473" y="2455156"/>
            <a:ext cx="4976640" cy="3317"/>
          </a:xfrm>
          <a:prstGeom prst="straightConnector1">
            <a:avLst/>
          </a:prstGeom>
          <a:ln w="28575">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2550369" y="2207760"/>
            <a:ext cx="1335622" cy="230832"/>
          </a:xfrm>
          <a:prstGeom prst="rect">
            <a:avLst/>
          </a:prstGeom>
        </p:spPr>
        <p:txBody>
          <a:bodyPr wrap="none">
            <a:spAutoFit/>
          </a:bodyPr>
          <a:lstStyle/>
          <a:p>
            <a:r>
              <a:rPr lang="en-US" sz="900">
                <a:solidFill>
                  <a:srgbClr val="000000"/>
                </a:solidFill>
              </a:rPr>
              <a:t>Authentication/Security </a:t>
            </a:r>
            <a:endParaRPr lang="en-US" sz="900"/>
          </a:p>
        </p:txBody>
      </p:sp>
      <p:sp>
        <p:nvSpPr>
          <p:cNvPr id="43" name="Rectangle 42"/>
          <p:cNvSpPr/>
          <p:nvPr/>
        </p:nvSpPr>
        <p:spPr>
          <a:xfrm>
            <a:off x="9879507" y="516833"/>
            <a:ext cx="887895" cy="34455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rgbClr val="FF0000"/>
                </a:solidFill>
              </a:rPr>
              <a:t>I-CSCF</a:t>
            </a:r>
          </a:p>
        </p:txBody>
      </p:sp>
      <p:cxnSp>
        <p:nvCxnSpPr>
          <p:cNvPr id="45" name="Straight Connector 44"/>
          <p:cNvCxnSpPr/>
          <p:nvPr/>
        </p:nvCxnSpPr>
        <p:spPr>
          <a:xfrm flipH="1">
            <a:off x="11998189" y="861388"/>
            <a:ext cx="1" cy="5983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3316333" y="2754109"/>
            <a:ext cx="4992780" cy="234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5269031" y="2541008"/>
            <a:ext cx="1260281" cy="215444"/>
          </a:xfrm>
          <a:prstGeom prst="rect">
            <a:avLst/>
          </a:prstGeom>
          <a:noFill/>
        </p:spPr>
        <p:txBody>
          <a:bodyPr wrap="none" rtlCol="0">
            <a:spAutoFit/>
          </a:bodyPr>
          <a:lstStyle/>
          <a:p>
            <a:r>
              <a:rPr lang="en-US" sz="800"/>
              <a:t>Update Location  Request</a:t>
            </a:r>
          </a:p>
        </p:txBody>
      </p:sp>
      <p:cxnSp>
        <p:nvCxnSpPr>
          <p:cNvPr id="50" name="Straight Arrow Connector 49"/>
          <p:cNvCxnSpPr/>
          <p:nvPr/>
        </p:nvCxnSpPr>
        <p:spPr>
          <a:xfrm flipH="1">
            <a:off x="3298977" y="2994991"/>
            <a:ext cx="5010136" cy="34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5380403" y="2815119"/>
            <a:ext cx="1210588" cy="215444"/>
          </a:xfrm>
          <a:prstGeom prst="rect">
            <a:avLst/>
          </a:prstGeom>
          <a:noFill/>
        </p:spPr>
        <p:txBody>
          <a:bodyPr wrap="none" rtlCol="0">
            <a:spAutoFit/>
          </a:bodyPr>
          <a:lstStyle/>
          <a:p>
            <a:r>
              <a:rPr lang="en-US" sz="800"/>
              <a:t>Update Location Answer</a:t>
            </a:r>
          </a:p>
        </p:txBody>
      </p:sp>
      <p:cxnSp>
        <p:nvCxnSpPr>
          <p:cNvPr id="53" name="Straight Arrow Connector 52"/>
          <p:cNvCxnSpPr/>
          <p:nvPr/>
        </p:nvCxnSpPr>
        <p:spPr>
          <a:xfrm>
            <a:off x="3308517" y="3318741"/>
            <a:ext cx="13111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3556190" y="3110020"/>
            <a:ext cx="957313" cy="215444"/>
          </a:xfrm>
          <a:prstGeom prst="rect">
            <a:avLst/>
          </a:prstGeom>
          <a:noFill/>
        </p:spPr>
        <p:txBody>
          <a:bodyPr wrap="none" rtlCol="0">
            <a:spAutoFit/>
          </a:bodyPr>
          <a:lstStyle/>
          <a:p>
            <a:r>
              <a:rPr lang="en-US" sz="800"/>
              <a:t>Create Session </a:t>
            </a:r>
            <a:r>
              <a:rPr lang="en-US" sz="800" err="1"/>
              <a:t>req</a:t>
            </a:r>
            <a:endParaRPr lang="en-US" sz="800"/>
          </a:p>
        </p:txBody>
      </p:sp>
      <p:sp>
        <p:nvSpPr>
          <p:cNvPr id="55" name="Rectangle 54"/>
          <p:cNvSpPr/>
          <p:nvPr/>
        </p:nvSpPr>
        <p:spPr>
          <a:xfrm>
            <a:off x="3198052" y="3365462"/>
            <a:ext cx="1582484" cy="215444"/>
          </a:xfrm>
          <a:prstGeom prst="rect">
            <a:avLst/>
          </a:prstGeom>
        </p:spPr>
        <p:txBody>
          <a:bodyPr wrap="none">
            <a:spAutoFit/>
          </a:bodyPr>
          <a:lstStyle/>
          <a:p>
            <a:r>
              <a:rPr lang="en-US" sz="800">
                <a:solidFill>
                  <a:srgbClr val="000000"/>
                </a:solidFill>
              </a:rPr>
              <a:t>IMS-APN; QCI:5; ARP; APN AMBR </a:t>
            </a:r>
            <a:endParaRPr lang="en-US" sz="800"/>
          </a:p>
        </p:txBody>
      </p:sp>
      <p:cxnSp>
        <p:nvCxnSpPr>
          <p:cNvPr id="56" name="Straight Arrow Connector 55"/>
          <p:cNvCxnSpPr/>
          <p:nvPr/>
        </p:nvCxnSpPr>
        <p:spPr>
          <a:xfrm>
            <a:off x="4625343" y="3535554"/>
            <a:ext cx="13111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4873016" y="3326833"/>
            <a:ext cx="957313" cy="215444"/>
          </a:xfrm>
          <a:prstGeom prst="rect">
            <a:avLst/>
          </a:prstGeom>
          <a:noFill/>
        </p:spPr>
        <p:txBody>
          <a:bodyPr wrap="none" rtlCol="0">
            <a:spAutoFit/>
          </a:bodyPr>
          <a:lstStyle/>
          <a:p>
            <a:r>
              <a:rPr lang="en-US" sz="800"/>
              <a:t>Create Session </a:t>
            </a:r>
            <a:r>
              <a:rPr lang="en-US" sz="800" err="1"/>
              <a:t>req</a:t>
            </a:r>
            <a:endParaRPr lang="en-US" sz="800"/>
          </a:p>
        </p:txBody>
      </p:sp>
      <p:sp>
        <p:nvSpPr>
          <p:cNvPr id="58" name="Rectangle 57"/>
          <p:cNvSpPr/>
          <p:nvPr/>
        </p:nvSpPr>
        <p:spPr>
          <a:xfrm>
            <a:off x="4514878" y="3582275"/>
            <a:ext cx="1582484" cy="215444"/>
          </a:xfrm>
          <a:prstGeom prst="rect">
            <a:avLst/>
          </a:prstGeom>
        </p:spPr>
        <p:txBody>
          <a:bodyPr wrap="none">
            <a:spAutoFit/>
          </a:bodyPr>
          <a:lstStyle/>
          <a:p>
            <a:r>
              <a:rPr lang="en-US" sz="800">
                <a:solidFill>
                  <a:srgbClr val="000000"/>
                </a:solidFill>
              </a:rPr>
              <a:t>IMS-APN; QCI:5; ARP; APN AMBR </a:t>
            </a:r>
            <a:endParaRPr lang="en-US" sz="800"/>
          </a:p>
        </p:txBody>
      </p:sp>
      <p:cxnSp>
        <p:nvCxnSpPr>
          <p:cNvPr id="59" name="Straight Arrow Connector 58"/>
          <p:cNvCxnSpPr/>
          <p:nvPr/>
        </p:nvCxnSpPr>
        <p:spPr>
          <a:xfrm>
            <a:off x="5949055" y="3789627"/>
            <a:ext cx="13111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6006000" y="3582275"/>
            <a:ext cx="1135247" cy="215444"/>
          </a:xfrm>
          <a:prstGeom prst="rect">
            <a:avLst/>
          </a:prstGeom>
          <a:noFill/>
        </p:spPr>
        <p:txBody>
          <a:bodyPr wrap="none" rtlCol="0">
            <a:spAutoFit/>
          </a:bodyPr>
          <a:lstStyle/>
          <a:p>
            <a:r>
              <a:rPr lang="en-US" sz="800">
                <a:solidFill>
                  <a:srgbClr val="FF0000"/>
                </a:solidFill>
              </a:rPr>
              <a:t>Credit Control Request</a:t>
            </a:r>
          </a:p>
        </p:txBody>
      </p:sp>
      <p:cxnSp>
        <p:nvCxnSpPr>
          <p:cNvPr id="61" name="Straight Arrow Connector 60"/>
          <p:cNvCxnSpPr/>
          <p:nvPr/>
        </p:nvCxnSpPr>
        <p:spPr>
          <a:xfrm flipH="1">
            <a:off x="5910767" y="4164279"/>
            <a:ext cx="13351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6039104" y="3970854"/>
            <a:ext cx="1107996" cy="215444"/>
          </a:xfrm>
          <a:prstGeom prst="rect">
            <a:avLst/>
          </a:prstGeom>
          <a:noFill/>
        </p:spPr>
        <p:txBody>
          <a:bodyPr wrap="none" rtlCol="0">
            <a:spAutoFit/>
          </a:bodyPr>
          <a:lstStyle/>
          <a:p>
            <a:r>
              <a:rPr lang="en-US" sz="800">
                <a:solidFill>
                  <a:srgbClr val="FF0000"/>
                </a:solidFill>
              </a:rPr>
              <a:t>Credit Control Answer</a:t>
            </a:r>
          </a:p>
        </p:txBody>
      </p:sp>
      <p:sp>
        <p:nvSpPr>
          <p:cNvPr id="63" name="Rectangle 62"/>
          <p:cNvSpPr/>
          <p:nvPr/>
        </p:nvSpPr>
        <p:spPr>
          <a:xfrm>
            <a:off x="6152459" y="4221178"/>
            <a:ext cx="963725" cy="215444"/>
          </a:xfrm>
          <a:prstGeom prst="rect">
            <a:avLst/>
          </a:prstGeom>
        </p:spPr>
        <p:txBody>
          <a:bodyPr wrap="none">
            <a:spAutoFit/>
          </a:bodyPr>
          <a:lstStyle/>
          <a:p>
            <a:r>
              <a:rPr lang="en-US" sz="800">
                <a:solidFill>
                  <a:srgbClr val="000000"/>
                </a:solidFill>
              </a:rPr>
              <a:t>IP default rule TFT </a:t>
            </a:r>
            <a:endParaRPr lang="en-US" sz="800"/>
          </a:p>
        </p:txBody>
      </p:sp>
      <p:cxnSp>
        <p:nvCxnSpPr>
          <p:cNvPr id="64" name="Straight Arrow Connector 63"/>
          <p:cNvCxnSpPr/>
          <p:nvPr/>
        </p:nvCxnSpPr>
        <p:spPr>
          <a:xfrm flipH="1">
            <a:off x="4594430" y="4275765"/>
            <a:ext cx="13351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4696818" y="4076320"/>
            <a:ext cx="1218603" cy="215444"/>
          </a:xfrm>
          <a:prstGeom prst="rect">
            <a:avLst/>
          </a:prstGeom>
          <a:noFill/>
        </p:spPr>
        <p:txBody>
          <a:bodyPr wrap="none" rtlCol="0">
            <a:spAutoFit/>
          </a:bodyPr>
          <a:lstStyle/>
          <a:p>
            <a:r>
              <a:rPr lang="en-US" sz="800"/>
              <a:t>Create Session Response</a:t>
            </a:r>
          </a:p>
        </p:txBody>
      </p:sp>
      <p:cxnSp>
        <p:nvCxnSpPr>
          <p:cNvPr id="66" name="Straight Arrow Connector 65"/>
          <p:cNvCxnSpPr/>
          <p:nvPr/>
        </p:nvCxnSpPr>
        <p:spPr>
          <a:xfrm flipH="1">
            <a:off x="3282888" y="4397728"/>
            <a:ext cx="13351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3309570" y="4053811"/>
            <a:ext cx="1218603" cy="215444"/>
          </a:xfrm>
          <a:prstGeom prst="rect">
            <a:avLst/>
          </a:prstGeom>
          <a:noFill/>
        </p:spPr>
        <p:txBody>
          <a:bodyPr wrap="none" rtlCol="0">
            <a:spAutoFit/>
          </a:bodyPr>
          <a:lstStyle/>
          <a:p>
            <a:r>
              <a:rPr lang="en-US" sz="800"/>
              <a:t>Create Session Response</a:t>
            </a:r>
          </a:p>
        </p:txBody>
      </p:sp>
      <p:cxnSp>
        <p:nvCxnSpPr>
          <p:cNvPr id="68" name="Straight Arrow Connector 67"/>
          <p:cNvCxnSpPr/>
          <p:nvPr/>
        </p:nvCxnSpPr>
        <p:spPr>
          <a:xfrm flipH="1">
            <a:off x="2005560" y="4604651"/>
            <a:ext cx="13351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2026732" y="4317681"/>
            <a:ext cx="1385316" cy="338554"/>
          </a:xfrm>
          <a:prstGeom prst="rect">
            <a:avLst/>
          </a:prstGeom>
          <a:noFill/>
        </p:spPr>
        <p:txBody>
          <a:bodyPr wrap="none" rtlCol="0">
            <a:spAutoFit/>
          </a:bodyPr>
          <a:lstStyle/>
          <a:p>
            <a:r>
              <a:rPr lang="it-IT" sz="800"/>
              <a:t>E-RAB Setup Request</a:t>
            </a:r>
          </a:p>
          <a:p>
            <a:r>
              <a:rPr lang="it-IT" sz="800"/>
              <a:t> QCI:5; ARP; UE AMBR </a:t>
            </a:r>
            <a:r>
              <a:rPr lang="en-US" sz="800"/>
              <a:t> Setup</a:t>
            </a:r>
          </a:p>
        </p:txBody>
      </p:sp>
      <p:sp>
        <p:nvSpPr>
          <p:cNvPr id="70" name="Rectangle 69"/>
          <p:cNvSpPr/>
          <p:nvPr/>
        </p:nvSpPr>
        <p:spPr>
          <a:xfrm>
            <a:off x="2025989" y="4624530"/>
            <a:ext cx="1588897" cy="338554"/>
          </a:xfrm>
          <a:prstGeom prst="rect">
            <a:avLst/>
          </a:prstGeom>
        </p:spPr>
        <p:txBody>
          <a:bodyPr wrap="none">
            <a:spAutoFit/>
          </a:bodyPr>
          <a:lstStyle/>
          <a:p>
            <a:r>
              <a:rPr lang="en-US" sz="800">
                <a:solidFill>
                  <a:srgbClr val="000000"/>
                </a:solidFill>
              </a:rPr>
              <a:t>NAS PDU </a:t>
            </a:r>
          </a:p>
          <a:p>
            <a:r>
              <a:rPr lang="en-US" sz="800">
                <a:solidFill>
                  <a:srgbClr val="000000"/>
                </a:solidFill>
              </a:rPr>
              <a:t>Activate Default Bearer Request  </a:t>
            </a:r>
            <a:endParaRPr lang="en-US" sz="800"/>
          </a:p>
        </p:txBody>
      </p:sp>
      <p:cxnSp>
        <p:nvCxnSpPr>
          <p:cNvPr id="71" name="Straight Arrow Connector 70"/>
          <p:cNvCxnSpPr/>
          <p:nvPr/>
        </p:nvCxnSpPr>
        <p:spPr>
          <a:xfrm flipH="1">
            <a:off x="730225" y="4888916"/>
            <a:ext cx="13351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907807" y="4673472"/>
            <a:ext cx="901209" cy="215444"/>
          </a:xfrm>
          <a:prstGeom prst="rect">
            <a:avLst/>
          </a:prstGeom>
          <a:noFill/>
        </p:spPr>
        <p:txBody>
          <a:bodyPr wrap="none" rtlCol="0">
            <a:spAutoFit/>
          </a:bodyPr>
          <a:lstStyle/>
          <a:p>
            <a:r>
              <a:rPr lang="en-US" sz="800"/>
              <a:t>RRC Conn </a:t>
            </a:r>
            <a:r>
              <a:rPr lang="en-US" sz="800" err="1"/>
              <a:t>recong</a:t>
            </a:r>
            <a:endParaRPr lang="en-US" sz="800"/>
          </a:p>
        </p:txBody>
      </p:sp>
      <p:sp>
        <p:nvSpPr>
          <p:cNvPr id="74" name="Rectangle 73"/>
          <p:cNvSpPr/>
          <p:nvPr/>
        </p:nvSpPr>
        <p:spPr>
          <a:xfrm>
            <a:off x="671413" y="4920621"/>
            <a:ext cx="1588897" cy="338554"/>
          </a:xfrm>
          <a:prstGeom prst="rect">
            <a:avLst/>
          </a:prstGeom>
        </p:spPr>
        <p:txBody>
          <a:bodyPr wrap="none">
            <a:spAutoFit/>
          </a:bodyPr>
          <a:lstStyle/>
          <a:p>
            <a:r>
              <a:rPr lang="en-US" sz="800">
                <a:solidFill>
                  <a:srgbClr val="000000"/>
                </a:solidFill>
              </a:rPr>
              <a:t>NAS PDU </a:t>
            </a:r>
          </a:p>
          <a:p>
            <a:r>
              <a:rPr lang="en-US" sz="800">
                <a:solidFill>
                  <a:srgbClr val="000000"/>
                </a:solidFill>
              </a:rPr>
              <a:t>Activate Default Bearer Request  </a:t>
            </a:r>
            <a:endParaRPr lang="en-US" sz="800"/>
          </a:p>
        </p:txBody>
      </p:sp>
      <p:cxnSp>
        <p:nvCxnSpPr>
          <p:cNvPr id="75" name="Straight Arrow Connector 74"/>
          <p:cNvCxnSpPr/>
          <p:nvPr/>
        </p:nvCxnSpPr>
        <p:spPr>
          <a:xfrm>
            <a:off x="731359" y="5516248"/>
            <a:ext cx="13111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785177" y="5308117"/>
            <a:ext cx="1178528" cy="215444"/>
          </a:xfrm>
          <a:prstGeom prst="rect">
            <a:avLst/>
          </a:prstGeom>
          <a:noFill/>
        </p:spPr>
        <p:txBody>
          <a:bodyPr wrap="none" rtlCol="0">
            <a:spAutoFit/>
          </a:bodyPr>
          <a:lstStyle/>
          <a:p>
            <a:r>
              <a:rPr lang="en-US" sz="800"/>
              <a:t>RRC Conn </a:t>
            </a:r>
            <a:r>
              <a:rPr lang="en-US" sz="800" err="1"/>
              <a:t>reconf</a:t>
            </a:r>
            <a:r>
              <a:rPr lang="en-US" sz="800"/>
              <a:t>. Comp</a:t>
            </a:r>
          </a:p>
        </p:txBody>
      </p:sp>
      <p:cxnSp>
        <p:nvCxnSpPr>
          <p:cNvPr id="77" name="Straight Arrow Connector 76"/>
          <p:cNvCxnSpPr/>
          <p:nvPr/>
        </p:nvCxnSpPr>
        <p:spPr>
          <a:xfrm>
            <a:off x="2055955" y="5616839"/>
            <a:ext cx="13111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a:xfrm>
            <a:off x="2109773" y="5408708"/>
            <a:ext cx="1125629" cy="215444"/>
          </a:xfrm>
          <a:prstGeom prst="rect">
            <a:avLst/>
          </a:prstGeom>
          <a:noFill/>
        </p:spPr>
        <p:txBody>
          <a:bodyPr wrap="none" rtlCol="0">
            <a:spAutoFit/>
          </a:bodyPr>
          <a:lstStyle/>
          <a:p>
            <a:r>
              <a:rPr lang="en-US" sz="800"/>
              <a:t>E-RAB Setup Response</a:t>
            </a:r>
          </a:p>
        </p:txBody>
      </p:sp>
      <p:cxnSp>
        <p:nvCxnSpPr>
          <p:cNvPr id="79" name="Straight Arrow Connector 78"/>
          <p:cNvCxnSpPr/>
          <p:nvPr/>
        </p:nvCxnSpPr>
        <p:spPr>
          <a:xfrm>
            <a:off x="755237" y="5832283"/>
            <a:ext cx="13111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809055" y="5624152"/>
            <a:ext cx="881973" cy="215444"/>
          </a:xfrm>
          <a:prstGeom prst="rect">
            <a:avLst/>
          </a:prstGeom>
          <a:noFill/>
        </p:spPr>
        <p:txBody>
          <a:bodyPr wrap="none" rtlCol="0">
            <a:spAutoFit/>
          </a:bodyPr>
          <a:lstStyle/>
          <a:p>
            <a:r>
              <a:rPr lang="en-US" sz="800"/>
              <a:t>UL Data Transfer</a:t>
            </a:r>
          </a:p>
        </p:txBody>
      </p:sp>
      <p:cxnSp>
        <p:nvCxnSpPr>
          <p:cNvPr id="81" name="Straight Arrow Connector 80"/>
          <p:cNvCxnSpPr/>
          <p:nvPr/>
        </p:nvCxnSpPr>
        <p:spPr>
          <a:xfrm>
            <a:off x="2054197" y="6074913"/>
            <a:ext cx="13111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2250032" y="5839596"/>
            <a:ext cx="886781" cy="215444"/>
          </a:xfrm>
          <a:prstGeom prst="rect">
            <a:avLst/>
          </a:prstGeom>
          <a:noFill/>
        </p:spPr>
        <p:txBody>
          <a:bodyPr wrap="none" rtlCol="0">
            <a:spAutoFit/>
          </a:bodyPr>
          <a:lstStyle/>
          <a:p>
            <a:r>
              <a:rPr lang="en-US" sz="800"/>
              <a:t>Attach Complete</a:t>
            </a:r>
          </a:p>
        </p:txBody>
      </p:sp>
      <p:cxnSp>
        <p:nvCxnSpPr>
          <p:cNvPr id="83" name="Straight Arrow Connector 82"/>
          <p:cNvCxnSpPr/>
          <p:nvPr/>
        </p:nvCxnSpPr>
        <p:spPr>
          <a:xfrm>
            <a:off x="3314505" y="6211556"/>
            <a:ext cx="13111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3433038" y="5977302"/>
            <a:ext cx="1149674" cy="215444"/>
          </a:xfrm>
          <a:prstGeom prst="rect">
            <a:avLst/>
          </a:prstGeom>
          <a:noFill/>
        </p:spPr>
        <p:txBody>
          <a:bodyPr wrap="none" rtlCol="0">
            <a:spAutoFit/>
          </a:bodyPr>
          <a:lstStyle/>
          <a:p>
            <a:r>
              <a:rPr lang="en-US" sz="800"/>
              <a:t>Modify Bearer Request</a:t>
            </a:r>
          </a:p>
        </p:txBody>
      </p:sp>
      <p:cxnSp>
        <p:nvCxnSpPr>
          <p:cNvPr id="85" name="Straight Arrow Connector 84"/>
          <p:cNvCxnSpPr/>
          <p:nvPr/>
        </p:nvCxnSpPr>
        <p:spPr>
          <a:xfrm flipH="1">
            <a:off x="3292885" y="6452502"/>
            <a:ext cx="13351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3328638" y="6244656"/>
            <a:ext cx="1189749" cy="215444"/>
          </a:xfrm>
          <a:prstGeom prst="rect">
            <a:avLst/>
          </a:prstGeom>
          <a:noFill/>
        </p:spPr>
        <p:txBody>
          <a:bodyPr wrap="none" rtlCol="0">
            <a:spAutoFit/>
          </a:bodyPr>
          <a:lstStyle/>
          <a:p>
            <a:r>
              <a:rPr lang="en-US" sz="800"/>
              <a:t>Modify Bearer response</a:t>
            </a:r>
          </a:p>
        </p:txBody>
      </p:sp>
      <p:sp>
        <p:nvSpPr>
          <p:cNvPr id="87" name="Left-Right Arrow 86"/>
          <p:cNvSpPr/>
          <p:nvPr/>
        </p:nvSpPr>
        <p:spPr>
          <a:xfrm>
            <a:off x="711480" y="6452935"/>
            <a:ext cx="5225002" cy="39442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Default Bearer Established for IMS signaling</a:t>
            </a:r>
          </a:p>
        </p:txBody>
      </p:sp>
      <p:sp>
        <p:nvSpPr>
          <p:cNvPr id="88" name="Left-Right Arrow 87"/>
          <p:cNvSpPr/>
          <p:nvPr/>
        </p:nvSpPr>
        <p:spPr>
          <a:xfrm>
            <a:off x="5940281" y="6433877"/>
            <a:ext cx="6057908" cy="39442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IMS Signaling Over IP</a:t>
            </a:r>
          </a:p>
        </p:txBody>
      </p:sp>
      <p:sp>
        <p:nvSpPr>
          <p:cNvPr id="90" name="TextBox 89"/>
          <p:cNvSpPr txBox="1"/>
          <p:nvPr/>
        </p:nvSpPr>
        <p:spPr>
          <a:xfrm>
            <a:off x="291548" y="26886"/>
            <a:ext cx="11900451" cy="369332"/>
          </a:xfrm>
          <a:prstGeom prst="rect">
            <a:avLst/>
          </a:prstGeom>
          <a:solidFill>
            <a:srgbClr val="FFC000"/>
          </a:solidFill>
        </p:spPr>
        <p:txBody>
          <a:bodyPr wrap="square" rtlCol="0">
            <a:spAutoFit/>
          </a:bodyPr>
          <a:lstStyle/>
          <a:p>
            <a:pPr algn="ctr"/>
            <a:r>
              <a:rPr lang="en-US"/>
              <a:t>IMS Registration – Default Bearer Creation</a:t>
            </a:r>
          </a:p>
        </p:txBody>
      </p:sp>
    </p:spTree>
    <p:extLst>
      <p:ext uri="{BB962C8B-B14F-4D97-AF65-F5344CB8AC3E}">
        <p14:creationId xmlns:p14="http://schemas.microsoft.com/office/powerpoint/2010/main" val="2469835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arn(inVertical)">
                                      <p:cBhvr>
                                        <p:cTn id="7" dur="500"/>
                                        <p:tgtEl>
                                          <p:spTgt spid="2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barn(inVertical)">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barn(inVertical)">
                                      <p:cBhvr>
                                        <p:cTn id="15" dur="500"/>
                                        <p:tgtEl>
                                          <p:spTgt spid="31"/>
                                        </p:tgtEl>
                                      </p:cBhvr>
                                    </p:animEffect>
                                  </p:childTnLst>
                                </p:cTn>
                              </p:par>
                              <p:par>
                                <p:cTn id="16" presetID="16" presetClass="entr" presetSubtype="21" fill="hold"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barn(inVertical)">
                                      <p:cBhvr>
                                        <p:cTn id="18" dur="5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barn(inVertical)">
                                      <p:cBhvr>
                                        <p:cTn id="23" dur="500"/>
                                        <p:tgtEl>
                                          <p:spTgt spid="32"/>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barn(inVertical)">
                                      <p:cBhvr>
                                        <p:cTn id="26" dur="500"/>
                                        <p:tgtEl>
                                          <p:spTgt spid="33"/>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barn(inVertical)">
                                      <p:cBhvr>
                                        <p:cTn id="29" dur="50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barn(inVertical)">
                                      <p:cBhvr>
                                        <p:cTn id="34" dur="500"/>
                                        <p:tgtEl>
                                          <p:spTgt spid="35"/>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barn(inVertical)">
                                      <p:cBhvr>
                                        <p:cTn id="37" dur="500"/>
                                        <p:tgtEl>
                                          <p:spTgt spid="36"/>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barn(inVertical)">
                                      <p:cBhvr>
                                        <p:cTn id="40" dur="500"/>
                                        <p:tgtEl>
                                          <p:spTgt spid="37"/>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nodeType="click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barn(inVertical)">
                                      <p:cBhvr>
                                        <p:cTn id="45" dur="500"/>
                                        <p:tgtEl>
                                          <p:spTgt spid="39"/>
                                        </p:tgtEl>
                                      </p:cBhvr>
                                    </p:animEffect>
                                  </p:childTnLst>
                                </p:cTn>
                              </p:par>
                              <p:par>
                                <p:cTn id="46" presetID="16" presetClass="entr" presetSubtype="21" fill="hold" nodeType="with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barn(inVertical)">
                                      <p:cBhvr>
                                        <p:cTn id="48" dur="500"/>
                                        <p:tgtEl>
                                          <p:spTgt spid="40"/>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42"/>
                                        </p:tgtEl>
                                        <p:attrNameLst>
                                          <p:attrName>style.visibility</p:attrName>
                                        </p:attrNameLst>
                                      </p:cBhvr>
                                      <p:to>
                                        <p:strVal val="visible"/>
                                      </p:to>
                                    </p:set>
                                    <p:animEffect transition="in" filter="barn(inVertical)">
                                      <p:cBhvr>
                                        <p:cTn id="51" dur="500"/>
                                        <p:tgtEl>
                                          <p:spTgt spid="42"/>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nodeType="click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barn(inVertical)">
                                      <p:cBhvr>
                                        <p:cTn id="56" dur="500"/>
                                        <p:tgtEl>
                                          <p:spTgt spid="46"/>
                                        </p:tgtEl>
                                      </p:cBhvr>
                                    </p:animEffect>
                                  </p:childTnLst>
                                </p:cTn>
                              </p:par>
                              <p:par>
                                <p:cTn id="57" presetID="16" presetClass="entr" presetSubtype="21"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animEffect transition="in" filter="barn(inVertical)">
                                      <p:cBhvr>
                                        <p:cTn id="59" dur="500"/>
                                        <p:tgtEl>
                                          <p:spTgt spid="48"/>
                                        </p:tgtEl>
                                      </p:cBhvr>
                                    </p:animEffect>
                                  </p:childTnLst>
                                </p:cTn>
                              </p:par>
                            </p:childTnLst>
                          </p:cTn>
                        </p:par>
                      </p:childTnLst>
                    </p:cTn>
                  </p:par>
                  <p:par>
                    <p:cTn id="60" fill="hold">
                      <p:stCondLst>
                        <p:cond delay="indefinite"/>
                      </p:stCondLst>
                      <p:childTnLst>
                        <p:par>
                          <p:cTn id="61" fill="hold">
                            <p:stCondLst>
                              <p:cond delay="0"/>
                            </p:stCondLst>
                            <p:childTnLst>
                              <p:par>
                                <p:cTn id="62" presetID="16" presetClass="entr" presetSubtype="21" fill="hold" grpId="0" nodeType="clickEffect">
                                  <p:stCondLst>
                                    <p:cond delay="0"/>
                                  </p:stCondLst>
                                  <p:childTnLst>
                                    <p:set>
                                      <p:cBhvr>
                                        <p:cTn id="63" dur="1" fill="hold">
                                          <p:stCondLst>
                                            <p:cond delay="0"/>
                                          </p:stCondLst>
                                        </p:cTn>
                                        <p:tgtEl>
                                          <p:spTgt spid="51"/>
                                        </p:tgtEl>
                                        <p:attrNameLst>
                                          <p:attrName>style.visibility</p:attrName>
                                        </p:attrNameLst>
                                      </p:cBhvr>
                                      <p:to>
                                        <p:strVal val="visible"/>
                                      </p:to>
                                    </p:set>
                                    <p:animEffect transition="in" filter="barn(inVertical)">
                                      <p:cBhvr>
                                        <p:cTn id="64" dur="500"/>
                                        <p:tgtEl>
                                          <p:spTgt spid="51"/>
                                        </p:tgtEl>
                                      </p:cBhvr>
                                    </p:animEffect>
                                  </p:childTnLst>
                                </p:cTn>
                              </p:par>
                              <p:par>
                                <p:cTn id="65" presetID="16" presetClass="entr" presetSubtype="21" fill="hold" nodeType="withEffect">
                                  <p:stCondLst>
                                    <p:cond delay="0"/>
                                  </p:stCondLst>
                                  <p:childTnLst>
                                    <p:set>
                                      <p:cBhvr>
                                        <p:cTn id="66" dur="1" fill="hold">
                                          <p:stCondLst>
                                            <p:cond delay="0"/>
                                          </p:stCondLst>
                                        </p:cTn>
                                        <p:tgtEl>
                                          <p:spTgt spid="50"/>
                                        </p:tgtEl>
                                        <p:attrNameLst>
                                          <p:attrName>style.visibility</p:attrName>
                                        </p:attrNameLst>
                                      </p:cBhvr>
                                      <p:to>
                                        <p:strVal val="visible"/>
                                      </p:to>
                                    </p:set>
                                    <p:animEffect transition="in" filter="barn(inVertical)">
                                      <p:cBhvr>
                                        <p:cTn id="67" dur="500"/>
                                        <p:tgtEl>
                                          <p:spTgt spid="50"/>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nodeType="clickEffect">
                                  <p:stCondLst>
                                    <p:cond delay="0"/>
                                  </p:stCondLst>
                                  <p:childTnLst>
                                    <p:set>
                                      <p:cBhvr>
                                        <p:cTn id="71" dur="1" fill="hold">
                                          <p:stCondLst>
                                            <p:cond delay="0"/>
                                          </p:stCondLst>
                                        </p:cTn>
                                        <p:tgtEl>
                                          <p:spTgt spid="53"/>
                                        </p:tgtEl>
                                        <p:attrNameLst>
                                          <p:attrName>style.visibility</p:attrName>
                                        </p:attrNameLst>
                                      </p:cBhvr>
                                      <p:to>
                                        <p:strVal val="visible"/>
                                      </p:to>
                                    </p:set>
                                    <p:animEffect transition="in" filter="barn(inVertical)">
                                      <p:cBhvr>
                                        <p:cTn id="72" dur="500"/>
                                        <p:tgtEl>
                                          <p:spTgt spid="53"/>
                                        </p:tgtEl>
                                      </p:cBhvr>
                                    </p:animEffect>
                                  </p:childTnLst>
                                </p:cTn>
                              </p:par>
                              <p:par>
                                <p:cTn id="73" presetID="16" presetClass="entr" presetSubtype="21" fill="hold" grpId="0" nodeType="withEffect">
                                  <p:stCondLst>
                                    <p:cond delay="0"/>
                                  </p:stCondLst>
                                  <p:childTnLst>
                                    <p:set>
                                      <p:cBhvr>
                                        <p:cTn id="74" dur="1" fill="hold">
                                          <p:stCondLst>
                                            <p:cond delay="0"/>
                                          </p:stCondLst>
                                        </p:cTn>
                                        <p:tgtEl>
                                          <p:spTgt spid="54"/>
                                        </p:tgtEl>
                                        <p:attrNameLst>
                                          <p:attrName>style.visibility</p:attrName>
                                        </p:attrNameLst>
                                      </p:cBhvr>
                                      <p:to>
                                        <p:strVal val="visible"/>
                                      </p:to>
                                    </p:set>
                                    <p:animEffect transition="in" filter="barn(inVertical)">
                                      <p:cBhvr>
                                        <p:cTn id="75" dur="500"/>
                                        <p:tgtEl>
                                          <p:spTgt spid="54"/>
                                        </p:tgtEl>
                                      </p:cBhvr>
                                    </p:animEffect>
                                  </p:childTnLst>
                                </p:cTn>
                              </p:par>
                              <p:par>
                                <p:cTn id="76" presetID="16" presetClass="entr" presetSubtype="21" fill="hold" grpId="0" nodeType="withEffect">
                                  <p:stCondLst>
                                    <p:cond delay="0"/>
                                  </p:stCondLst>
                                  <p:childTnLst>
                                    <p:set>
                                      <p:cBhvr>
                                        <p:cTn id="77" dur="1" fill="hold">
                                          <p:stCondLst>
                                            <p:cond delay="0"/>
                                          </p:stCondLst>
                                        </p:cTn>
                                        <p:tgtEl>
                                          <p:spTgt spid="55"/>
                                        </p:tgtEl>
                                        <p:attrNameLst>
                                          <p:attrName>style.visibility</p:attrName>
                                        </p:attrNameLst>
                                      </p:cBhvr>
                                      <p:to>
                                        <p:strVal val="visible"/>
                                      </p:to>
                                    </p:set>
                                    <p:animEffect transition="in" filter="barn(inVertical)">
                                      <p:cBhvr>
                                        <p:cTn id="78" dur="500"/>
                                        <p:tgtEl>
                                          <p:spTgt spid="55"/>
                                        </p:tgtEl>
                                      </p:cBhvr>
                                    </p:animEffect>
                                  </p:childTnLst>
                                </p:cTn>
                              </p:par>
                            </p:childTnLst>
                          </p:cTn>
                        </p:par>
                      </p:childTnLst>
                    </p:cTn>
                  </p:par>
                  <p:par>
                    <p:cTn id="79" fill="hold">
                      <p:stCondLst>
                        <p:cond delay="indefinite"/>
                      </p:stCondLst>
                      <p:childTnLst>
                        <p:par>
                          <p:cTn id="80" fill="hold">
                            <p:stCondLst>
                              <p:cond delay="0"/>
                            </p:stCondLst>
                            <p:childTnLst>
                              <p:par>
                                <p:cTn id="81" presetID="16" presetClass="entr" presetSubtype="21" fill="hold" nodeType="clickEffect">
                                  <p:stCondLst>
                                    <p:cond delay="0"/>
                                  </p:stCondLst>
                                  <p:childTnLst>
                                    <p:set>
                                      <p:cBhvr>
                                        <p:cTn id="82" dur="1" fill="hold">
                                          <p:stCondLst>
                                            <p:cond delay="0"/>
                                          </p:stCondLst>
                                        </p:cTn>
                                        <p:tgtEl>
                                          <p:spTgt spid="56"/>
                                        </p:tgtEl>
                                        <p:attrNameLst>
                                          <p:attrName>style.visibility</p:attrName>
                                        </p:attrNameLst>
                                      </p:cBhvr>
                                      <p:to>
                                        <p:strVal val="visible"/>
                                      </p:to>
                                    </p:set>
                                    <p:animEffect transition="in" filter="barn(inVertical)">
                                      <p:cBhvr>
                                        <p:cTn id="83" dur="500"/>
                                        <p:tgtEl>
                                          <p:spTgt spid="56"/>
                                        </p:tgtEl>
                                      </p:cBhvr>
                                    </p:animEffect>
                                  </p:childTnLst>
                                </p:cTn>
                              </p:par>
                              <p:par>
                                <p:cTn id="84" presetID="16" presetClass="entr" presetSubtype="21" fill="hold" grpId="0" nodeType="withEffect">
                                  <p:stCondLst>
                                    <p:cond delay="0"/>
                                  </p:stCondLst>
                                  <p:childTnLst>
                                    <p:set>
                                      <p:cBhvr>
                                        <p:cTn id="85" dur="1" fill="hold">
                                          <p:stCondLst>
                                            <p:cond delay="0"/>
                                          </p:stCondLst>
                                        </p:cTn>
                                        <p:tgtEl>
                                          <p:spTgt spid="57"/>
                                        </p:tgtEl>
                                        <p:attrNameLst>
                                          <p:attrName>style.visibility</p:attrName>
                                        </p:attrNameLst>
                                      </p:cBhvr>
                                      <p:to>
                                        <p:strVal val="visible"/>
                                      </p:to>
                                    </p:set>
                                    <p:animEffect transition="in" filter="barn(inVertical)">
                                      <p:cBhvr>
                                        <p:cTn id="86" dur="500"/>
                                        <p:tgtEl>
                                          <p:spTgt spid="57"/>
                                        </p:tgtEl>
                                      </p:cBhvr>
                                    </p:animEffect>
                                  </p:childTnLst>
                                </p:cTn>
                              </p:par>
                              <p:par>
                                <p:cTn id="87" presetID="16" presetClass="entr" presetSubtype="21" fill="hold" grpId="0" nodeType="withEffect">
                                  <p:stCondLst>
                                    <p:cond delay="0"/>
                                  </p:stCondLst>
                                  <p:childTnLst>
                                    <p:set>
                                      <p:cBhvr>
                                        <p:cTn id="88" dur="1" fill="hold">
                                          <p:stCondLst>
                                            <p:cond delay="0"/>
                                          </p:stCondLst>
                                        </p:cTn>
                                        <p:tgtEl>
                                          <p:spTgt spid="58"/>
                                        </p:tgtEl>
                                        <p:attrNameLst>
                                          <p:attrName>style.visibility</p:attrName>
                                        </p:attrNameLst>
                                      </p:cBhvr>
                                      <p:to>
                                        <p:strVal val="visible"/>
                                      </p:to>
                                    </p:set>
                                    <p:animEffect transition="in" filter="barn(inVertical)">
                                      <p:cBhvr>
                                        <p:cTn id="89" dur="500"/>
                                        <p:tgtEl>
                                          <p:spTgt spid="58"/>
                                        </p:tgtEl>
                                      </p:cBhvr>
                                    </p:animEffect>
                                  </p:childTnLst>
                                </p:cTn>
                              </p:par>
                            </p:childTnLst>
                          </p:cTn>
                        </p:par>
                      </p:childTnLst>
                    </p:cTn>
                  </p:par>
                  <p:par>
                    <p:cTn id="90" fill="hold">
                      <p:stCondLst>
                        <p:cond delay="indefinite"/>
                      </p:stCondLst>
                      <p:childTnLst>
                        <p:par>
                          <p:cTn id="91" fill="hold">
                            <p:stCondLst>
                              <p:cond delay="0"/>
                            </p:stCondLst>
                            <p:childTnLst>
                              <p:par>
                                <p:cTn id="92" presetID="16" presetClass="entr" presetSubtype="21" fill="hold" nodeType="clickEffect">
                                  <p:stCondLst>
                                    <p:cond delay="0"/>
                                  </p:stCondLst>
                                  <p:childTnLst>
                                    <p:set>
                                      <p:cBhvr>
                                        <p:cTn id="93" dur="1" fill="hold">
                                          <p:stCondLst>
                                            <p:cond delay="0"/>
                                          </p:stCondLst>
                                        </p:cTn>
                                        <p:tgtEl>
                                          <p:spTgt spid="59"/>
                                        </p:tgtEl>
                                        <p:attrNameLst>
                                          <p:attrName>style.visibility</p:attrName>
                                        </p:attrNameLst>
                                      </p:cBhvr>
                                      <p:to>
                                        <p:strVal val="visible"/>
                                      </p:to>
                                    </p:set>
                                    <p:animEffect transition="in" filter="barn(inVertical)">
                                      <p:cBhvr>
                                        <p:cTn id="94" dur="500"/>
                                        <p:tgtEl>
                                          <p:spTgt spid="59"/>
                                        </p:tgtEl>
                                      </p:cBhvr>
                                    </p:animEffect>
                                  </p:childTnLst>
                                </p:cTn>
                              </p:par>
                              <p:par>
                                <p:cTn id="95" presetID="16" presetClass="entr" presetSubtype="21" fill="hold" grpId="0" nodeType="withEffect">
                                  <p:stCondLst>
                                    <p:cond delay="0"/>
                                  </p:stCondLst>
                                  <p:childTnLst>
                                    <p:set>
                                      <p:cBhvr>
                                        <p:cTn id="96" dur="1" fill="hold">
                                          <p:stCondLst>
                                            <p:cond delay="0"/>
                                          </p:stCondLst>
                                        </p:cTn>
                                        <p:tgtEl>
                                          <p:spTgt spid="60"/>
                                        </p:tgtEl>
                                        <p:attrNameLst>
                                          <p:attrName>style.visibility</p:attrName>
                                        </p:attrNameLst>
                                      </p:cBhvr>
                                      <p:to>
                                        <p:strVal val="visible"/>
                                      </p:to>
                                    </p:set>
                                    <p:animEffect transition="in" filter="barn(inVertical)">
                                      <p:cBhvr>
                                        <p:cTn id="97" dur="500"/>
                                        <p:tgtEl>
                                          <p:spTgt spid="60"/>
                                        </p:tgtEl>
                                      </p:cBhvr>
                                    </p:animEffect>
                                  </p:childTnLst>
                                </p:cTn>
                              </p:par>
                            </p:childTnLst>
                          </p:cTn>
                        </p:par>
                      </p:childTnLst>
                    </p:cTn>
                  </p:par>
                  <p:par>
                    <p:cTn id="98" fill="hold">
                      <p:stCondLst>
                        <p:cond delay="indefinite"/>
                      </p:stCondLst>
                      <p:childTnLst>
                        <p:par>
                          <p:cTn id="99" fill="hold">
                            <p:stCondLst>
                              <p:cond delay="0"/>
                            </p:stCondLst>
                            <p:childTnLst>
                              <p:par>
                                <p:cTn id="100" presetID="16" presetClass="entr" presetSubtype="21" fill="hold" grpId="0" nodeType="clickEffect">
                                  <p:stCondLst>
                                    <p:cond delay="0"/>
                                  </p:stCondLst>
                                  <p:childTnLst>
                                    <p:set>
                                      <p:cBhvr>
                                        <p:cTn id="101" dur="1" fill="hold">
                                          <p:stCondLst>
                                            <p:cond delay="0"/>
                                          </p:stCondLst>
                                        </p:cTn>
                                        <p:tgtEl>
                                          <p:spTgt spid="62"/>
                                        </p:tgtEl>
                                        <p:attrNameLst>
                                          <p:attrName>style.visibility</p:attrName>
                                        </p:attrNameLst>
                                      </p:cBhvr>
                                      <p:to>
                                        <p:strVal val="visible"/>
                                      </p:to>
                                    </p:set>
                                    <p:animEffect transition="in" filter="barn(inVertical)">
                                      <p:cBhvr>
                                        <p:cTn id="102" dur="500"/>
                                        <p:tgtEl>
                                          <p:spTgt spid="62"/>
                                        </p:tgtEl>
                                      </p:cBhvr>
                                    </p:animEffect>
                                  </p:childTnLst>
                                </p:cTn>
                              </p:par>
                              <p:par>
                                <p:cTn id="103" presetID="16" presetClass="entr" presetSubtype="21" fill="hold" nodeType="withEffect">
                                  <p:stCondLst>
                                    <p:cond delay="0"/>
                                  </p:stCondLst>
                                  <p:childTnLst>
                                    <p:set>
                                      <p:cBhvr>
                                        <p:cTn id="104" dur="1" fill="hold">
                                          <p:stCondLst>
                                            <p:cond delay="0"/>
                                          </p:stCondLst>
                                        </p:cTn>
                                        <p:tgtEl>
                                          <p:spTgt spid="61"/>
                                        </p:tgtEl>
                                        <p:attrNameLst>
                                          <p:attrName>style.visibility</p:attrName>
                                        </p:attrNameLst>
                                      </p:cBhvr>
                                      <p:to>
                                        <p:strVal val="visible"/>
                                      </p:to>
                                    </p:set>
                                    <p:animEffect transition="in" filter="barn(inVertical)">
                                      <p:cBhvr>
                                        <p:cTn id="105" dur="500"/>
                                        <p:tgtEl>
                                          <p:spTgt spid="61"/>
                                        </p:tgtEl>
                                      </p:cBhvr>
                                    </p:animEffect>
                                  </p:childTnLst>
                                </p:cTn>
                              </p:par>
                              <p:par>
                                <p:cTn id="106" presetID="16" presetClass="entr" presetSubtype="21" fill="hold" grpId="0" nodeType="withEffect">
                                  <p:stCondLst>
                                    <p:cond delay="0"/>
                                  </p:stCondLst>
                                  <p:childTnLst>
                                    <p:set>
                                      <p:cBhvr>
                                        <p:cTn id="107" dur="1" fill="hold">
                                          <p:stCondLst>
                                            <p:cond delay="0"/>
                                          </p:stCondLst>
                                        </p:cTn>
                                        <p:tgtEl>
                                          <p:spTgt spid="63"/>
                                        </p:tgtEl>
                                        <p:attrNameLst>
                                          <p:attrName>style.visibility</p:attrName>
                                        </p:attrNameLst>
                                      </p:cBhvr>
                                      <p:to>
                                        <p:strVal val="visible"/>
                                      </p:to>
                                    </p:set>
                                    <p:animEffect transition="in" filter="barn(inVertical)">
                                      <p:cBhvr>
                                        <p:cTn id="108" dur="500"/>
                                        <p:tgtEl>
                                          <p:spTgt spid="63"/>
                                        </p:tgtEl>
                                      </p:cBhvr>
                                    </p:animEffect>
                                  </p:childTnLst>
                                </p:cTn>
                              </p:par>
                            </p:childTnLst>
                          </p:cTn>
                        </p:par>
                      </p:childTnLst>
                    </p:cTn>
                  </p:par>
                  <p:par>
                    <p:cTn id="109" fill="hold">
                      <p:stCondLst>
                        <p:cond delay="indefinite"/>
                      </p:stCondLst>
                      <p:childTnLst>
                        <p:par>
                          <p:cTn id="110" fill="hold">
                            <p:stCondLst>
                              <p:cond delay="0"/>
                            </p:stCondLst>
                            <p:childTnLst>
                              <p:par>
                                <p:cTn id="111" presetID="16" presetClass="entr" presetSubtype="21" fill="hold" grpId="0" nodeType="clickEffect">
                                  <p:stCondLst>
                                    <p:cond delay="0"/>
                                  </p:stCondLst>
                                  <p:childTnLst>
                                    <p:set>
                                      <p:cBhvr>
                                        <p:cTn id="112" dur="1" fill="hold">
                                          <p:stCondLst>
                                            <p:cond delay="0"/>
                                          </p:stCondLst>
                                        </p:cTn>
                                        <p:tgtEl>
                                          <p:spTgt spid="65"/>
                                        </p:tgtEl>
                                        <p:attrNameLst>
                                          <p:attrName>style.visibility</p:attrName>
                                        </p:attrNameLst>
                                      </p:cBhvr>
                                      <p:to>
                                        <p:strVal val="visible"/>
                                      </p:to>
                                    </p:set>
                                    <p:animEffect transition="in" filter="barn(inVertical)">
                                      <p:cBhvr>
                                        <p:cTn id="113" dur="500"/>
                                        <p:tgtEl>
                                          <p:spTgt spid="65"/>
                                        </p:tgtEl>
                                      </p:cBhvr>
                                    </p:animEffect>
                                  </p:childTnLst>
                                </p:cTn>
                              </p:par>
                              <p:par>
                                <p:cTn id="114" presetID="16" presetClass="entr" presetSubtype="21" fill="hold" nodeType="withEffect">
                                  <p:stCondLst>
                                    <p:cond delay="0"/>
                                  </p:stCondLst>
                                  <p:childTnLst>
                                    <p:set>
                                      <p:cBhvr>
                                        <p:cTn id="115" dur="1" fill="hold">
                                          <p:stCondLst>
                                            <p:cond delay="0"/>
                                          </p:stCondLst>
                                        </p:cTn>
                                        <p:tgtEl>
                                          <p:spTgt spid="64"/>
                                        </p:tgtEl>
                                        <p:attrNameLst>
                                          <p:attrName>style.visibility</p:attrName>
                                        </p:attrNameLst>
                                      </p:cBhvr>
                                      <p:to>
                                        <p:strVal val="visible"/>
                                      </p:to>
                                    </p:set>
                                    <p:animEffect transition="in" filter="barn(inVertical)">
                                      <p:cBhvr>
                                        <p:cTn id="116" dur="500"/>
                                        <p:tgtEl>
                                          <p:spTgt spid="64"/>
                                        </p:tgtEl>
                                      </p:cBhvr>
                                    </p:animEffect>
                                  </p:childTnLst>
                                </p:cTn>
                              </p:par>
                            </p:childTnLst>
                          </p:cTn>
                        </p:par>
                      </p:childTnLst>
                    </p:cTn>
                  </p:par>
                  <p:par>
                    <p:cTn id="117" fill="hold">
                      <p:stCondLst>
                        <p:cond delay="indefinite"/>
                      </p:stCondLst>
                      <p:childTnLst>
                        <p:par>
                          <p:cTn id="118" fill="hold">
                            <p:stCondLst>
                              <p:cond delay="0"/>
                            </p:stCondLst>
                            <p:childTnLst>
                              <p:par>
                                <p:cTn id="119" presetID="16" presetClass="entr" presetSubtype="21" fill="hold" grpId="0" nodeType="clickEffect">
                                  <p:stCondLst>
                                    <p:cond delay="0"/>
                                  </p:stCondLst>
                                  <p:childTnLst>
                                    <p:set>
                                      <p:cBhvr>
                                        <p:cTn id="120" dur="1" fill="hold">
                                          <p:stCondLst>
                                            <p:cond delay="0"/>
                                          </p:stCondLst>
                                        </p:cTn>
                                        <p:tgtEl>
                                          <p:spTgt spid="67"/>
                                        </p:tgtEl>
                                        <p:attrNameLst>
                                          <p:attrName>style.visibility</p:attrName>
                                        </p:attrNameLst>
                                      </p:cBhvr>
                                      <p:to>
                                        <p:strVal val="visible"/>
                                      </p:to>
                                    </p:set>
                                    <p:animEffect transition="in" filter="barn(inVertical)">
                                      <p:cBhvr>
                                        <p:cTn id="121" dur="500"/>
                                        <p:tgtEl>
                                          <p:spTgt spid="67"/>
                                        </p:tgtEl>
                                      </p:cBhvr>
                                    </p:animEffect>
                                  </p:childTnLst>
                                </p:cTn>
                              </p:par>
                              <p:par>
                                <p:cTn id="122" presetID="16" presetClass="entr" presetSubtype="21" fill="hold" nodeType="withEffect">
                                  <p:stCondLst>
                                    <p:cond delay="0"/>
                                  </p:stCondLst>
                                  <p:childTnLst>
                                    <p:set>
                                      <p:cBhvr>
                                        <p:cTn id="123" dur="1" fill="hold">
                                          <p:stCondLst>
                                            <p:cond delay="0"/>
                                          </p:stCondLst>
                                        </p:cTn>
                                        <p:tgtEl>
                                          <p:spTgt spid="66"/>
                                        </p:tgtEl>
                                        <p:attrNameLst>
                                          <p:attrName>style.visibility</p:attrName>
                                        </p:attrNameLst>
                                      </p:cBhvr>
                                      <p:to>
                                        <p:strVal val="visible"/>
                                      </p:to>
                                    </p:set>
                                    <p:animEffect transition="in" filter="barn(inVertical)">
                                      <p:cBhvr>
                                        <p:cTn id="124" dur="500"/>
                                        <p:tgtEl>
                                          <p:spTgt spid="66"/>
                                        </p:tgtEl>
                                      </p:cBhvr>
                                    </p:animEffect>
                                  </p:childTnLst>
                                </p:cTn>
                              </p:par>
                            </p:childTnLst>
                          </p:cTn>
                        </p:par>
                      </p:childTnLst>
                    </p:cTn>
                  </p:par>
                  <p:par>
                    <p:cTn id="125" fill="hold">
                      <p:stCondLst>
                        <p:cond delay="indefinite"/>
                      </p:stCondLst>
                      <p:childTnLst>
                        <p:par>
                          <p:cTn id="126" fill="hold">
                            <p:stCondLst>
                              <p:cond delay="0"/>
                            </p:stCondLst>
                            <p:childTnLst>
                              <p:par>
                                <p:cTn id="127" presetID="16" presetClass="entr" presetSubtype="21" fill="hold" grpId="0" nodeType="clickEffect">
                                  <p:stCondLst>
                                    <p:cond delay="0"/>
                                  </p:stCondLst>
                                  <p:childTnLst>
                                    <p:set>
                                      <p:cBhvr>
                                        <p:cTn id="128" dur="1" fill="hold">
                                          <p:stCondLst>
                                            <p:cond delay="0"/>
                                          </p:stCondLst>
                                        </p:cTn>
                                        <p:tgtEl>
                                          <p:spTgt spid="69"/>
                                        </p:tgtEl>
                                        <p:attrNameLst>
                                          <p:attrName>style.visibility</p:attrName>
                                        </p:attrNameLst>
                                      </p:cBhvr>
                                      <p:to>
                                        <p:strVal val="visible"/>
                                      </p:to>
                                    </p:set>
                                    <p:animEffect transition="in" filter="barn(inVertical)">
                                      <p:cBhvr>
                                        <p:cTn id="129" dur="500"/>
                                        <p:tgtEl>
                                          <p:spTgt spid="69"/>
                                        </p:tgtEl>
                                      </p:cBhvr>
                                    </p:animEffect>
                                  </p:childTnLst>
                                </p:cTn>
                              </p:par>
                              <p:par>
                                <p:cTn id="130" presetID="16" presetClass="entr" presetSubtype="21" fill="hold" nodeType="withEffect">
                                  <p:stCondLst>
                                    <p:cond delay="0"/>
                                  </p:stCondLst>
                                  <p:childTnLst>
                                    <p:set>
                                      <p:cBhvr>
                                        <p:cTn id="131" dur="1" fill="hold">
                                          <p:stCondLst>
                                            <p:cond delay="0"/>
                                          </p:stCondLst>
                                        </p:cTn>
                                        <p:tgtEl>
                                          <p:spTgt spid="68"/>
                                        </p:tgtEl>
                                        <p:attrNameLst>
                                          <p:attrName>style.visibility</p:attrName>
                                        </p:attrNameLst>
                                      </p:cBhvr>
                                      <p:to>
                                        <p:strVal val="visible"/>
                                      </p:to>
                                    </p:set>
                                    <p:animEffect transition="in" filter="barn(inVertical)">
                                      <p:cBhvr>
                                        <p:cTn id="132" dur="500"/>
                                        <p:tgtEl>
                                          <p:spTgt spid="68"/>
                                        </p:tgtEl>
                                      </p:cBhvr>
                                    </p:animEffect>
                                  </p:childTnLst>
                                </p:cTn>
                              </p:par>
                              <p:par>
                                <p:cTn id="133" presetID="16" presetClass="entr" presetSubtype="21" fill="hold" grpId="0" nodeType="withEffect">
                                  <p:stCondLst>
                                    <p:cond delay="0"/>
                                  </p:stCondLst>
                                  <p:childTnLst>
                                    <p:set>
                                      <p:cBhvr>
                                        <p:cTn id="134" dur="1" fill="hold">
                                          <p:stCondLst>
                                            <p:cond delay="0"/>
                                          </p:stCondLst>
                                        </p:cTn>
                                        <p:tgtEl>
                                          <p:spTgt spid="70"/>
                                        </p:tgtEl>
                                        <p:attrNameLst>
                                          <p:attrName>style.visibility</p:attrName>
                                        </p:attrNameLst>
                                      </p:cBhvr>
                                      <p:to>
                                        <p:strVal val="visible"/>
                                      </p:to>
                                    </p:set>
                                    <p:animEffect transition="in" filter="barn(inVertical)">
                                      <p:cBhvr>
                                        <p:cTn id="135" dur="500"/>
                                        <p:tgtEl>
                                          <p:spTgt spid="70"/>
                                        </p:tgtEl>
                                      </p:cBhvr>
                                    </p:animEffect>
                                  </p:childTnLst>
                                </p:cTn>
                              </p:par>
                            </p:childTnLst>
                          </p:cTn>
                        </p:par>
                      </p:childTnLst>
                    </p:cTn>
                  </p:par>
                  <p:par>
                    <p:cTn id="136" fill="hold">
                      <p:stCondLst>
                        <p:cond delay="indefinite"/>
                      </p:stCondLst>
                      <p:childTnLst>
                        <p:par>
                          <p:cTn id="137" fill="hold">
                            <p:stCondLst>
                              <p:cond delay="0"/>
                            </p:stCondLst>
                            <p:childTnLst>
                              <p:par>
                                <p:cTn id="138" presetID="16" presetClass="entr" presetSubtype="21" fill="hold" grpId="0" nodeType="clickEffect">
                                  <p:stCondLst>
                                    <p:cond delay="0"/>
                                  </p:stCondLst>
                                  <p:childTnLst>
                                    <p:set>
                                      <p:cBhvr>
                                        <p:cTn id="139" dur="1" fill="hold">
                                          <p:stCondLst>
                                            <p:cond delay="0"/>
                                          </p:stCondLst>
                                        </p:cTn>
                                        <p:tgtEl>
                                          <p:spTgt spid="72"/>
                                        </p:tgtEl>
                                        <p:attrNameLst>
                                          <p:attrName>style.visibility</p:attrName>
                                        </p:attrNameLst>
                                      </p:cBhvr>
                                      <p:to>
                                        <p:strVal val="visible"/>
                                      </p:to>
                                    </p:set>
                                    <p:animEffect transition="in" filter="barn(inVertical)">
                                      <p:cBhvr>
                                        <p:cTn id="140" dur="500"/>
                                        <p:tgtEl>
                                          <p:spTgt spid="72"/>
                                        </p:tgtEl>
                                      </p:cBhvr>
                                    </p:animEffect>
                                  </p:childTnLst>
                                </p:cTn>
                              </p:par>
                              <p:par>
                                <p:cTn id="141" presetID="16" presetClass="entr" presetSubtype="21" fill="hold" nodeType="withEffect">
                                  <p:stCondLst>
                                    <p:cond delay="0"/>
                                  </p:stCondLst>
                                  <p:childTnLst>
                                    <p:set>
                                      <p:cBhvr>
                                        <p:cTn id="142" dur="1" fill="hold">
                                          <p:stCondLst>
                                            <p:cond delay="0"/>
                                          </p:stCondLst>
                                        </p:cTn>
                                        <p:tgtEl>
                                          <p:spTgt spid="71"/>
                                        </p:tgtEl>
                                        <p:attrNameLst>
                                          <p:attrName>style.visibility</p:attrName>
                                        </p:attrNameLst>
                                      </p:cBhvr>
                                      <p:to>
                                        <p:strVal val="visible"/>
                                      </p:to>
                                    </p:set>
                                    <p:animEffect transition="in" filter="barn(inVertical)">
                                      <p:cBhvr>
                                        <p:cTn id="143" dur="500"/>
                                        <p:tgtEl>
                                          <p:spTgt spid="71"/>
                                        </p:tgtEl>
                                      </p:cBhvr>
                                    </p:animEffect>
                                  </p:childTnLst>
                                </p:cTn>
                              </p:par>
                              <p:par>
                                <p:cTn id="144" presetID="16" presetClass="entr" presetSubtype="21" fill="hold" grpId="0" nodeType="withEffect">
                                  <p:stCondLst>
                                    <p:cond delay="0"/>
                                  </p:stCondLst>
                                  <p:childTnLst>
                                    <p:set>
                                      <p:cBhvr>
                                        <p:cTn id="145" dur="1" fill="hold">
                                          <p:stCondLst>
                                            <p:cond delay="0"/>
                                          </p:stCondLst>
                                        </p:cTn>
                                        <p:tgtEl>
                                          <p:spTgt spid="74"/>
                                        </p:tgtEl>
                                        <p:attrNameLst>
                                          <p:attrName>style.visibility</p:attrName>
                                        </p:attrNameLst>
                                      </p:cBhvr>
                                      <p:to>
                                        <p:strVal val="visible"/>
                                      </p:to>
                                    </p:set>
                                    <p:animEffect transition="in" filter="barn(inVertical)">
                                      <p:cBhvr>
                                        <p:cTn id="146" dur="500"/>
                                        <p:tgtEl>
                                          <p:spTgt spid="74"/>
                                        </p:tgtEl>
                                      </p:cBhvr>
                                    </p:animEffect>
                                  </p:childTnLst>
                                </p:cTn>
                              </p:par>
                            </p:childTnLst>
                          </p:cTn>
                        </p:par>
                      </p:childTnLst>
                    </p:cTn>
                  </p:par>
                  <p:par>
                    <p:cTn id="147" fill="hold">
                      <p:stCondLst>
                        <p:cond delay="indefinite"/>
                      </p:stCondLst>
                      <p:childTnLst>
                        <p:par>
                          <p:cTn id="148" fill="hold">
                            <p:stCondLst>
                              <p:cond delay="0"/>
                            </p:stCondLst>
                            <p:childTnLst>
                              <p:par>
                                <p:cTn id="149" presetID="16" presetClass="entr" presetSubtype="21" fill="hold" nodeType="clickEffect">
                                  <p:stCondLst>
                                    <p:cond delay="0"/>
                                  </p:stCondLst>
                                  <p:childTnLst>
                                    <p:set>
                                      <p:cBhvr>
                                        <p:cTn id="150" dur="1" fill="hold">
                                          <p:stCondLst>
                                            <p:cond delay="0"/>
                                          </p:stCondLst>
                                        </p:cTn>
                                        <p:tgtEl>
                                          <p:spTgt spid="75"/>
                                        </p:tgtEl>
                                        <p:attrNameLst>
                                          <p:attrName>style.visibility</p:attrName>
                                        </p:attrNameLst>
                                      </p:cBhvr>
                                      <p:to>
                                        <p:strVal val="visible"/>
                                      </p:to>
                                    </p:set>
                                    <p:animEffect transition="in" filter="barn(inVertical)">
                                      <p:cBhvr>
                                        <p:cTn id="151" dur="500"/>
                                        <p:tgtEl>
                                          <p:spTgt spid="75"/>
                                        </p:tgtEl>
                                      </p:cBhvr>
                                    </p:animEffect>
                                  </p:childTnLst>
                                </p:cTn>
                              </p:par>
                              <p:par>
                                <p:cTn id="152" presetID="16" presetClass="entr" presetSubtype="21" fill="hold" grpId="0" nodeType="withEffect">
                                  <p:stCondLst>
                                    <p:cond delay="0"/>
                                  </p:stCondLst>
                                  <p:childTnLst>
                                    <p:set>
                                      <p:cBhvr>
                                        <p:cTn id="153" dur="1" fill="hold">
                                          <p:stCondLst>
                                            <p:cond delay="0"/>
                                          </p:stCondLst>
                                        </p:cTn>
                                        <p:tgtEl>
                                          <p:spTgt spid="76"/>
                                        </p:tgtEl>
                                        <p:attrNameLst>
                                          <p:attrName>style.visibility</p:attrName>
                                        </p:attrNameLst>
                                      </p:cBhvr>
                                      <p:to>
                                        <p:strVal val="visible"/>
                                      </p:to>
                                    </p:set>
                                    <p:animEffect transition="in" filter="barn(inVertical)">
                                      <p:cBhvr>
                                        <p:cTn id="154" dur="500"/>
                                        <p:tgtEl>
                                          <p:spTgt spid="76"/>
                                        </p:tgtEl>
                                      </p:cBhvr>
                                    </p:animEffect>
                                  </p:childTnLst>
                                </p:cTn>
                              </p:par>
                            </p:childTnLst>
                          </p:cTn>
                        </p:par>
                      </p:childTnLst>
                    </p:cTn>
                  </p:par>
                  <p:par>
                    <p:cTn id="155" fill="hold">
                      <p:stCondLst>
                        <p:cond delay="indefinite"/>
                      </p:stCondLst>
                      <p:childTnLst>
                        <p:par>
                          <p:cTn id="156" fill="hold">
                            <p:stCondLst>
                              <p:cond delay="0"/>
                            </p:stCondLst>
                            <p:childTnLst>
                              <p:par>
                                <p:cTn id="157" presetID="16" presetClass="entr" presetSubtype="21" fill="hold" nodeType="clickEffect">
                                  <p:stCondLst>
                                    <p:cond delay="0"/>
                                  </p:stCondLst>
                                  <p:childTnLst>
                                    <p:set>
                                      <p:cBhvr>
                                        <p:cTn id="158" dur="1" fill="hold">
                                          <p:stCondLst>
                                            <p:cond delay="0"/>
                                          </p:stCondLst>
                                        </p:cTn>
                                        <p:tgtEl>
                                          <p:spTgt spid="77"/>
                                        </p:tgtEl>
                                        <p:attrNameLst>
                                          <p:attrName>style.visibility</p:attrName>
                                        </p:attrNameLst>
                                      </p:cBhvr>
                                      <p:to>
                                        <p:strVal val="visible"/>
                                      </p:to>
                                    </p:set>
                                    <p:animEffect transition="in" filter="barn(inVertical)">
                                      <p:cBhvr>
                                        <p:cTn id="159" dur="500"/>
                                        <p:tgtEl>
                                          <p:spTgt spid="77"/>
                                        </p:tgtEl>
                                      </p:cBhvr>
                                    </p:animEffect>
                                  </p:childTnLst>
                                </p:cTn>
                              </p:par>
                              <p:par>
                                <p:cTn id="160" presetID="16" presetClass="entr" presetSubtype="21" fill="hold" grpId="0" nodeType="withEffect">
                                  <p:stCondLst>
                                    <p:cond delay="0"/>
                                  </p:stCondLst>
                                  <p:childTnLst>
                                    <p:set>
                                      <p:cBhvr>
                                        <p:cTn id="161" dur="1" fill="hold">
                                          <p:stCondLst>
                                            <p:cond delay="0"/>
                                          </p:stCondLst>
                                        </p:cTn>
                                        <p:tgtEl>
                                          <p:spTgt spid="78"/>
                                        </p:tgtEl>
                                        <p:attrNameLst>
                                          <p:attrName>style.visibility</p:attrName>
                                        </p:attrNameLst>
                                      </p:cBhvr>
                                      <p:to>
                                        <p:strVal val="visible"/>
                                      </p:to>
                                    </p:set>
                                    <p:animEffect transition="in" filter="barn(inVertical)">
                                      <p:cBhvr>
                                        <p:cTn id="162" dur="500"/>
                                        <p:tgtEl>
                                          <p:spTgt spid="78"/>
                                        </p:tgtEl>
                                      </p:cBhvr>
                                    </p:animEffect>
                                  </p:childTnLst>
                                </p:cTn>
                              </p:par>
                            </p:childTnLst>
                          </p:cTn>
                        </p:par>
                      </p:childTnLst>
                    </p:cTn>
                  </p:par>
                  <p:par>
                    <p:cTn id="163" fill="hold">
                      <p:stCondLst>
                        <p:cond delay="indefinite"/>
                      </p:stCondLst>
                      <p:childTnLst>
                        <p:par>
                          <p:cTn id="164" fill="hold">
                            <p:stCondLst>
                              <p:cond delay="0"/>
                            </p:stCondLst>
                            <p:childTnLst>
                              <p:par>
                                <p:cTn id="165" presetID="16" presetClass="entr" presetSubtype="21" fill="hold" nodeType="clickEffect">
                                  <p:stCondLst>
                                    <p:cond delay="0"/>
                                  </p:stCondLst>
                                  <p:childTnLst>
                                    <p:set>
                                      <p:cBhvr>
                                        <p:cTn id="166" dur="1" fill="hold">
                                          <p:stCondLst>
                                            <p:cond delay="0"/>
                                          </p:stCondLst>
                                        </p:cTn>
                                        <p:tgtEl>
                                          <p:spTgt spid="79"/>
                                        </p:tgtEl>
                                        <p:attrNameLst>
                                          <p:attrName>style.visibility</p:attrName>
                                        </p:attrNameLst>
                                      </p:cBhvr>
                                      <p:to>
                                        <p:strVal val="visible"/>
                                      </p:to>
                                    </p:set>
                                    <p:animEffect transition="in" filter="barn(inVertical)">
                                      <p:cBhvr>
                                        <p:cTn id="167" dur="500"/>
                                        <p:tgtEl>
                                          <p:spTgt spid="79"/>
                                        </p:tgtEl>
                                      </p:cBhvr>
                                    </p:animEffect>
                                  </p:childTnLst>
                                </p:cTn>
                              </p:par>
                              <p:par>
                                <p:cTn id="168" presetID="16" presetClass="entr" presetSubtype="21" fill="hold" grpId="0" nodeType="withEffect">
                                  <p:stCondLst>
                                    <p:cond delay="0"/>
                                  </p:stCondLst>
                                  <p:childTnLst>
                                    <p:set>
                                      <p:cBhvr>
                                        <p:cTn id="169" dur="1" fill="hold">
                                          <p:stCondLst>
                                            <p:cond delay="0"/>
                                          </p:stCondLst>
                                        </p:cTn>
                                        <p:tgtEl>
                                          <p:spTgt spid="80"/>
                                        </p:tgtEl>
                                        <p:attrNameLst>
                                          <p:attrName>style.visibility</p:attrName>
                                        </p:attrNameLst>
                                      </p:cBhvr>
                                      <p:to>
                                        <p:strVal val="visible"/>
                                      </p:to>
                                    </p:set>
                                    <p:animEffect transition="in" filter="barn(inVertical)">
                                      <p:cBhvr>
                                        <p:cTn id="170" dur="500"/>
                                        <p:tgtEl>
                                          <p:spTgt spid="80"/>
                                        </p:tgtEl>
                                      </p:cBhvr>
                                    </p:animEffect>
                                  </p:childTnLst>
                                </p:cTn>
                              </p:par>
                            </p:childTnLst>
                          </p:cTn>
                        </p:par>
                      </p:childTnLst>
                    </p:cTn>
                  </p:par>
                  <p:par>
                    <p:cTn id="171" fill="hold">
                      <p:stCondLst>
                        <p:cond delay="indefinite"/>
                      </p:stCondLst>
                      <p:childTnLst>
                        <p:par>
                          <p:cTn id="172" fill="hold">
                            <p:stCondLst>
                              <p:cond delay="0"/>
                            </p:stCondLst>
                            <p:childTnLst>
                              <p:par>
                                <p:cTn id="173" presetID="16" presetClass="entr" presetSubtype="21" fill="hold" nodeType="clickEffect">
                                  <p:stCondLst>
                                    <p:cond delay="0"/>
                                  </p:stCondLst>
                                  <p:childTnLst>
                                    <p:set>
                                      <p:cBhvr>
                                        <p:cTn id="174" dur="1" fill="hold">
                                          <p:stCondLst>
                                            <p:cond delay="0"/>
                                          </p:stCondLst>
                                        </p:cTn>
                                        <p:tgtEl>
                                          <p:spTgt spid="81"/>
                                        </p:tgtEl>
                                        <p:attrNameLst>
                                          <p:attrName>style.visibility</p:attrName>
                                        </p:attrNameLst>
                                      </p:cBhvr>
                                      <p:to>
                                        <p:strVal val="visible"/>
                                      </p:to>
                                    </p:set>
                                    <p:animEffect transition="in" filter="barn(inVertical)">
                                      <p:cBhvr>
                                        <p:cTn id="175" dur="500"/>
                                        <p:tgtEl>
                                          <p:spTgt spid="81"/>
                                        </p:tgtEl>
                                      </p:cBhvr>
                                    </p:animEffect>
                                  </p:childTnLst>
                                </p:cTn>
                              </p:par>
                              <p:par>
                                <p:cTn id="176" presetID="16" presetClass="entr" presetSubtype="21" fill="hold" grpId="0" nodeType="withEffect">
                                  <p:stCondLst>
                                    <p:cond delay="0"/>
                                  </p:stCondLst>
                                  <p:childTnLst>
                                    <p:set>
                                      <p:cBhvr>
                                        <p:cTn id="177" dur="1" fill="hold">
                                          <p:stCondLst>
                                            <p:cond delay="0"/>
                                          </p:stCondLst>
                                        </p:cTn>
                                        <p:tgtEl>
                                          <p:spTgt spid="82"/>
                                        </p:tgtEl>
                                        <p:attrNameLst>
                                          <p:attrName>style.visibility</p:attrName>
                                        </p:attrNameLst>
                                      </p:cBhvr>
                                      <p:to>
                                        <p:strVal val="visible"/>
                                      </p:to>
                                    </p:set>
                                    <p:animEffect transition="in" filter="barn(inVertical)">
                                      <p:cBhvr>
                                        <p:cTn id="178" dur="500"/>
                                        <p:tgtEl>
                                          <p:spTgt spid="82"/>
                                        </p:tgtEl>
                                      </p:cBhvr>
                                    </p:animEffect>
                                  </p:childTnLst>
                                </p:cTn>
                              </p:par>
                            </p:childTnLst>
                          </p:cTn>
                        </p:par>
                      </p:childTnLst>
                    </p:cTn>
                  </p:par>
                  <p:par>
                    <p:cTn id="179" fill="hold">
                      <p:stCondLst>
                        <p:cond delay="indefinite"/>
                      </p:stCondLst>
                      <p:childTnLst>
                        <p:par>
                          <p:cTn id="180" fill="hold">
                            <p:stCondLst>
                              <p:cond delay="0"/>
                            </p:stCondLst>
                            <p:childTnLst>
                              <p:par>
                                <p:cTn id="181" presetID="16" presetClass="entr" presetSubtype="21" fill="hold" nodeType="clickEffect">
                                  <p:stCondLst>
                                    <p:cond delay="0"/>
                                  </p:stCondLst>
                                  <p:childTnLst>
                                    <p:set>
                                      <p:cBhvr>
                                        <p:cTn id="182" dur="1" fill="hold">
                                          <p:stCondLst>
                                            <p:cond delay="0"/>
                                          </p:stCondLst>
                                        </p:cTn>
                                        <p:tgtEl>
                                          <p:spTgt spid="83"/>
                                        </p:tgtEl>
                                        <p:attrNameLst>
                                          <p:attrName>style.visibility</p:attrName>
                                        </p:attrNameLst>
                                      </p:cBhvr>
                                      <p:to>
                                        <p:strVal val="visible"/>
                                      </p:to>
                                    </p:set>
                                    <p:animEffect transition="in" filter="barn(inVertical)">
                                      <p:cBhvr>
                                        <p:cTn id="183" dur="500"/>
                                        <p:tgtEl>
                                          <p:spTgt spid="83"/>
                                        </p:tgtEl>
                                      </p:cBhvr>
                                    </p:animEffect>
                                  </p:childTnLst>
                                </p:cTn>
                              </p:par>
                              <p:par>
                                <p:cTn id="184" presetID="16" presetClass="entr" presetSubtype="21" fill="hold" grpId="0" nodeType="withEffect">
                                  <p:stCondLst>
                                    <p:cond delay="0"/>
                                  </p:stCondLst>
                                  <p:childTnLst>
                                    <p:set>
                                      <p:cBhvr>
                                        <p:cTn id="185" dur="1" fill="hold">
                                          <p:stCondLst>
                                            <p:cond delay="0"/>
                                          </p:stCondLst>
                                        </p:cTn>
                                        <p:tgtEl>
                                          <p:spTgt spid="84"/>
                                        </p:tgtEl>
                                        <p:attrNameLst>
                                          <p:attrName>style.visibility</p:attrName>
                                        </p:attrNameLst>
                                      </p:cBhvr>
                                      <p:to>
                                        <p:strVal val="visible"/>
                                      </p:to>
                                    </p:set>
                                    <p:animEffect transition="in" filter="barn(inVertical)">
                                      <p:cBhvr>
                                        <p:cTn id="186" dur="500"/>
                                        <p:tgtEl>
                                          <p:spTgt spid="84"/>
                                        </p:tgtEl>
                                      </p:cBhvr>
                                    </p:animEffect>
                                  </p:childTnLst>
                                </p:cTn>
                              </p:par>
                            </p:childTnLst>
                          </p:cTn>
                        </p:par>
                      </p:childTnLst>
                    </p:cTn>
                  </p:par>
                  <p:par>
                    <p:cTn id="187" fill="hold">
                      <p:stCondLst>
                        <p:cond delay="indefinite"/>
                      </p:stCondLst>
                      <p:childTnLst>
                        <p:par>
                          <p:cTn id="188" fill="hold">
                            <p:stCondLst>
                              <p:cond delay="0"/>
                            </p:stCondLst>
                            <p:childTnLst>
                              <p:par>
                                <p:cTn id="189" presetID="16" presetClass="entr" presetSubtype="21" fill="hold" nodeType="clickEffect">
                                  <p:stCondLst>
                                    <p:cond delay="0"/>
                                  </p:stCondLst>
                                  <p:childTnLst>
                                    <p:set>
                                      <p:cBhvr>
                                        <p:cTn id="190" dur="1" fill="hold">
                                          <p:stCondLst>
                                            <p:cond delay="0"/>
                                          </p:stCondLst>
                                        </p:cTn>
                                        <p:tgtEl>
                                          <p:spTgt spid="85"/>
                                        </p:tgtEl>
                                        <p:attrNameLst>
                                          <p:attrName>style.visibility</p:attrName>
                                        </p:attrNameLst>
                                      </p:cBhvr>
                                      <p:to>
                                        <p:strVal val="visible"/>
                                      </p:to>
                                    </p:set>
                                    <p:animEffect transition="in" filter="barn(inVertical)">
                                      <p:cBhvr>
                                        <p:cTn id="191" dur="500"/>
                                        <p:tgtEl>
                                          <p:spTgt spid="85"/>
                                        </p:tgtEl>
                                      </p:cBhvr>
                                    </p:animEffect>
                                  </p:childTnLst>
                                </p:cTn>
                              </p:par>
                              <p:par>
                                <p:cTn id="192" presetID="16" presetClass="entr" presetSubtype="21" fill="hold" grpId="0" nodeType="withEffect">
                                  <p:stCondLst>
                                    <p:cond delay="0"/>
                                  </p:stCondLst>
                                  <p:childTnLst>
                                    <p:set>
                                      <p:cBhvr>
                                        <p:cTn id="193" dur="1" fill="hold">
                                          <p:stCondLst>
                                            <p:cond delay="0"/>
                                          </p:stCondLst>
                                        </p:cTn>
                                        <p:tgtEl>
                                          <p:spTgt spid="86"/>
                                        </p:tgtEl>
                                        <p:attrNameLst>
                                          <p:attrName>style.visibility</p:attrName>
                                        </p:attrNameLst>
                                      </p:cBhvr>
                                      <p:to>
                                        <p:strVal val="visible"/>
                                      </p:to>
                                    </p:set>
                                    <p:animEffect transition="in" filter="barn(inVertical)">
                                      <p:cBhvr>
                                        <p:cTn id="194" dur="500"/>
                                        <p:tgtEl>
                                          <p:spTgt spid="86"/>
                                        </p:tgtEl>
                                      </p:cBhvr>
                                    </p:animEffect>
                                  </p:childTnLst>
                                </p:cTn>
                              </p:par>
                            </p:childTnLst>
                          </p:cTn>
                        </p:par>
                      </p:childTnLst>
                    </p:cTn>
                  </p:par>
                  <p:par>
                    <p:cTn id="195" fill="hold">
                      <p:stCondLst>
                        <p:cond delay="indefinite"/>
                      </p:stCondLst>
                      <p:childTnLst>
                        <p:par>
                          <p:cTn id="196" fill="hold">
                            <p:stCondLst>
                              <p:cond delay="0"/>
                            </p:stCondLst>
                            <p:childTnLst>
                              <p:par>
                                <p:cTn id="197" presetID="16" presetClass="entr" presetSubtype="21" fill="hold" grpId="0" nodeType="clickEffect">
                                  <p:stCondLst>
                                    <p:cond delay="0"/>
                                  </p:stCondLst>
                                  <p:childTnLst>
                                    <p:set>
                                      <p:cBhvr>
                                        <p:cTn id="198" dur="1" fill="hold">
                                          <p:stCondLst>
                                            <p:cond delay="0"/>
                                          </p:stCondLst>
                                        </p:cTn>
                                        <p:tgtEl>
                                          <p:spTgt spid="87"/>
                                        </p:tgtEl>
                                        <p:attrNameLst>
                                          <p:attrName>style.visibility</p:attrName>
                                        </p:attrNameLst>
                                      </p:cBhvr>
                                      <p:to>
                                        <p:strVal val="visible"/>
                                      </p:to>
                                    </p:set>
                                    <p:animEffect transition="in" filter="barn(inVertical)">
                                      <p:cBhvr>
                                        <p:cTn id="199" dur="500"/>
                                        <p:tgtEl>
                                          <p:spTgt spid="87"/>
                                        </p:tgtEl>
                                      </p:cBhvr>
                                    </p:animEffect>
                                  </p:childTnLst>
                                </p:cTn>
                              </p:par>
                            </p:childTnLst>
                          </p:cTn>
                        </p:par>
                      </p:childTnLst>
                    </p:cTn>
                  </p:par>
                  <p:par>
                    <p:cTn id="200" fill="hold">
                      <p:stCondLst>
                        <p:cond delay="indefinite"/>
                      </p:stCondLst>
                      <p:childTnLst>
                        <p:par>
                          <p:cTn id="201" fill="hold">
                            <p:stCondLst>
                              <p:cond delay="0"/>
                            </p:stCondLst>
                            <p:childTnLst>
                              <p:par>
                                <p:cTn id="202" presetID="16" presetClass="entr" presetSubtype="21" fill="hold" grpId="0" nodeType="clickEffect">
                                  <p:stCondLst>
                                    <p:cond delay="0"/>
                                  </p:stCondLst>
                                  <p:childTnLst>
                                    <p:set>
                                      <p:cBhvr>
                                        <p:cTn id="203" dur="1" fill="hold">
                                          <p:stCondLst>
                                            <p:cond delay="0"/>
                                          </p:stCondLst>
                                        </p:cTn>
                                        <p:tgtEl>
                                          <p:spTgt spid="88"/>
                                        </p:tgtEl>
                                        <p:attrNameLst>
                                          <p:attrName>style.visibility</p:attrName>
                                        </p:attrNameLst>
                                      </p:cBhvr>
                                      <p:to>
                                        <p:strVal val="visible"/>
                                      </p:to>
                                    </p:set>
                                    <p:animEffect transition="in" filter="barn(inVertical)">
                                      <p:cBhvr>
                                        <p:cTn id="204"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1" grpId="0"/>
      <p:bldP spid="33" grpId="0"/>
      <p:bldP spid="34" grpId="0"/>
      <p:bldP spid="36" grpId="0"/>
      <p:bldP spid="37" grpId="0"/>
      <p:bldP spid="42" grpId="0"/>
      <p:bldP spid="48" grpId="0"/>
      <p:bldP spid="51" grpId="0"/>
      <p:bldP spid="54" grpId="0"/>
      <p:bldP spid="55" grpId="0"/>
      <p:bldP spid="57" grpId="0"/>
      <p:bldP spid="58" grpId="0"/>
      <p:bldP spid="60" grpId="0"/>
      <p:bldP spid="62" grpId="0"/>
      <p:bldP spid="63" grpId="0"/>
      <p:bldP spid="65" grpId="0"/>
      <p:bldP spid="67" grpId="0"/>
      <p:bldP spid="69" grpId="0"/>
      <p:bldP spid="70" grpId="0"/>
      <p:bldP spid="72" grpId="0"/>
      <p:bldP spid="74" grpId="0"/>
      <p:bldP spid="76" grpId="0"/>
      <p:bldP spid="78" grpId="0"/>
      <p:bldP spid="80" grpId="0"/>
      <p:bldP spid="82" grpId="0"/>
      <p:bldP spid="84" grpId="0"/>
      <p:bldP spid="86" grpId="0"/>
      <p:bldP spid="87" grpId="0" animBg="1"/>
      <p:bldP spid="8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loud"/>
          <p:cNvSpPr>
            <a:spLocks noChangeAspect="1" noEditPoints="1" noChangeArrowheads="1"/>
          </p:cNvSpPr>
          <p:nvPr/>
        </p:nvSpPr>
        <p:spPr bwMode="auto">
          <a:xfrm>
            <a:off x="7896225" y="908051"/>
            <a:ext cx="2249488" cy="4906963"/>
          </a:xfrm>
          <a:custGeom>
            <a:avLst/>
            <a:gdLst>
              <a:gd name="T0" fmla="*/ 6978 w 21600"/>
              <a:gd name="T1" fmla="*/ 2453482 h 21600"/>
              <a:gd name="T2" fmla="*/ 1124744 w 21600"/>
              <a:gd name="T3" fmla="*/ 4901738 h 21600"/>
              <a:gd name="T4" fmla="*/ 2247613 w 21600"/>
              <a:gd name="T5" fmla="*/ 2453482 h 21600"/>
              <a:gd name="T6" fmla="*/ 1124744 w 21600"/>
              <a:gd name="T7" fmla="*/ 280560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99"/>
          </a:solidFill>
          <a:ln w="9525">
            <a:solidFill>
              <a:srgbClr val="000000"/>
            </a:solidFill>
            <a:miter lim="800000"/>
            <a:headEnd/>
            <a:tailEnd/>
          </a:ln>
          <a:effectLst>
            <a:outerShdw dist="107763" dir="2700000" algn="ctr" rotWithShape="0">
              <a:srgbClr val="808080"/>
            </a:outerShdw>
          </a:effectLst>
        </p:spPr>
        <p:txBody>
          <a:bodyPr/>
          <a:lstStyle/>
          <a:p>
            <a:pPr algn="ctr" fontAlgn="base">
              <a:spcBef>
                <a:spcPct val="0"/>
              </a:spcBef>
              <a:spcAft>
                <a:spcPct val="0"/>
              </a:spcAft>
            </a:pPr>
            <a:endParaRPr lang="en-US" sz="2000">
              <a:solidFill>
                <a:srgbClr val="58585A"/>
              </a:solidFill>
            </a:endParaRPr>
          </a:p>
        </p:txBody>
      </p:sp>
      <p:sp>
        <p:nvSpPr>
          <p:cNvPr id="5123" name="Rectangle 3"/>
          <p:cNvSpPr>
            <a:spLocks noGrp="1" noChangeArrowheads="1"/>
          </p:cNvSpPr>
          <p:nvPr>
            <p:ph type="title"/>
          </p:nvPr>
        </p:nvSpPr>
        <p:spPr>
          <a:xfrm>
            <a:off x="1272209" y="266484"/>
            <a:ext cx="9384495" cy="341632"/>
          </a:xfrm>
          <a:solidFill>
            <a:srgbClr val="FFC000"/>
          </a:solidFill>
        </p:spPr>
        <p:txBody>
          <a:bodyPr wrap="square" rtlCol="0">
            <a:spAutoFit/>
          </a:bodyPr>
          <a:lstStyle/>
          <a:p>
            <a:pPr algn="ctr"/>
            <a:r>
              <a:rPr lang="en-US" altLang="en-US" sz="1800">
                <a:latin typeface="+mn-lt"/>
                <a:ea typeface="+mn-ea"/>
                <a:cs typeface="+mn-cs"/>
              </a:rPr>
              <a:t>UE Registers With IMS Network</a:t>
            </a:r>
          </a:p>
        </p:txBody>
      </p:sp>
      <p:sp>
        <p:nvSpPr>
          <p:cNvPr id="5124" name="Text Box 4"/>
          <p:cNvSpPr txBox="1">
            <a:spLocks noChangeArrowheads="1"/>
          </p:cNvSpPr>
          <p:nvPr/>
        </p:nvSpPr>
        <p:spPr bwMode="auto">
          <a:xfrm>
            <a:off x="2000250" y="1560514"/>
            <a:ext cx="35860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UE</a:t>
            </a:r>
          </a:p>
        </p:txBody>
      </p:sp>
      <p:sp>
        <p:nvSpPr>
          <p:cNvPr id="5125" name="Text Box 5"/>
          <p:cNvSpPr txBox="1">
            <a:spLocks noChangeArrowheads="1"/>
          </p:cNvSpPr>
          <p:nvPr/>
        </p:nvSpPr>
        <p:spPr bwMode="auto">
          <a:xfrm>
            <a:off x="2908301" y="1560514"/>
            <a:ext cx="4435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err="1">
                <a:solidFill>
                  <a:srgbClr val="58585A"/>
                </a:solidFill>
              </a:rPr>
              <a:t>eNB</a:t>
            </a:r>
          </a:p>
        </p:txBody>
      </p:sp>
      <p:sp>
        <p:nvSpPr>
          <p:cNvPr id="5126" name="Text Box 6"/>
          <p:cNvSpPr txBox="1">
            <a:spLocks noChangeArrowheads="1"/>
          </p:cNvSpPr>
          <p:nvPr/>
        </p:nvSpPr>
        <p:spPr bwMode="auto">
          <a:xfrm>
            <a:off x="3900489" y="1560514"/>
            <a:ext cx="504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MME</a:t>
            </a:r>
          </a:p>
        </p:txBody>
      </p:sp>
      <p:sp>
        <p:nvSpPr>
          <p:cNvPr id="5127" name="Text Box 7"/>
          <p:cNvSpPr txBox="1">
            <a:spLocks noChangeArrowheads="1"/>
          </p:cNvSpPr>
          <p:nvPr/>
        </p:nvSpPr>
        <p:spPr bwMode="auto">
          <a:xfrm>
            <a:off x="4954588" y="1560514"/>
            <a:ext cx="5397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SGW</a:t>
            </a:r>
          </a:p>
        </p:txBody>
      </p:sp>
      <p:sp>
        <p:nvSpPr>
          <p:cNvPr id="5128" name="Text Box 8"/>
          <p:cNvSpPr txBox="1">
            <a:spLocks noChangeArrowheads="1"/>
          </p:cNvSpPr>
          <p:nvPr/>
        </p:nvSpPr>
        <p:spPr bwMode="auto">
          <a:xfrm>
            <a:off x="6048376" y="1562101"/>
            <a:ext cx="51409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PGW</a:t>
            </a:r>
          </a:p>
        </p:txBody>
      </p:sp>
      <p:sp>
        <p:nvSpPr>
          <p:cNvPr id="5129" name="Text Box 9"/>
          <p:cNvSpPr txBox="1">
            <a:spLocks noChangeArrowheads="1"/>
          </p:cNvSpPr>
          <p:nvPr/>
        </p:nvSpPr>
        <p:spPr bwMode="auto">
          <a:xfrm>
            <a:off x="7112001" y="1562101"/>
            <a:ext cx="5637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PCRF</a:t>
            </a:r>
          </a:p>
        </p:txBody>
      </p:sp>
      <p:sp>
        <p:nvSpPr>
          <p:cNvPr id="5130" name="Text Box 10"/>
          <p:cNvSpPr txBox="1">
            <a:spLocks noChangeArrowheads="1"/>
          </p:cNvSpPr>
          <p:nvPr/>
        </p:nvSpPr>
        <p:spPr bwMode="auto">
          <a:xfrm>
            <a:off x="8223251" y="1562101"/>
            <a:ext cx="5637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CSCF</a:t>
            </a:r>
          </a:p>
        </p:txBody>
      </p:sp>
      <p:sp>
        <p:nvSpPr>
          <p:cNvPr id="5131" name="Text Box 11"/>
          <p:cNvSpPr txBox="1">
            <a:spLocks noChangeArrowheads="1"/>
          </p:cNvSpPr>
          <p:nvPr/>
        </p:nvSpPr>
        <p:spPr bwMode="auto">
          <a:xfrm>
            <a:off x="9532684" y="1590910"/>
            <a:ext cx="809625" cy="81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SBG</a:t>
            </a:r>
          </a:p>
          <a:p>
            <a:pPr eaLnBrk="1" fontAlgn="base" hangingPunct="1">
              <a:spcBef>
                <a:spcPct val="50000"/>
              </a:spcBef>
              <a:spcAft>
                <a:spcPct val="0"/>
              </a:spcAft>
            </a:pPr>
            <a:r>
              <a:rPr lang="en-US" sz="1000" b="1"/>
              <a:t>Session Border Gateway</a:t>
            </a:r>
            <a:endParaRPr lang="en-US" altLang="en-US" sz="1000">
              <a:solidFill>
                <a:srgbClr val="58585A"/>
              </a:solidFill>
            </a:endParaRPr>
          </a:p>
        </p:txBody>
      </p:sp>
      <p:sp>
        <p:nvSpPr>
          <p:cNvPr id="5132" name="Line 12"/>
          <p:cNvSpPr>
            <a:spLocks noChangeShapeType="1"/>
          </p:cNvSpPr>
          <p:nvPr/>
        </p:nvSpPr>
        <p:spPr bwMode="auto">
          <a:xfrm>
            <a:off x="2181225" y="1808164"/>
            <a:ext cx="0" cy="32416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5133" name="Line 13"/>
          <p:cNvSpPr>
            <a:spLocks noChangeShapeType="1"/>
          </p:cNvSpPr>
          <p:nvPr/>
        </p:nvSpPr>
        <p:spPr bwMode="auto">
          <a:xfrm>
            <a:off x="3125788" y="1808164"/>
            <a:ext cx="0" cy="32416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5134" name="Line 14"/>
          <p:cNvSpPr>
            <a:spLocks noChangeShapeType="1"/>
          </p:cNvSpPr>
          <p:nvPr/>
        </p:nvSpPr>
        <p:spPr bwMode="auto">
          <a:xfrm>
            <a:off x="4116388" y="1808164"/>
            <a:ext cx="0" cy="32416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5135" name="Line 15"/>
          <p:cNvSpPr>
            <a:spLocks noChangeShapeType="1"/>
          </p:cNvSpPr>
          <p:nvPr/>
        </p:nvSpPr>
        <p:spPr bwMode="auto">
          <a:xfrm>
            <a:off x="5195888" y="1854201"/>
            <a:ext cx="0" cy="32416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5136" name="Line 16"/>
          <p:cNvSpPr>
            <a:spLocks noChangeShapeType="1"/>
          </p:cNvSpPr>
          <p:nvPr/>
        </p:nvSpPr>
        <p:spPr bwMode="auto">
          <a:xfrm>
            <a:off x="6275388" y="1898651"/>
            <a:ext cx="0" cy="32416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5137" name="Line 17"/>
          <p:cNvSpPr>
            <a:spLocks noChangeShapeType="1"/>
          </p:cNvSpPr>
          <p:nvPr/>
        </p:nvSpPr>
        <p:spPr bwMode="auto">
          <a:xfrm>
            <a:off x="7356475" y="1898651"/>
            <a:ext cx="0" cy="32416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5138" name="Line 18"/>
          <p:cNvSpPr>
            <a:spLocks noChangeShapeType="1"/>
          </p:cNvSpPr>
          <p:nvPr/>
        </p:nvSpPr>
        <p:spPr bwMode="auto">
          <a:xfrm>
            <a:off x="8482013" y="1898651"/>
            <a:ext cx="0" cy="32416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5139" name="Line 19"/>
          <p:cNvSpPr>
            <a:spLocks noChangeShapeType="1"/>
          </p:cNvSpPr>
          <p:nvPr/>
        </p:nvSpPr>
        <p:spPr bwMode="auto">
          <a:xfrm>
            <a:off x="9561513" y="1854201"/>
            <a:ext cx="0" cy="32416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5140" name="Text Box 20"/>
          <p:cNvSpPr txBox="1">
            <a:spLocks noChangeArrowheads="1"/>
          </p:cNvSpPr>
          <p:nvPr/>
        </p:nvSpPr>
        <p:spPr bwMode="auto">
          <a:xfrm>
            <a:off x="9201151" y="1179513"/>
            <a:ext cx="555775" cy="369332"/>
          </a:xfrm>
          <a:prstGeom prst="rect">
            <a:avLst/>
          </a:prstGeom>
          <a:solidFill>
            <a:srgbClr val="FFFF99"/>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800">
                <a:solidFill>
                  <a:srgbClr val="58585A"/>
                </a:solidFill>
              </a:rPr>
              <a:t>IMS</a:t>
            </a:r>
          </a:p>
        </p:txBody>
      </p:sp>
      <p:sp>
        <p:nvSpPr>
          <p:cNvPr id="5142" name="Text Box 22"/>
          <p:cNvSpPr txBox="1">
            <a:spLocks noChangeArrowheads="1"/>
          </p:cNvSpPr>
          <p:nvPr/>
        </p:nvSpPr>
        <p:spPr bwMode="auto">
          <a:xfrm>
            <a:off x="4116389" y="2124076"/>
            <a:ext cx="184939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400">
                <a:solidFill>
                  <a:srgbClr val="FFFFFF"/>
                </a:solidFill>
              </a:rPr>
              <a:t>IMS PDN Connection</a:t>
            </a:r>
          </a:p>
        </p:txBody>
      </p:sp>
      <p:sp>
        <p:nvSpPr>
          <p:cNvPr id="5145" name="AutoShape 25"/>
          <p:cNvSpPr>
            <a:spLocks noChangeArrowheads="1"/>
          </p:cNvSpPr>
          <p:nvPr/>
        </p:nvSpPr>
        <p:spPr bwMode="auto">
          <a:xfrm rot="-5400000">
            <a:off x="3260726" y="1943101"/>
            <a:ext cx="1890712" cy="3690937"/>
          </a:xfrm>
          <a:prstGeom prst="can">
            <a:avLst>
              <a:gd name="adj" fmla="val 15753"/>
            </a:avLst>
          </a:prstGeom>
          <a:solidFill>
            <a:srgbClr val="FF99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ctr" eaLnBrk="1" fontAlgn="base" hangingPunct="1">
              <a:spcBef>
                <a:spcPct val="0"/>
              </a:spcBef>
              <a:spcAft>
                <a:spcPct val="0"/>
              </a:spcAft>
            </a:pPr>
            <a:endParaRPr lang="en-US" altLang="en-US">
              <a:solidFill>
                <a:srgbClr val="58585A"/>
              </a:solidFill>
            </a:endParaRPr>
          </a:p>
        </p:txBody>
      </p:sp>
      <p:sp>
        <p:nvSpPr>
          <p:cNvPr id="5146" name="Text Box 26"/>
          <p:cNvSpPr txBox="1">
            <a:spLocks noChangeArrowheads="1"/>
          </p:cNvSpPr>
          <p:nvPr/>
        </p:nvSpPr>
        <p:spPr bwMode="auto">
          <a:xfrm>
            <a:off x="2946401" y="2844800"/>
            <a:ext cx="194878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800">
                <a:solidFill>
                  <a:srgbClr val="58585A"/>
                </a:solidFill>
              </a:rPr>
              <a:t>Default  Bearer QCI = 5. IMS Signaling.</a:t>
            </a:r>
          </a:p>
        </p:txBody>
      </p:sp>
      <p:sp>
        <p:nvSpPr>
          <p:cNvPr id="344091" name="Line 27"/>
          <p:cNvSpPr>
            <a:spLocks noChangeShapeType="1"/>
          </p:cNvSpPr>
          <p:nvPr/>
        </p:nvSpPr>
        <p:spPr bwMode="auto">
          <a:xfrm>
            <a:off x="2181226" y="3294063"/>
            <a:ext cx="4094163"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4092" name="Text Box 28"/>
          <p:cNvSpPr txBox="1">
            <a:spLocks noChangeArrowheads="1"/>
          </p:cNvSpPr>
          <p:nvPr/>
        </p:nvSpPr>
        <p:spPr bwMode="auto">
          <a:xfrm>
            <a:off x="3260725" y="3068639"/>
            <a:ext cx="9969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SIP Register</a:t>
            </a:r>
          </a:p>
        </p:txBody>
      </p:sp>
      <p:sp>
        <p:nvSpPr>
          <p:cNvPr id="344093" name="Line 29"/>
          <p:cNvSpPr>
            <a:spLocks noChangeShapeType="1"/>
          </p:cNvSpPr>
          <p:nvPr/>
        </p:nvSpPr>
        <p:spPr bwMode="auto">
          <a:xfrm>
            <a:off x="6275389" y="3389313"/>
            <a:ext cx="2206625"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4094" name="Text Box 30"/>
          <p:cNvSpPr txBox="1">
            <a:spLocks noChangeArrowheads="1"/>
          </p:cNvSpPr>
          <p:nvPr/>
        </p:nvSpPr>
        <p:spPr bwMode="auto">
          <a:xfrm>
            <a:off x="6591300" y="3159125"/>
            <a:ext cx="9969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SIP Register</a:t>
            </a:r>
          </a:p>
        </p:txBody>
      </p:sp>
      <p:sp>
        <p:nvSpPr>
          <p:cNvPr id="344095" name="Line 31"/>
          <p:cNvSpPr>
            <a:spLocks noChangeShapeType="1"/>
          </p:cNvSpPr>
          <p:nvPr/>
        </p:nvSpPr>
        <p:spPr bwMode="auto">
          <a:xfrm flipH="1">
            <a:off x="6275389" y="3654425"/>
            <a:ext cx="2160587"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4096" name="Text Box 32"/>
          <p:cNvSpPr txBox="1">
            <a:spLocks noChangeArrowheads="1"/>
          </p:cNvSpPr>
          <p:nvPr/>
        </p:nvSpPr>
        <p:spPr bwMode="auto">
          <a:xfrm>
            <a:off x="6591301" y="3430589"/>
            <a:ext cx="191672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401 Unauthorized (nonce)</a:t>
            </a:r>
          </a:p>
        </p:txBody>
      </p:sp>
      <p:sp>
        <p:nvSpPr>
          <p:cNvPr id="344097" name="Line 33"/>
          <p:cNvSpPr>
            <a:spLocks noChangeShapeType="1"/>
          </p:cNvSpPr>
          <p:nvPr/>
        </p:nvSpPr>
        <p:spPr bwMode="auto">
          <a:xfrm flipH="1">
            <a:off x="2181226" y="3698875"/>
            <a:ext cx="4094163"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4098" name="Text Box 34"/>
          <p:cNvSpPr txBox="1">
            <a:spLocks noChangeArrowheads="1"/>
          </p:cNvSpPr>
          <p:nvPr/>
        </p:nvSpPr>
        <p:spPr bwMode="auto">
          <a:xfrm>
            <a:off x="3260726" y="3429001"/>
            <a:ext cx="191672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401 Unauthorized (nonce)</a:t>
            </a:r>
          </a:p>
        </p:txBody>
      </p:sp>
      <p:sp>
        <p:nvSpPr>
          <p:cNvPr id="344099" name="Line 35"/>
          <p:cNvSpPr>
            <a:spLocks noChangeShapeType="1"/>
          </p:cNvSpPr>
          <p:nvPr/>
        </p:nvSpPr>
        <p:spPr bwMode="auto">
          <a:xfrm>
            <a:off x="2181226" y="4149725"/>
            <a:ext cx="4049713"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4100" name="Text Box 36"/>
          <p:cNvSpPr txBox="1">
            <a:spLocks noChangeArrowheads="1"/>
          </p:cNvSpPr>
          <p:nvPr/>
        </p:nvSpPr>
        <p:spPr bwMode="auto">
          <a:xfrm>
            <a:off x="3260725" y="3924300"/>
            <a:ext cx="20637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SIP Register (with Auth Info)</a:t>
            </a:r>
          </a:p>
        </p:txBody>
      </p:sp>
      <p:sp>
        <p:nvSpPr>
          <p:cNvPr id="344101" name="Line 37"/>
          <p:cNvSpPr>
            <a:spLocks noChangeShapeType="1"/>
          </p:cNvSpPr>
          <p:nvPr/>
        </p:nvSpPr>
        <p:spPr bwMode="auto">
          <a:xfrm>
            <a:off x="6319839" y="4238625"/>
            <a:ext cx="2206625"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4102" name="Text Box 38"/>
          <p:cNvSpPr txBox="1">
            <a:spLocks noChangeArrowheads="1"/>
          </p:cNvSpPr>
          <p:nvPr/>
        </p:nvSpPr>
        <p:spPr bwMode="auto">
          <a:xfrm>
            <a:off x="6410326" y="3968750"/>
            <a:ext cx="20986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SIP Register (With Auth Info)</a:t>
            </a:r>
          </a:p>
        </p:txBody>
      </p:sp>
      <p:sp>
        <p:nvSpPr>
          <p:cNvPr id="344103" name="Line 39"/>
          <p:cNvSpPr>
            <a:spLocks noChangeShapeType="1"/>
          </p:cNvSpPr>
          <p:nvPr/>
        </p:nvSpPr>
        <p:spPr bwMode="auto">
          <a:xfrm flipH="1">
            <a:off x="6275389" y="4508500"/>
            <a:ext cx="2160587"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4104" name="Text Box 40"/>
          <p:cNvSpPr txBox="1">
            <a:spLocks noChangeArrowheads="1"/>
          </p:cNvSpPr>
          <p:nvPr/>
        </p:nvSpPr>
        <p:spPr bwMode="auto">
          <a:xfrm>
            <a:off x="6410326" y="4284664"/>
            <a:ext cx="66638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200 OK</a:t>
            </a:r>
          </a:p>
        </p:txBody>
      </p:sp>
      <p:sp>
        <p:nvSpPr>
          <p:cNvPr id="344105" name="Line 41"/>
          <p:cNvSpPr>
            <a:spLocks noChangeShapeType="1"/>
          </p:cNvSpPr>
          <p:nvPr/>
        </p:nvSpPr>
        <p:spPr bwMode="auto">
          <a:xfrm flipH="1">
            <a:off x="2135188" y="4598988"/>
            <a:ext cx="4094162"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4106" name="Text Box 42"/>
          <p:cNvSpPr txBox="1">
            <a:spLocks noChangeArrowheads="1"/>
          </p:cNvSpPr>
          <p:nvPr/>
        </p:nvSpPr>
        <p:spPr bwMode="auto">
          <a:xfrm>
            <a:off x="3737663" y="4236438"/>
            <a:ext cx="66638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200 OK</a:t>
            </a:r>
          </a:p>
        </p:txBody>
      </p:sp>
      <p:sp>
        <p:nvSpPr>
          <p:cNvPr id="43" name="Rectangle 42"/>
          <p:cNvSpPr/>
          <p:nvPr/>
        </p:nvSpPr>
        <p:spPr bwMode="auto">
          <a:xfrm>
            <a:off x="10999304" y="225287"/>
            <a:ext cx="834887" cy="861391"/>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none" lIns="72000" tIns="45720" rIns="7200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endParaRPr>
          </a:p>
        </p:txBody>
      </p:sp>
      <p:sp>
        <p:nvSpPr>
          <p:cNvPr id="44" name="Rectangle 43"/>
          <p:cNvSpPr/>
          <p:nvPr/>
        </p:nvSpPr>
        <p:spPr bwMode="auto">
          <a:xfrm>
            <a:off x="516835" y="6520070"/>
            <a:ext cx="3167269" cy="225287"/>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none" lIns="72000" tIns="45720" rIns="7200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41461827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4091"/>
                                        </p:tgtEl>
                                        <p:attrNameLst>
                                          <p:attrName>style.visibility</p:attrName>
                                        </p:attrNameLst>
                                      </p:cBhvr>
                                      <p:to>
                                        <p:strVal val="visible"/>
                                      </p:to>
                                    </p:set>
                                    <p:animEffect transition="in" filter="wipe(left)">
                                      <p:cBhvr>
                                        <p:cTn id="7" dur="500"/>
                                        <p:tgtEl>
                                          <p:spTgt spid="34409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44092"/>
                                        </p:tgtEl>
                                        <p:attrNameLst>
                                          <p:attrName>style.visibility</p:attrName>
                                        </p:attrNameLst>
                                      </p:cBhvr>
                                      <p:to>
                                        <p:strVal val="visible"/>
                                      </p:to>
                                    </p:set>
                                    <p:animEffect transition="in" filter="wipe(left)">
                                      <p:cBhvr>
                                        <p:cTn id="10" dur="500"/>
                                        <p:tgtEl>
                                          <p:spTgt spid="344092"/>
                                        </p:tgtEl>
                                      </p:cBhvr>
                                    </p:animEffect>
                                  </p:childTnLst>
                                </p:cTn>
                              </p:par>
                            </p:childTnLst>
                          </p:cTn>
                        </p:par>
                        <p:par>
                          <p:cTn id="11" fill="hold" nodeType="afterGroup">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344093"/>
                                        </p:tgtEl>
                                        <p:attrNameLst>
                                          <p:attrName>style.visibility</p:attrName>
                                        </p:attrNameLst>
                                      </p:cBhvr>
                                      <p:to>
                                        <p:strVal val="visible"/>
                                      </p:to>
                                    </p:set>
                                    <p:animEffect transition="in" filter="wipe(left)">
                                      <p:cBhvr>
                                        <p:cTn id="14" dur="500"/>
                                        <p:tgtEl>
                                          <p:spTgt spid="344093"/>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344094"/>
                                        </p:tgtEl>
                                        <p:attrNameLst>
                                          <p:attrName>style.visibility</p:attrName>
                                        </p:attrNameLst>
                                      </p:cBhvr>
                                      <p:to>
                                        <p:strVal val="visible"/>
                                      </p:to>
                                    </p:set>
                                    <p:animEffect transition="in" filter="wipe(left)">
                                      <p:cBhvr>
                                        <p:cTn id="17" dur="500"/>
                                        <p:tgtEl>
                                          <p:spTgt spid="3440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344096"/>
                                        </p:tgtEl>
                                        <p:attrNameLst>
                                          <p:attrName>style.visibility</p:attrName>
                                        </p:attrNameLst>
                                      </p:cBhvr>
                                      <p:to>
                                        <p:strVal val="visible"/>
                                      </p:to>
                                    </p:set>
                                    <p:animEffect transition="in" filter="wipe(right)">
                                      <p:cBhvr>
                                        <p:cTn id="22" dur="500"/>
                                        <p:tgtEl>
                                          <p:spTgt spid="344096"/>
                                        </p:tgtEl>
                                      </p:cBhvr>
                                    </p:animEffect>
                                  </p:childTnLst>
                                </p:cTn>
                              </p:par>
                              <p:par>
                                <p:cTn id="23" presetID="22" presetClass="entr" presetSubtype="2" fill="hold" grpId="0" nodeType="withEffect">
                                  <p:stCondLst>
                                    <p:cond delay="0"/>
                                  </p:stCondLst>
                                  <p:childTnLst>
                                    <p:set>
                                      <p:cBhvr>
                                        <p:cTn id="24" dur="1" fill="hold">
                                          <p:stCondLst>
                                            <p:cond delay="0"/>
                                          </p:stCondLst>
                                        </p:cTn>
                                        <p:tgtEl>
                                          <p:spTgt spid="344095"/>
                                        </p:tgtEl>
                                        <p:attrNameLst>
                                          <p:attrName>style.visibility</p:attrName>
                                        </p:attrNameLst>
                                      </p:cBhvr>
                                      <p:to>
                                        <p:strVal val="visible"/>
                                      </p:to>
                                    </p:set>
                                    <p:animEffect transition="in" filter="wipe(right)">
                                      <p:cBhvr>
                                        <p:cTn id="25" dur="500"/>
                                        <p:tgtEl>
                                          <p:spTgt spid="344095"/>
                                        </p:tgtEl>
                                      </p:cBhvr>
                                    </p:animEffect>
                                  </p:childTnLst>
                                </p:cTn>
                              </p:par>
                            </p:childTnLst>
                          </p:cTn>
                        </p:par>
                        <p:par>
                          <p:cTn id="26" fill="hold" nodeType="afterGroup">
                            <p:stCondLst>
                              <p:cond delay="500"/>
                            </p:stCondLst>
                            <p:childTnLst>
                              <p:par>
                                <p:cTn id="27" presetID="22" presetClass="entr" presetSubtype="2" fill="hold" grpId="0" nodeType="afterEffect">
                                  <p:stCondLst>
                                    <p:cond delay="0"/>
                                  </p:stCondLst>
                                  <p:childTnLst>
                                    <p:set>
                                      <p:cBhvr>
                                        <p:cTn id="28" dur="1" fill="hold">
                                          <p:stCondLst>
                                            <p:cond delay="0"/>
                                          </p:stCondLst>
                                        </p:cTn>
                                        <p:tgtEl>
                                          <p:spTgt spid="344098"/>
                                        </p:tgtEl>
                                        <p:attrNameLst>
                                          <p:attrName>style.visibility</p:attrName>
                                        </p:attrNameLst>
                                      </p:cBhvr>
                                      <p:to>
                                        <p:strVal val="visible"/>
                                      </p:to>
                                    </p:set>
                                    <p:animEffect transition="in" filter="wipe(right)">
                                      <p:cBhvr>
                                        <p:cTn id="29" dur="500"/>
                                        <p:tgtEl>
                                          <p:spTgt spid="344098"/>
                                        </p:tgtEl>
                                      </p:cBhvr>
                                    </p:animEffect>
                                  </p:childTnLst>
                                </p:cTn>
                              </p:par>
                              <p:par>
                                <p:cTn id="30" presetID="22" presetClass="entr" presetSubtype="2" fill="hold" grpId="0" nodeType="withEffect">
                                  <p:stCondLst>
                                    <p:cond delay="0"/>
                                  </p:stCondLst>
                                  <p:childTnLst>
                                    <p:set>
                                      <p:cBhvr>
                                        <p:cTn id="31" dur="1" fill="hold">
                                          <p:stCondLst>
                                            <p:cond delay="0"/>
                                          </p:stCondLst>
                                        </p:cTn>
                                        <p:tgtEl>
                                          <p:spTgt spid="344097"/>
                                        </p:tgtEl>
                                        <p:attrNameLst>
                                          <p:attrName>style.visibility</p:attrName>
                                        </p:attrNameLst>
                                      </p:cBhvr>
                                      <p:to>
                                        <p:strVal val="visible"/>
                                      </p:to>
                                    </p:set>
                                    <p:animEffect transition="in" filter="wipe(right)">
                                      <p:cBhvr>
                                        <p:cTn id="32" dur="500"/>
                                        <p:tgtEl>
                                          <p:spTgt spid="34409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44099"/>
                                        </p:tgtEl>
                                        <p:attrNameLst>
                                          <p:attrName>style.visibility</p:attrName>
                                        </p:attrNameLst>
                                      </p:cBhvr>
                                      <p:to>
                                        <p:strVal val="visible"/>
                                      </p:to>
                                    </p:set>
                                    <p:animEffect transition="in" filter="wipe(left)">
                                      <p:cBhvr>
                                        <p:cTn id="37" dur="500"/>
                                        <p:tgtEl>
                                          <p:spTgt spid="344099"/>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44100"/>
                                        </p:tgtEl>
                                        <p:attrNameLst>
                                          <p:attrName>style.visibility</p:attrName>
                                        </p:attrNameLst>
                                      </p:cBhvr>
                                      <p:to>
                                        <p:strVal val="visible"/>
                                      </p:to>
                                    </p:set>
                                    <p:animEffect transition="in" filter="wipe(left)">
                                      <p:cBhvr>
                                        <p:cTn id="40" dur="500"/>
                                        <p:tgtEl>
                                          <p:spTgt spid="344100"/>
                                        </p:tgtEl>
                                      </p:cBhvr>
                                    </p:animEffect>
                                  </p:childTnLst>
                                </p:cTn>
                              </p:par>
                            </p:childTnLst>
                          </p:cTn>
                        </p:par>
                        <p:par>
                          <p:cTn id="41" fill="hold" nodeType="afterGroup">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344101"/>
                                        </p:tgtEl>
                                        <p:attrNameLst>
                                          <p:attrName>style.visibility</p:attrName>
                                        </p:attrNameLst>
                                      </p:cBhvr>
                                      <p:to>
                                        <p:strVal val="visible"/>
                                      </p:to>
                                    </p:set>
                                    <p:animEffect transition="in" filter="wipe(left)">
                                      <p:cBhvr>
                                        <p:cTn id="44" dur="500"/>
                                        <p:tgtEl>
                                          <p:spTgt spid="344101"/>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344102"/>
                                        </p:tgtEl>
                                        <p:attrNameLst>
                                          <p:attrName>style.visibility</p:attrName>
                                        </p:attrNameLst>
                                      </p:cBhvr>
                                      <p:to>
                                        <p:strVal val="visible"/>
                                      </p:to>
                                    </p:set>
                                    <p:animEffect transition="in" filter="wipe(left)">
                                      <p:cBhvr>
                                        <p:cTn id="47" dur="500"/>
                                        <p:tgtEl>
                                          <p:spTgt spid="34410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2" fill="hold" grpId="0" nodeType="clickEffect">
                                  <p:stCondLst>
                                    <p:cond delay="0"/>
                                  </p:stCondLst>
                                  <p:childTnLst>
                                    <p:set>
                                      <p:cBhvr>
                                        <p:cTn id="51" dur="1" fill="hold">
                                          <p:stCondLst>
                                            <p:cond delay="0"/>
                                          </p:stCondLst>
                                        </p:cTn>
                                        <p:tgtEl>
                                          <p:spTgt spid="344103"/>
                                        </p:tgtEl>
                                        <p:attrNameLst>
                                          <p:attrName>style.visibility</p:attrName>
                                        </p:attrNameLst>
                                      </p:cBhvr>
                                      <p:to>
                                        <p:strVal val="visible"/>
                                      </p:to>
                                    </p:set>
                                    <p:animEffect transition="in" filter="wipe(right)">
                                      <p:cBhvr>
                                        <p:cTn id="52" dur="500"/>
                                        <p:tgtEl>
                                          <p:spTgt spid="344103"/>
                                        </p:tgtEl>
                                      </p:cBhvr>
                                    </p:animEffect>
                                  </p:childTnLst>
                                </p:cTn>
                              </p:par>
                              <p:par>
                                <p:cTn id="53" presetID="22" presetClass="entr" presetSubtype="2" fill="hold" grpId="0" nodeType="withEffect">
                                  <p:stCondLst>
                                    <p:cond delay="0"/>
                                  </p:stCondLst>
                                  <p:childTnLst>
                                    <p:set>
                                      <p:cBhvr>
                                        <p:cTn id="54" dur="1" fill="hold">
                                          <p:stCondLst>
                                            <p:cond delay="0"/>
                                          </p:stCondLst>
                                        </p:cTn>
                                        <p:tgtEl>
                                          <p:spTgt spid="344104"/>
                                        </p:tgtEl>
                                        <p:attrNameLst>
                                          <p:attrName>style.visibility</p:attrName>
                                        </p:attrNameLst>
                                      </p:cBhvr>
                                      <p:to>
                                        <p:strVal val="visible"/>
                                      </p:to>
                                    </p:set>
                                    <p:animEffect transition="in" filter="wipe(right)">
                                      <p:cBhvr>
                                        <p:cTn id="55" dur="500"/>
                                        <p:tgtEl>
                                          <p:spTgt spid="344104"/>
                                        </p:tgtEl>
                                      </p:cBhvr>
                                    </p:animEffect>
                                  </p:childTnLst>
                                </p:cTn>
                              </p:par>
                            </p:childTnLst>
                          </p:cTn>
                        </p:par>
                        <p:par>
                          <p:cTn id="56" fill="hold" nodeType="afterGroup">
                            <p:stCondLst>
                              <p:cond delay="500"/>
                            </p:stCondLst>
                            <p:childTnLst>
                              <p:par>
                                <p:cTn id="57" presetID="22" presetClass="entr" presetSubtype="2" fill="hold" grpId="0" nodeType="afterEffect">
                                  <p:stCondLst>
                                    <p:cond delay="0"/>
                                  </p:stCondLst>
                                  <p:childTnLst>
                                    <p:set>
                                      <p:cBhvr>
                                        <p:cTn id="58" dur="1" fill="hold">
                                          <p:stCondLst>
                                            <p:cond delay="0"/>
                                          </p:stCondLst>
                                        </p:cTn>
                                        <p:tgtEl>
                                          <p:spTgt spid="344105"/>
                                        </p:tgtEl>
                                        <p:attrNameLst>
                                          <p:attrName>style.visibility</p:attrName>
                                        </p:attrNameLst>
                                      </p:cBhvr>
                                      <p:to>
                                        <p:strVal val="visible"/>
                                      </p:to>
                                    </p:set>
                                    <p:animEffect transition="in" filter="wipe(right)">
                                      <p:cBhvr>
                                        <p:cTn id="59" dur="500"/>
                                        <p:tgtEl>
                                          <p:spTgt spid="344105"/>
                                        </p:tgtEl>
                                      </p:cBhvr>
                                    </p:animEffect>
                                  </p:childTnLst>
                                </p:cTn>
                              </p:par>
                              <p:par>
                                <p:cTn id="60" presetID="22" presetClass="entr" presetSubtype="2" fill="hold" grpId="0" nodeType="withEffect">
                                  <p:stCondLst>
                                    <p:cond delay="0"/>
                                  </p:stCondLst>
                                  <p:childTnLst>
                                    <p:set>
                                      <p:cBhvr>
                                        <p:cTn id="61" dur="1" fill="hold">
                                          <p:stCondLst>
                                            <p:cond delay="0"/>
                                          </p:stCondLst>
                                        </p:cTn>
                                        <p:tgtEl>
                                          <p:spTgt spid="344106"/>
                                        </p:tgtEl>
                                        <p:attrNameLst>
                                          <p:attrName>style.visibility</p:attrName>
                                        </p:attrNameLst>
                                      </p:cBhvr>
                                      <p:to>
                                        <p:strVal val="visible"/>
                                      </p:to>
                                    </p:set>
                                    <p:animEffect transition="in" filter="wipe(right)">
                                      <p:cBhvr>
                                        <p:cTn id="62" dur="500"/>
                                        <p:tgtEl>
                                          <p:spTgt spid="344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91" grpId="0" animBg="1"/>
      <p:bldP spid="344092" grpId="0"/>
      <p:bldP spid="344093" grpId="0" animBg="1"/>
      <p:bldP spid="344094" grpId="0"/>
      <p:bldP spid="344095" grpId="0" animBg="1"/>
      <p:bldP spid="344096" grpId="0"/>
      <p:bldP spid="344097" grpId="0" animBg="1"/>
      <p:bldP spid="344098" grpId="0"/>
      <p:bldP spid="344099" grpId="0" animBg="1"/>
      <p:bldP spid="344100" grpId="0"/>
      <p:bldP spid="344101" grpId="0" animBg="1"/>
      <p:bldP spid="344102" grpId="0"/>
      <p:bldP spid="344103" grpId="0" animBg="1"/>
      <p:bldP spid="344104" grpId="0"/>
      <p:bldP spid="344105" grpId="0" animBg="1"/>
      <p:bldP spid="34410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4754" y="223177"/>
            <a:ext cx="7841510" cy="4785766"/>
          </a:xfrm>
          <a:prstGeom prst="rect">
            <a:avLst/>
          </a:prstGeom>
          <a:ln>
            <a:solidFill>
              <a:srgbClr val="FFC000"/>
            </a:solidFill>
          </a:ln>
        </p:spPr>
      </p:pic>
      <p:sp>
        <p:nvSpPr>
          <p:cNvPr id="2" name="Rectangle 1"/>
          <p:cNvSpPr/>
          <p:nvPr/>
        </p:nvSpPr>
        <p:spPr>
          <a:xfrm>
            <a:off x="104754" y="5136384"/>
            <a:ext cx="7841510" cy="1246495"/>
          </a:xfrm>
          <a:prstGeom prst="rect">
            <a:avLst/>
          </a:prstGeom>
          <a:ln>
            <a:solidFill>
              <a:srgbClr val="FFC000"/>
            </a:solidFill>
          </a:ln>
        </p:spPr>
        <p:txBody>
          <a:bodyPr wrap="square">
            <a:spAutoFit/>
          </a:bodyPr>
          <a:lstStyle/>
          <a:p>
            <a:r>
              <a:rPr lang="en-US" sz="1500">
                <a:solidFill>
                  <a:srgbClr val="000000"/>
                </a:solidFill>
                <a:latin typeface="Meta Offc"/>
              </a:rPr>
              <a:t>The UE initiates the registration sequence, attaches to the LTE network and activates the PDP context. It discovers which P-CSCF to use, then makes a deliberately unauthenticated registration attempt. It waits for the expected 401 response, extracts the nonce from the response and hashes it with the SSD before including the result in a second REGISTER request. </a:t>
            </a:r>
          </a:p>
        </p:txBody>
      </p:sp>
      <p:sp>
        <p:nvSpPr>
          <p:cNvPr id="3" name="Rectangle 2"/>
          <p:cNvSpPr/>
          <p:nvPr/>
        </p:nvSpPr>
        <p:spPr>
          <a:xfrm>
            <a:off x="8023538" y="188185"/>
            <a:ext cx="4031086" cy="6555641"/>
          </a:xfrm>
          <a:prstGeom prst="rect">
            <a:avLst/>
          </a:prstGeom>
          <a:ln>
            <a:solidFill>
              <a:srgbClr val="FFC000"/>
            </a:solidFill>
          </a:ln>
        </p:spPr>
        <p:txBody>
          <a:bodyPr wrap="square">
            <a:spAutoFit/>
          </a:bodyPr>
          <a:lstStyle/>
          <a:p>
            <a:endParaRPr lang="en-US" sz="1200">
              <a:solidFill>
                <a:srgbClr val="000000"/>
              </a:solidFill>
              <a:latin typeface="Meta Offc"/>
            </a:endParaRPr>
          </a:p>
          <a:p>
            <a:r>
              <a:rPr lang="en-US" sz="1200">
                <a:solidFill>
                  <a:srgbClr val="000000"/>
                </a:solidFill>
                <a:latin typeface="Meta Offc"/>
              </a:rPr>
              <a:t>1.The IMS client attempts to register by sending a REGISTER request to the P-CSCF. </a:t>
            </a:r>
          </a:p>
          <a:p>
            <a:r>
              <a:rPr lang="en-US" sz="1200">
                <a:solidFill>
                  <a:srgbClr val="000000"/>
                </a:solidFill>
                <a:latin typeface="Meta Offc"/>
              </a:rPr>
              <a:t>2. The P-CSCF forwards the REGISTER request to the I-CSCF. </a:t>
            </a:r>
          </a:p>
          <a:p>
            <a:r>
              <a:rPr lang="en-US" sz="1200">
                <a:solidFill>
                  <a:srgbClr val="000000"/>
                </a:solidFill>
                <a:latin typeface="Meta Offc"/>
              </a:rPr>
              <a:t>3. The I-CSCF polls the HSS for data used to decide which S-CSCF should manage the REGISTER request. The I-CSCF then makes that decision. </a:t>
            </a:r>
          </a:p>
          <a:p>
            <a:r>
              <a:rPr lang="en-US" sz="1200">
                <a:solidFill>
                  <a:srgbClr val="000000"/>
                </a:solidFill>
                <a:latin typeface="Meta Offc"/>
              </a:rPr>
              <a:t>4. The I-CSCF forwards the REGISTER request to the appropriate S-CSCF. </a:t>
            </a:r>
          </a:p>
          <a:p>
            <a:r>
              <a:rPr lang="en-US" sz="1200">
                <a:solidFill>
                  <a:srgbClr val="000000"/>
                </a:solidFill>
                <a:latin typeface="Meta Offc"/>
              </a:rPr>
              <a:t>5. The S-CSCF typically sends the P-CSCF a 401 (UNAUTHORIZED) response as well as a challenge string in the form of a “number used once” or “nonce”. </a:t>
            </a:r>
          </a:p>
          <a:p>
            <a:r>
              <a:rPr lang="en-US" sz="1200">
                <a:solidFill>
                  <a:srgbClr val="000000"/>
                </a:solidFill>
                <a:latin typeface="Meta Offc"/>
              </a:rPr>
              <a:t>6. The P-CSCF forwards the 401 – UNAUTHORIZED response to the UE. </a:t>
            </a:r>
          </a:p>
          <a:p>
            <a:r>
              <a:rPr lang="en-US" sz="1200">
                <a:solidFill>
                  <a:srgbClr val="000000"/>
                </a:solidFill>
                <a:latin typeface="Meta Offc"/>
              </a:rPr>
              <a:t>7. Both the UE and the network have stored some </a:t>
            </a:r>
            <a:r>
              <a:rPr lang="en-US" sz="1200">
                <a:solidFill>
                  <a:srgbClr val="FF0000"/>
                </a:solidFill>
                <a:latin typeface="Meta Offc"/>
              </a:rPr>
              <a:t>Shared Secret Data (SSD), </a:t>
            </a:r>
            <a:r>
              <a:rPr lang="en-US" sz="1200">
                <a:solidFill>
                  <a:srgbClr val="000000"/>
                </a:solidFill>
                <a:latin typeface="Meta Offc"/>
              </a:rPr>
              <a:t>the UE in its ISIM or USIM and the network on the HSS. The UE uses an algorithm to hash the SSD and the nonce.” </a:t>
            </a:r>
          </a:p>
          <a:p>
            <a:r>
              <a:rPr lang="en-US" sz="1200">
                <a:solidFill>
                  <a:srgbClr val="000000"/>
                </a:solidFill>
                <a:latin typeface="Meta Offc"/>
              </a:rPr>
              <a:t>8. The UE sends a REGISTER request to the P-CSCF. This time the request includes the result of the hashed nonce and SSD. </a:t>
            </a:r>
          </a:p>
          <a:p>
            <a:r>
              <a:rPr lang="en-US" sz="1200">
                <a:solidFill>
                  <a:srgbClr val="000000"/>
                </a:solidFill>
                <a:latin typeface="Meta Offc"/>
              </a:rPr>
              <a:t>9. The P-CSCF forwards the new REGISTER request to the I-CSCF. </a:t>
            </a:r>
          </a:p>
          <a:p>
            <a:r>
              <a:rPr lang="en-US" sz="1200">
                <a:solidFill>
                  <a:srgbClr val="000000"/>
                </a:solidFill>
                <a:latin typeface="Meta Offc"/>
              </a:rPr>
              <a:t>10. The I-CSCF forwards the new REGISTER request to the S-CSCF. </a:t>
            </a:r>
          </a:p>
          <a:p>
            <a:r>
              <a:rPr lang="en-US" sz="1200">
                <a:solidFill>
                  <a:srgbClr val="000000"/>
                </a:solidFill>
                <a:latin typeface="Meta Offc"/>
              </a:rPr>
              <a:t>11. The S-CSCF polls the HSS (via the I-CSCF) for the SSD, hashes it against the nonce and determines whether the UE should be allowed to register. Assuming the hashed values match, the S-CSCF sends 200 – OK response to the P-CSCF. At this point an </a:t>
            </a:r>
            <a:r>
              <a:rPr lang="en-US" sz="1200" err="1">
                <a:solidFill>
                  <a:srgbClr val="000000"/>
                </a:solidFill>
                <a:latin typeface="Meta Offc"/>
              </a:rPr>
              <a:t>IPSec</a:t>
            </a:r>
            <a:r>
              <a:rPr lang="en-US" sz="1200">
                <a:solidFill>
                  <a:srgbClr val="000000"/>
                </a:solidFill>
                <a:latin typeface="Meta Offc"/>
              </a:rPr>
              <a:t> security association is established by the P-CSCF. </a:t>
            </a:r>
          </a:p>
          <a:p>
            <a:r>
              <a:rPr lang="en-US" sz="1200">
                <a:solidFill>
                  <a:srgbClr val="000000"/>
                </a:solidFill>
                <a:latin typeface="Meta Offc"/>
              </a:rPr>
              <a:t>12. The P-CSCF forwards the 200 – OK response to the UE. </a:t>
            </a:r>
          </a:p>
        </p:txBody>
      </p:sp>
      <p:sp>
        <p:nvSpPr>
          <p:cNvPr id="5" name="Rectangle 4"/>
          <p:cNvSpPr/>
          <p:nvPr/>
        </p:nvSpPr>
        <p:spPr>
          <a:xfrm>
            <a:off x="5992496" y="243230"/>
            <a:ext cx="1992405" cy="646331"/>
          </a:xfrm>
          <a:prstGeom prst="rect">
            <a:avLst/>
          </a:prstGeom>
        </p:spPr>
        <p:txBody>
          <a:bodyPr wrap="none">
            <a:spAutoFit/>
          </a:bodyPr>
          <a:lstStyle/>
          <a:p>
            <a:r>
              <a:rPr lang="en-US" sz="1200"/>
              <a:t>Call Session Control Function</a:t>
            </a:r>
          </a:p>
          <a:p>
            <a:r>
              <a:rPr lang="en-US" sz="1200"/>
              <a:t>Proxy/Serving/ Interrogating</a:t>
            </a:r>
          </a:p>
          <a:p>
            <a:r>
              <a:rPr lang="en-US" sz="1200"/>
              <a:t>Home Subscriber Server </a:t>
            </a:r>
          </a:p>
        </p:txBody>
      </p:sp>
    </p:spTree>
    <p:extLst>
      <p:ext uri="{BB962C8B-B14F-4D97-AF65-F5344CB8AC3E}">
        <p14:creationId xmlns:p14="http://schemas.microsoft.com/office/powerpoint/2010/main" val="3683321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loud"/>
          <p:cNvSpPr>
            <a:spLocks noChangeAspect="1" noEditPoints="1" noChangeArrowheads="1"/>
          </p:cNvSpPr>
          <p:nvPr/>
        </p:nvSpPr>
        <p:spPr bwMode="auto">
          <a:xfrm>
            <a:off x="7896225" y="908051"/>
            <a:ext cx="2249488" cy="4906963"/>
          </a:xfrm>
          <a:custGeom>
            <a:avLst/>
            <a:gdLst>
              <a:gd name="T0" fmla="*/ 6978 w 21600"/>
              <a:gd name="T1" fmla="*/ 2453482 h 21600"/>
              <a:gd name="T2" fmla="*/ 1124744 w 21600"/>
              <a:gd name="T3" fmla="*/ 4901738 h 21600"/>
              <a:gd name="T4" fmla="*/ 2247613 w 21600"/>
              <a:gd name="T5" fmla="*/ 2453482 h 21600"/>
              <a:gd name="T6" fmla="*/ 1124744 w 21600"/>
              <a:gd name="T7" fmla="*/ 280560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99"/>
          </a:solidFill>
          <a:ln w="9525">
            <a:solidFill>
              <a:srgbClr val="000000"/>
            </a:solidFill>
            <a:miter lim="800000"/>
            <a:headEnd/>
            <a:tailEnd/>
          </a:ln>
          <a:effectLst>
            <a:outerShdw dist="107763" dir="2700000" algn="ctr" rotWithShape="0">
              <a:srgbClr val="808080"/>
            </a:outerShdw>
          </a:effectLst>
        </p:spPr>
        <p:txBody>
          <a:bodyPr/>
          <a:lstStyle/>
          <a:p>
            <a:pPr algn="ctr" fontAlgn="base">
              <a:spcBef>
                <a:spcPct val="0"/>
              </a:spcBef>
              <a:spcAft>
                <a:spcPct val="0"/>
              </a:spcAft>
            </a:pPr>
            <a:endParaRPr lang="en-US" sz="2000">
              <a:solidFill>
                <a:srgbClr val="58585A"/>
              </a:solidFill>
            </a:endParaRPr>
          </a:p>
        </p:txBody>
      </p:sp>
      <p:sp>
        <p:nvSpPr>
          <p:cNvPr id="8195" name="Rectangle 3"/>
          <p:cNvSpPr>
            <a:spLocks noGrp="1" noChangeArrowheads="1"/>
          </p:cNvSpPr>
          <p:nvPr>
            <p:ph type="title"/>
          </p:nvPr>
        </p:nvSpPr>
        <p:spPr>
          <a:xfrm>
            <a:off x="1974119" y="229076"/>
            <a:ext cx="7826375" cy="341632"/>
          </a:xfrm>
          <a:solidFill>
            <a:srgbClr val="FFC000"/>
          </a:solidFill>
        </p:spPr>
        <p:txBody>
          <a:bodyPr vert="horz" wrap="square" lIns="91440" tIns="45720" rIns="91440" bIns="45720" rtlCol="0" anchor="ctr">
            <a:spAutoFit/>
          </a:bodyPr>
          <a:lstStyle/>
          <a:p>
            <a:pPr algn="ctr"/>
            <a:r>
              <a:rPr lang="en-US" altLang="en-US" sz="1800">
                <a:latin typeface="+mn-lt"/>
                <a:ea typeface="+mn-ea"/>
                <a:cs typeface="+mn-cs"/>
              </a:rPr>
              <a:t>IMS Call is Answered</a:t>
            </a:r>
          </a:p>
        </p:txBody>
      </p:sp>
      <p:sp>
        <p:nvSpPr>
          <p:cNvPr id="8196" name="Text Box 4"/>
          <p:cNvSpPr txBox="1">
            <a:spLocks noChangeArrowheads="1"/>
          </p:cNvSpPr>
          <p:nvPr/>
        </p:nvSpPr>
        <p:spPr bwMode="auto">
          <a:xfrm>
            <a:off x="2000250" y="1560514"/>
            <a:ext cx="35860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UE</a:t>
            </a:r>
          </a:p>
        </p:txBody>
      </p:sp>
      <p:sp>
        <p:nvSpPr>
          <p:cNvPr id="8197" name="Text Box 5"/>
          <p:cNvSpPr txBox="1">
            <a:spLocks noChangeArrowheads="1"/>
          </p:cNvSpPr>
          <p:nvPr/>
        </p:nvSpPr>
        <p:spPr bwMode="auto">
          <a:xfrm>
            <a:off x="2908301" y="1560514"/>
            <a:ext cx="4435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eNB</a:t>
            </a:r>
          </a:p>
        </p:txBody>
      </p:sp>
      <p:sp>
        <p:nvSpPr>
          <p:cNvPr id="8198" name="Text Box 6"/>
          <p:cNvSpPr txBox="1">
            <a:spLocks noChangeArrowheads="1"/>
          </p:cNvSpPr>
          <p:nvPr/>
        </p:nvSpPr>
        <p:spPr bwMode="auto">
          <a:xfrm>
            <a:off x="3900489" y="1560514"/>
            <a:ext cx="504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MME</a:t>
            </a:r>
          </a:p>
        </p:txBody>
      </p:sp>
      <p:sp>
        <p:nvSpPr>
          <p:cNvPr id="8199" name="Text Box 7"/>
          <p:cNvSpPr txBox="1">
            <a:spLocks noChangeArrowheads="1"/>
          </p:cNvSpPr>
          <p:nvPr/>
        </p:nvSpPr>
        <p:spPr bwMode="auto">
          <a:xfrm>
            <a:off x="4954588" y="1560514"/>
            <a:ext cx="5397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SGW</a:t>
            </a:r>
          </a:p>
        </p:txBody>
      </p:sp>
      <p:sp>
        <p:nvSpPr>
          <p:cNvPr id="8200" name="Text Box 8"/>
          <p:cNvSpPr txBox="1">
            <a:spLocks noChangeArrowheads="1"/>
          </p:cNvSpPr>
          <p:nvPr/>
        </p:nvSpPr>
        <p:spPr bwMode="auto">
          <a:xfrm>
            <a:off x="6048376" y="1562101"/>
            <a:ext cx="51409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PGW</a:t>
            </a:r>
          </a:p>
        </p:txBody>
      </p:sp>
      <p:sp>
        <p:nvSpPr>
          <p:cNvPr id="8201" name="Text Box 9"/>
          <p:cNvSpPr txBox="1">
            <a:spLocks noChangeArrowheads="1"/>
          </p:cNvSpPr>
          <p:nvPr/>
        </p:nvSpPr>
        <p:spPr bwMode="auto">
          <a:xfrm>
            <a:off x="7112001" y="1562101"/>
            <a:ext cx="5637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PCRF</a:t>
            </a:r>
          </a:p>
        </p:txBody>
      </p:sp>
      <p:sp>
        <p:nvSpPr>
          <p:cNvPr id="8202" name="Text Box 10"/>
          <p:cNvSpPr txBox="1">
            <a:spLocks noChangeArrowheads="1"/>
          </p:cNvSpPr>
          <p:nvPr/>
        </p:nvSpPr>
        <p:spPr bwMode="auto">
          <a:xfrm>
            <a:off x="8223251" y="1562101"/>
            <a:ext cx="5637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CSCF</a:t>
            </a:r>
          </a:p>
        </p:txBody>
      </p:sp>
      <p:sp>
        <p:nvSpPr>
          <p:cNvPr id="8203" name="Text Box 11"/>
          <p:cNvSpPr txBox="1">
            <a:spLocks noChangeArrowheads="1"/>
          </p:cNvSpPr>
          <p:nvPr/>
        </p:nvSpPr>
        <p:spPr bwMode="auto">
          <a:xfrm>
            <a:off x="9336088" y="1562101"/>
            <a:ext cx="47081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SBG</a:t>
            </a:r>
          </a:p>
        </p:txBody>
      </p:sp>
      <p:sp>
        <p:nvSpPr>
          <p:cNvPr id="8204" name="Line 12"/>
          <p:cNvSpPr>
            <a:spLocks noChangeShapeType="1"/>
          </p:cNvSpPr>
          <p:nvPr/>
        </p:nvSpPr>
        <p:spPr bwMode="auto">
          <a:xfrm>
            <a:off x="2181225" y="1808164"/>
            <a:ext cx="0" cy="42306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8205" name="Line 13"/>
          <p:cNvSpPr>
            <a:spLocks noChangeShapeType="1"/>
          </p:cNvSpPr>
          <p:nvPr/>
        </p:nvSpPr>
        <p:spPr bwMode="auto">
          <a:xfrm>
            <a:off x="3125788" y="1808164"/>
            <a:ext cx="0" cy="42306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8206" name="Line 14"/>
          <p:cNvSpPr>
            <a:spLocks noChangeShapeType="1"/>
          </p:cNvSpPr>
          <p:nvPr/>
        </p:nvSpPr>
        <p:spPr bwMode="auto">
          <a:xfrm>
            <a:off x="4116388" y="1808164"/>
            <a:ext cx="0" cy="42306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8207" name="Line 15"/>
          <p:cNvSpPr>
            <a:spLocks noChangeShapeType="1"/>
          </p:cNvSpPr>
          <p:nvPr/>
        </p:nvSpPr>
        <p:spPr bwMode="auto">
          <a:xfrm>
            <a:off x="5195888" y="1854200"/>
            <a:ext cx="0" cy="42306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8208" name="Line 16"/>
          <p:cNvSpPr>
            <a:spLocks noChangeShapeType="1"/>
          </p:cNvSpPr>
          <p:nvPr/>
        </p:nvSpPr>
        <p:spPr bwMode="auto">
          <a:xfrm>
            <a:off x="6275388" y="1898650"/>
            <a:ext cx="0" cy="42306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8209" name="Line 17"/>
          <p:cNvSpPr>
            <a:spLocks noChangeShapeType="1"/>
          </p:cNvSpPr>
          <p:nvPr/>
        </p:nvSpPr>
        <p:spPr bwMode="auto">
          <a:xfrm>
            <a:off x="7356475" y="1898650"/>
            <a:ext cx="0" cy="41862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8210" name="Line 18"/>
          <p:cNvSpPr>
            <a:spLocks noChangeShapeType="1"/>
          </p:cNvSpPr>
          <p:nvPr/>
        </p:nvSpPr>
        <p:spPr bwMode="auto">
          <a:xfrm>
            <a:off x="8482013" y="1898650"/>
            <a:ext cx="0" cy="42306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8211" name="Line 19"/>
          <p:cNvSpPr>
            <a:spLocks noChangeShapeType="1"/>
          </p:cNvSpPr>
          <p:nvPr/>
        </p:nvSpPr>
        <p:spPr bwMode="auto">
          <a:xfrm>
            <a:off x="9561513" y="1854200"/>
            <a:ext cx="0" cy="4319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8212" name="Text Box 20"/>
          <p:cNvSpPr txBox="1">
            <a:spLocks noChangeArrowheads="1"/>
          </p:cNvSpPr>
          <p:nvPr/>
        </p:nvSpPr>
        <p:spPr bwMode="auto">
          <a:xfrm>
            <a:off x="9201151" y="1179513"/>
            <a:ext cx="555775" cy="369332"/>
          </a:xfrm>
          <a:prstGeom prst="rect">
            <a:avLst/>
          </a:prstGeom>
          <a:solidFill>
            <a:srgbClr val="FFFF99"/>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800">
                <a:solidFill>
                  <a:srgbClr val="58585A"/>
                </a:solidFill>
              </a:rPr>
              <a:t>IMS</a:t>
            </a:r>
          </a:p>
        </p:txBody>
      </p:sp>
      <p:sp>
        <p:nvSpPr>
          <p:cNvPr id="8214" name="Text Box 22"/>
          <p:cNvSpPr txBox="1">
            <a:spLocks noChangeArrowheads="1"/>
          </p:cNvSpPr>
          <p:nvPr/>
        </p:nvSpPr>
        <p:spPr bwMode="auto">
          <a:xfrm>
            <a:off x="4116389" y="2124076"/>
            <a:ext cx="184939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400">
                <a:solidFill>
                  <a:srgbClr val="FFFFFF"/>
                </a:solidFill>
              </a:rPr>
              <a:t>IMS PDN Connection</a:t>
            </a:r>
          </a:p>
        </p:txBody>
      </p:sp>
      <p:sp>
        <p:nvSpPr>
          <p:cNvPr id="8217" name="AutoShape 25"/>
          <p:cNvSpPr>
            <a:spLocks noChangeArrowheads="1"/>
          </p:cNvSpPr>
          <p:nvPr/>
        </p:nvSpPr>
        <p:spPr bwMode="auto">
          <a:xfrm rot="-5400000">
            <a:off x="3890964" y="1268414"/>
            <a:ext cx="674687" cy="3735387"/>
          </a:xfrm>
          <a:prstGeom prst="can">
            <a:avLst>
              <a:gd name="adj" fmla="val 44676"/>
            </a:avLst>
          </a:prstGeom>
          <a:solidFill>
            <a:srgbClr val="FF99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ctr" eaLnBrk="1" fontAlgn="base" hangingPunct="1">
              <a:spcBef>
                <a:spcPct val="0"/>
              </a:spcBef>
              <a:spcAft>
                <a:spcPct val="0"/>
              </a:spcAft>
            </a:pPr>
            <a:endParaRPr lang="en-US" altLang="en-US">
              <a:solidFill>
                <a:srgbClr val="58585A"/>
              </a:solidFill>
            </a:endParaRPr>
          </a:p>
        </p:txBody>
      </p:sp>
      <p:sp>
        <p:nvSpPr>
          <p:cNvPr id="8218" name="Text Box 26"/>
          <p:cNvSpPr txBox="1">
            <a:spLocks noChangeArrowheads="1"/>
          </p:cNvSpPr>
          <p:nvPr/>
        </p:nvSpPr>
        <p:spPr bwMode="auto">
          <a:xfrm>
            <a:off x="2944814" y="2843213"/>
            <a:ext cx="194878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800">
                <a:solidFill>
                  <a:srgbClr val="58585A"/>
                </a:solidFill>
              </a:rPr>
              <a:t>Default  Bearer QCI = 5. IMS Signaling.</a:t>
            </a:r>
          </a:p>
        </p:txBody>
      </p:sp>
      <p:sp>
        <p:nvSpPr>
          <p:cNvPr id="8219" name="AutoShape 27"/>
          <p:cNvSpPr>
            <a:spLocks noChangeArrowheads="1"/>
          </p:cNvSpPr>
          <p:nvPr/>
        </p:nvSpPr>
        <p:spPr bwMode="auto">
          <a:xfrm rot="-5400000">
            <a:off x="3822701" y="2101851"/>
            <a:ext cx="676275" cy="3689350"/>
          </a:xfrm>
          <a:prstGeom prst="can">
            <a:avLst>
              <a:gd name="adj" fmla="val 42380"/>
            </a:avLst>
          </a:prstGeom>
          <a:solidFill>
            <a:srgbClr val="FFCC66"/>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ctr" eaLnBrk="1" fontAlgn="base" hangingPunct="1">
              <a:spcBef>
                <a:spcPct val="0"/>
              </a:spcBef>
              <a:spcAft>
                <a:spcPct val="0"/>
              </a:spcAft>
            </a:pPr>
            <a:endParaRPr lang="en-US" altLang="en-US">
              <a:solidFill>
                <a:srgbClr val="58585A"/>
              </a:solidFill>
            </a:endParaRPr>
          </a:p>
        </p:txBody>
      </p:sp>
      <p:sp>
        <p:nvSpPr>
          <p:cNvPr id="8220" name="Text Box 28"/>
          <p:cNvSpPr txBox="1">
            <a:spLocks noChangeArrowheads="1"/>
          </p:cNvSpPr>
          <p:nvPr/>
        </p:nvSpPr>
        <p:spPr bwMode="auto">
          <a:xfrm>
            <a:off x="2900363" y="3608388"/>
            <a:ext cx="218442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800">
                <a:solidFill>
                  <a:srgbClr val="58585A"/>
                </a:solidFill>
              </a:rPr>
              <a:t>Dedicated  Bearer QCI = 1 Interactive Voice.</a:t>
            </a:r>
          </a:p>
        </p:txBody>
      </p:sp>
      <p:sp>
        <p:nvSpPr>
          <p:cNvPr id="347165" name="Line 29"/>
          <p:cNvSpPr>
            <a:spLocks noChangeShapeType="1"/>
          </p:cNvSpPr>
          <p:nvPr/>
        </p:nvSpPr>
        <p:spPr bwMode="auto">
          <a:xfrm flipH="1">
            <a:off x="6275389" y="3068638"/>
            <a:ext cx="2206625"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7166" name="Text Box 30"/>
          <p:cNvSpPr txBox="1">
            <a:spLocks noChangeArrowheads="1"/>
          </p:cNvSpPr>
          <p:nvPr/>
        </p:nvSpPr>
        <p:spPr bwMode="auto">
          <a:xfrm>
            <a:off x="6996114" y="2843214"/>
            <a:ext cx="5766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000">
                <a:solidFill>
                  <a:srgbClr val="58585A"/>
                </a:solidFill>
              </a:rPr>
              <a:t>200 OK</a:t>
            </a:r>
          </a:p>
        </p:txBody>
      </p:sp>
      <p:sp>
        <p:nvSpPr>
          <p:cNvPr id="347167" name="Line 31"/>
          <p:cNvSpPr>
            <a:spLocks noChangeShapeType="1"/>
          </p:cNvSpPr>
          <p:nvPr/>
        </p:nvSpPr>
        <p:spPr bwMode="auto">
          <a:xfrm flipH="1">
            <a:off x="2181226" y="3294063"/>
            <a:ext cx="4094163"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7168" name="Text Box 32"/>
          <p:cNvSpPr txBox="1">
            <a:spLocks noChangeArrowheads="1"/>
          </p:cNvSpPr>
          <p:nvPr/>
        </p:nvSpPr>
        <p:spPr bwMode="auto">
          <a:xfrm>
            <a:off x="4205289" y="3068639"/>
            <a:ext cx="5766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000">
                <a:solidFill>
                  <a:srgbClr val="58585A"/>
                </a:solidFill>
              </a:rPr>
              <a:t>200 OK</a:t>
            </a:r>
          </a:p>
        </p:txBody>
      </p:sp>
      <p:sp>
        <p:nvSpPr>
          <p:cNvPr id="347169" name="AutoShape 33"/>
          <p:cNvSpPr>
            <a:spLocks noChangeArrowheads="1"/>
          </p:cNvSpPr>
          <p:nvPr/>
        </p:nvSpPr>
        <p:spPr bwMode="auto">
          <a:xfrm>
            <a:off x="2225676" y="3833813"/>
            <a:ext cx="4005263" cy="360362"/>
          </a:xfrm>
          <a:prstGeom prst="leftRightArrow">
            <a:avLst>
              <a:gd name="adj1" fmla="val 49407"/>
              <a:gd name="adj2" fmla="val 98487"/>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ctr" eaLnBrk="1" fontAlgn="base" hangingPunct="1">
              <a:spcBef>
                <a:spcPct val="0"/>
              </a:spcBef>
              <a:spcAft>
                <a:spcPct val="0"/>
              </a:spcAft>
            </a:pPr>
            <a:endParaRPr lang="en-US" altLang="en-US">
              <a:solidFill>
                <a:srgbClr val="58585A"/>
              </a:solidFill>
            </a:endParaRPr>
          </a:p>
        </p:txBody>
      </p:sp>
      <p:sp>
        <p:nvSpPr>
          <p:cNvPr id="347170" name="Text Box 34"/>
          <p:cNvSpPr txBox="1">
            <a:spLocks noChangeArrowheads="1"/>
          </p:cNvSpPr>
          <p:nvPr/>
        </p:nvSpPr>
        <p:spPr bwMode="auto">
          <a:xfrm>
            <a:off x="3890963" y="3879851"/>
            <a:ext cx="88920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000">
                <a:solidFill>
                  <a:srgbClr val="58585A"/>
                </a:solidFill>
              </a:rPr>
              <a:t>Packet Voice</a:t>
            </a:r>
          </a:p>
        </p:txBody>
      </p:sp>
      <p:sp>
        <p:nvSpPr>
          <p:cNvPr id="347171" name="AutoShape 35"/>
          <p:cNvSpPr>
            <a:spLocks noChangeArrowheads="1"/>
          </p:cNvSpPr>
          <p:nvPr/>
        </p:nvSpPr>
        <p:spPr bwMode="auto">
          <a:xfrm>
            <a:off x="6275389" y="3833813"/>
            <a:ext cx="3286125" cy="360362"/>
          </a:xfrm>
          <a:prstGeom prst="leftRightArrow">
            <a:avLst>
              <a:gd name="adj1" fmla="val 49407"/>
              <a:gd name="adj2" fmla="val 80804"/>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ctr" eaLnBrk="1" fontAlgn="base" hangingPunct="1">
              <a:spcBef>
                <a:spcPct val="0"/>
              </a:spcBef>
              <a:spcAft>
                <a:spcPct val="0"/>
              </a:spcAft>
            </a:pPr>
            <a:endParaRPr lang="en-US" altLang="en-US">
              <a:solidFill>
                <a:srgbClr val="58585A"/>
              </a:solidFill>
            </a:endParaRPr>
          </a:p>
        </p:txBody>
      </p:sp>
      <p:sp>
        <p:nvSpPr>
          <p:cNvPr id="347172" name="Text Box 36"/>
          <p:cNvSpPr txBox="1">
            <a:spLocks noChangeArrowheads="1"/>
          </p:cNvSpPr>
          <p:nvPr/>
        </p:nvSpPr>
        <p:spPr bwMode="auto">
          <a:xfrm>
            <a:off x="7491413" y="3878264"/>
            <a:ext cx="88920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000">
                <a:solidFill>
                  <a:srgbClr val="58585A"/>
                </a:solidFill>
              </a:rPr>
              <a:t>Packet Voice</a:t>
            </a:r>
          </a:p>
        </p:txBody>
      </p:sp>
      <p:sp>
        <p:nvSpPr>
          <p:cNvPr id="37" name="Rectangle 36"/>
          <p:cNvSpPr/>
          <p:nvPr/>
        </p:nvSpPr>
        <p:spPr bwMode="auto">
          <a:xfrm>
            <a:off x="10999304" y="225287"/>
            <a:ext cx="834887" cy="861391"/>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none" lIns="72000" tIns="45720" rIns="7200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endParaRPr>
          </a:p>
        </p:txBody>
      </p:sp>
      <p:sp>
        <p:nvSpPr>
          <p:cNvPr id="38" name="Rectangle 37"/>
          <p:cNvSpPr/>
          <p:nvPr/>
        </p:nvSpPr>
        <p:spPr bwMode="auto">
          <a:xfrm>
            <a:off x="516835" y="6520070"/>
            <a:ext cx="3167269" cy="225287"/>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none" lIns="72000" tIns="45720" rIns="7200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9514416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47165"/>
                                        </p:tgtEl>
                                        <p:attrNameLst>
                                          <p:attrName>style.visibility</p:attrName>
                                        </p:attrNameLst>
                                      </p:cBhvr>
                                      <p:to>
                                        <p:strVal val="visible"/>
                                      </p:to>
                                    </p:set>
                                    <p:animEffect transition="in" filter="wipe(right)">
                                      <p:cBhvr>
                                        <p:cTn id="7" dur="500"/>
                                        <p:tgtEl>
                                          <p:spTgt spid="347165"/>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347166"/>
                                        </p:tgtEl>
                                        <p:attrNameLst>
                                          <p:attrName>style.visibility</p:attrName>
                                        </p:attrNameLst>
                                      </p:cBhvr>
                                      <p:to>
                                        <p:strVal val="visible"/>
                                      </p:to>
                                    </p:set>
                                    <p:animEffect transition="in" filter="wipe(right)">
                                      <p:cBhvr>
                                        <p:cTn id="10" dur="500"/>
                                        <p:tgtEl>
                                          <p:spTgt spid="347166"/>
                                        </p:tgtEl>
                                      </p:cBhvr>
                                    </p:animEffect>
                                  </p:childTnLst>
                                </p:cTn>
                              </p:par>
                            </p:childTnLst>
                          </p:cTn>
                        </p:par>
                        <p:par>
                          <p:cTn id="11" fill="hold" nodeType="afterGroup">
                            <p:stCondLst>
                              <p:cond delay="500"/>
                            </p:stCondLst>
                            <p:childTnLst>
                              <p:par>
                                <p:cTn id="12" presetID="22" presetClass="entr" presetSubtype="2" fill="hold" grpId="0" nodeType="afterEffect">
                                  <p:stCondLst>
                                    <p:cond delay="0"/>
                                  </p:stCondLst>
                                  <p:childTnLst>
                                    <p:set>
                                      <p:cBhvr>
                                        <p:cTn id="13" dur="1" fill="hold">
                                          <p:stCondLst>
                                            <p:cond delay="0"/>
                                          </p:stCondLst>
                                        </p:cTn>
                                        <p:tgtEl>
                                          <p:spTgt spid="347167"/>
                                        </p:tgtEl>
                                        <p:attrNameLst>
                                          <p:attrName>style.visibility</p:attrName>
                                        </p:attrNameLst>
                                      </p:cBhvr>
                                      <p:to>
                                        <p:strVal val="visible"/>
                                      </p:to>
                                    </p:set>
                                    <p:animEffect transition="in" filter="wipe(right)">
                                      <p:cBhvr>
                                        <p:cTn id="14" dur="500"/>
                                        <p:tgtEl>
                                          <p:spTgt spid="347167"/>
                                        </p:tgtEl>
                                      </p:cBhvr>
                                    </p:animEffect>
                                  </p:childTnLst>
                                </p:cTn>
                              </p:par>
                              <p:par>
                                <p:cTn id="15" presetID="22" presetClass="entr" presetSubtype="2" fill="hold" grpId="0" nodeType="withEffect">
                                  <p:stCondLst>
                                    <p:cond delay="0"/>
                                  </p:stCondLst>
                                  <p:childTnLst>
                                    <p:set>
                                      <p:cBhvr>
                                        <p:cTn id="16" dur="1" fill="hold">
                                          <p:stCondLst>
                                            <p:cond delay="0"/>
                                          </p:stCondLst>
                                        </p:cTn>
                                        <p:tgtEl>
                                          <p:spTgt spid="347168"/>
                                        </p:tgtEl>
                                        <p:attrNameLst>
                                          <p:attrName>style.visibility</p:attrName>
                                        </p:attrNameLst>
                                      </p:cBhvr>
                                      <p:to>
                                        <p:strVal val="visible"/>
                                      </p:to>
                                    </p:set>
                                    <p:animEffect transition="in" filter="wipe(right)">
                                      <p:cBhvr>
                                        <p:cTn id="17" dur="500"/>
                                        <p:tgtEl>
                                          <p:spTgt spid="3471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47169"/>
                                        </p:tgtEl>
                                        <p:attrNameLst>
                                          <p:attrName>style.visibility</p:attrName>
                                        </p:attrNameLst>
                                      </p:cBhvr>
                                      <p:to>
                                        <p:strVal val="visible"/>
                                      </p:to>
                                    </p:set>
                                    <p:animEffect transition="in" filter="blinds(horizontal)">
                                      <p:cBhvr>
                                        <p:cTn id="22" dur="500"/>
                                        <p:tgtEl>
                                          <p:spTgt spid="347169"/>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347170"/>
                                        </p:tgtEl>
                                        <p:attrNameLst>
                                          <p:attrName>style.visibility</p:attrName>
                                        </p:attrNameLst>
                                      </p:cBhvr>
                                      <p:to>
                                        <p:strVal val="visible"/>
                                      </p:to>
                                    </p:set>
                                    <p:animEffect transition="in" filter="blinds(horizontal)">
                                      <p:cBhvr>
                                        <p:cTn id="25" dur="500"/>
                                        <p:tgtEl>
                                          <p:spTgt spid="347170"/>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347171"/>
                                        </p:tgtEl>
                                        <p:attrNameLst>
                                          <p:attrName>style.visibility</p:attrName>
                                        </p:attrNameLst>
                                      </p:cBhvr>
                                      <p:to>
                                        <p:strVal val="visible"/>
                                      </p:to>
                                    </p:set>
                                    <p:animEffect transition="in" filter="blinds(horizontal)">
                                      <p:cBhvr>
                                        <p:cTn id="28" dur="500"/>
                                        <p:tgtEl>
                                          <p:spTgt spid="347171"/>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347172"/>
                                        </p:tgtEl>
                                        <p:attrNameLst>
                                          <p:attrName>style.visibility</p:attrName>
                                        </p:attrNameLst>
                                      </p:cBhvr>
                                      <p:to>
                                        <p:strVal val="visible"/>
                                      </p:to>
                                    </p:set>
                                    <p:animEffect transition="in" filter="blinds(horizontal)">
                                      <p:cBhvr>
                                        <p:cTn id="31" dur="500"/>
                                        <p:tgtEl>
                                          <p:spTgt spid="347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65" grpId="0" animBg="1"/>
      <p:bldP spid="347166" grpId="0"/>
      <p:bldP spid="347167" grpId="0" animBg="1"/>
      <p:bldP spid="347168" grpId="0"/>
      <p:bldP spid="347169" grpId="0" animBg="1"/>
      <p:bldP spid="347170" grpId="0"/>
      <p:bldP spid="347171" grpId="0" animBg="1"/>
      <p:bldP spid="34717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loud"/>
          <p:cNvSpPr>
            <a:spLocks noChangeAspect="1" noEditPoints="1" noChangeArrowheads="1"/>
          </p:cNvSpPr>
          <p:nvPr/>
        </p:nvSpPr>
        <p:spPr bwMode="auto">
          <a:xfrm>
            <a:off x="7896225" y="908051"/>
            <a:ext cx="2249488" cy="4906963"/>
          </a:xfrm>
          <a:custGeom>
            <a:avLst/>
            <a:gdLst>
              <a:gd name="T0" fmla="*/ 6978 w 21600"/>
              <a:gd name="T1" fmla="*/ 2453482 h 21600"/>
              <a:gd name="T2" fmla="*/ 1124744 w 21600"/>
              <a:gd name="T3" fmla="*/ 4901738 h 21600"/>
              <a:gd name="T4" fmla="*/ 2247613 w 21600"/>
              <a:gd name="T5" fmla="*/ 2453482 h 21600"/>
              <a:gd name="T6" fmla="*/ 1124744 w 21600"/>
              <a:gd name="T7" fmla="*/ 280560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FF99"/>
          </a:solidFill>
          <a:ln w="9525">
            <a:solidFill>
              <a:srgbClr val="000000"/>
            </a:solidFill>
            <a:miter lim="800000"/>
            <a:headEnd/>
            <a:tailEnd/>
          </a:ln>
          <a:effectLst>
            <a:outerShdw dist="107763" dir="2700000" algn="ctr" rotWithShape="0">
              <a:srgbClr val="808080"/>
            </a:outerShdw>
          </a:effectLst>
        </p:spPr>
        <p:txBody>
          <a:bodyPr/>
          <a:lstStyle/>
          <a:p>
            <a:pPr algn="ctr" fontAlgn="base">
              <a:spcBef>
                <a:spcPct val="0"/>
              </a:spcBef>
              <a:spcAft>
                <a:spcPct val="0"/>
              </a:spcAft>
            </a:pPr>
            <a:endParaRPr lang="en-US" sz="2000">
              <a:solidFill>
                <a:srgbClr val="58585A"/>
              </a:solidFill>
            </a:endParaRPr>
          </a:p>
        </p:txBody>
      </p:sp>
      <p:sp>
        <p:nvSpPr>
          <p:cNvPr id="9219" name="Rectangle 3"/>
          <p:cNvSpPr>
            <a:spLocks noGrp="1" noChangeArrowheads="1"/>
          </p:cNvSpPr>
          <p:nvPr>
            <p:ph type="title"/>
          </p:nvPr>
        </p:nvSpPr>
        <p:spPr>
          <a:xfrm>
            <a:off x="2000250" y="215422"/>
            <a:ext cx="7826375" cy="341632"/>
          </a:xfrm>
          <a:solidFill>
            <a:srgbClr val="FFC000"/>
          </a:solidFill>
        </p:spPr>
        <p:txBody>
          <a:bodyPr vert="horz" wrap="square" lIns="91440" tIns="45720" rIns="91440" bIns="45720" rtlCol="0" anchor="ctr">
            <a:spAutoFit/>
          </a:bodyPr>
          <a:lstStyle/>
          <a:p>
            <a:pPr algn="ctr"/>
            <a:r>
              <a:rPr lang="en-US" altLang="en-US" sz="1800">
                <a:latin typeface="+mn-lt"/>
                <a:ea typeface="+mn-ea"/>
                <a:cs typeface="+mn-cs"/>
              </a:rPr>
              <a:t>IMS Call is Ended</a:t>
            </a:r>
          </a:p>
        </p:txBody>
      </p:sp>
      <p:sp>
        <p:nvSpPr>
          <p:cNvPr id="9220" name="Text Box 4"/>
          <p:cNvSpPr txBox="1">
            <a:spLocks noChangeArrowheads="1"/>
          </p:cNvSpPr>
          <p:nvPr/>
        </p:nvSpPr>
        <p:spPr bwMode="auto">
          <a:xfrm>
            <a:off x="2000250" y="1560514"/>
            <a:ext cx="35860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UE</a:t>
            </a:r>
          </a:p>
        </p:txBody>
      </p:sp>
      <p:sp>
        <p:nvSpPr>
          <p:cNvPr id="9221" name="Text Box 5"/>
          <p:cNvSpPr txBox="1">
            <a:spLocks noChangeArrowheads="1"/>
          </p:cNvSpPr>
          <p:nvPr/>
        </p:nvSpPr>
        <p:spPr bwMode="auto">
          <a:xfrm>
            <a:off x="2908301" y="1560514"/>
            <a:ext cx="4435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eNB</a:t>
            </a:r>
          </a:p>
        </p:txBody>
      </p:sp>
      <p:sp>
        <p:nvSpPr>
          <p:cNvPr id="9222" name="Text Box 6"/>
          <p:cNvSpPr txBox="1">
            <a:spLocks noChangeArrowheads="1"/>
          </p:cNvSpPr>
          <p:nvPr/>
        </p:nvSpPr>
        <p:spPr bwMode="auto">
          <a:xfrm>
            <a:off x="3900489" y="1560514"/>
            <a:ext cx="504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MME</a:t>
            </a:r>
          </a:p>
        </p:txBody>
      </p:sp>
      <p:sp>
        <p:nvSpPr>
          <p:cNvPr id="9223" name="Text Box 7"/>
          <p:cNvSpPr txBox="1">
            <a:spLocks noChangeArrowheads="1"/>
          </p:cNvSpPr>
          <p:nvPr/>
        </p:nvSpPr>
        <p:spPr bwMode="auto">
          <a:xfrm>
            <a:off x="4954588" y="1560514"/>
            <a:ext cx="5397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SGW</a:t>
            </a:r>
          </a:p>
        </p:txBody>
      </p:sp>
      <p:sp>
        <p:nvSpPr>
          <p:cNvPr id="9224" name="Text Box 8"/>
          <p:cNvSpPr txBox="1">
            <a:spLocks noChangeArrowheads="1"/>
          </p:cNvSpPr>
          <p:nvPr/>
        </p:nvSpPr>
        <p:spPr bwMode="auto">
          <a:xfrm>
            <a:off x="6048376" y="1562101"/>
            <a:ext cx="51409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PGW</a:t>
            </a:r>
          </a:p>
        </p:txBody>
      </p:sp>
      <p:sp>
        <p:nvSpPr>
          <p:cNvPr id="9225" name="Text Box 9"/>
          <p:cNvSpPr txBox="1">
            <a:spLocks noChangeArrowheads="1"/>
          </p:cNvSpPr>
          <p:nvPr/>
        </p:nvSpPr>
        <p:spPr bwMode="auto">
          <a:xfrm>
            <a:off x="7112001" y="1562101"/>
            <a:ext cx="5637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PCRF</a:t>
            </a:r>
          </a:p>
        </p:txBody>
      </p:sp>
      <p:sp>
        <p:nvSpPr>
          <p:cNvPr id="9226" name="Text Box 10"/>
          <p:cNvSpPr txBox="1">
            <a:spLocks noChangeArrowheads="1"/>
          </p:cNvSpPr>
          <p:nvPr/>
        </p:nvSpPr>
        <p:spPr bwMode="auto">
          <a:xfrm>
            <a:off x="8223251" y="1562101"/>
            <a:ext cx="5637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CSCF</a:t>
            </a:r>
          </a:p>
        </p:txBody>
      </p:sp>
      <p:sp>
        <p:nvSpPr>
          <p:cNvPr id="9227" name="Text Box 11"/>
          <p:cNvSpPr txBox="1">
            <a:spLocks noChangeArrowheads="1"/>
          </p:cNvSpPr>
          <p:nvPr/>
        </p:nvSpPr>
        <p:spPr bwMode="auto">
          <a:xfrm>
            <a:off x="9336088" y="1562101"/>
            <a:ext cx="47081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200">
                <a:solidFill>
                  <a:srgbClr val="58585A"/>
                </a:solidFill>
              </a:rPr>
              <a:t>SBG</a:t>
            </a:r>
          </a:p>
        </p:txBody>
      </p:sp>
      <p:sp>
        <p:nvSpPr>
          <p:cNvPr id="9228" name="Line 12"/>
          <p:cNvSpPr>
            <a:spLocks noChangeShapeType="1"/>
          </p:cNvSpPr>
          <p:nvPr/>
        </p:nvSpPr>
        <p:spPr bwMode="auto">
          <a:xfrm>
            <a:off x="2181225" y="1808164"/>
            <a:ext cx="0" cy="42306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9229" name="Line 13"/>
          <p:cNvSpPr>
            <a:spLocks noChangeShapeType="1"/>
          </p:cNvSpPr>
          <p:nvPr/>
        </p:nvSpPr>
        <p:spPr bwMode="auto">
          <a:xfrm>
            <a:off x="3125788" y="1808164"/>
            <a:ext cx="0" cy="42306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9230" name="Line 14"/>
          <p:cNvSpPr>
            <a:spLocks noChangeShapeType="1"/>
          </p:cNvSpPr>
          <p:nvPr/>
        </p:nvSpPr>
        <p:spPr bwMode="auto">
          <a:xfrm>
            <a:off x="4116388" y="1808164"/>
            <a:ext cx="0" cy="42306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9231" name="Line 15"/>
          <p:cNvSpPr>
            <a:spLocks noChangeShapeType="1"/>
          </p:cNvSpPr>
          <p:nvPr/>
        </p:nvSpPr>
        <p:spPr bwMode="auto">
          <a:xfrm>
            <a:off x="5195888" y="1854200"/>
            <a:ext cx="0" cy="42306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9232" name="Line 16"/>
          <p:cNvSpPr>
            <a:spLocks noChangeShapeType="1"/>
          </p:cNvSpPr>
          <p:nvPr/>
        </p:nvSpPr>
        <p:spPr bwMode="auto">
          <a:xfrm>
            <a:off x="6275388" y="1898650"/>
            <a:ext cx="0" cy="42306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9233" name="Line 17"/>
          <p:cNvSpPr>
            <a:spLocks noChangeShapeType="1"/>
          </p:cNvSpPr>
          <p:nvPr/>
        </p:nvSpPr>
        <p:spPr bwMode="auto">
          <a:xfrm>
            <a:off x="7356475" y="1898650"/>
            <a:ext cx="0" cy="41862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9234" name="Line 18"/>
          <p:cNvSpPr>
            <a:spLocks noChangeShapeType="1"/>
          </p:cNvSpPr>
          <p:nvPr/>
        </p:nvSpPr>
        <p:spPr bwMode="auto">
          <a:xfrm>
            <a:off x="8482013" y="1898650"/>
            <a:ext cx="0" cy="42306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9235" name="Line 19"/>
          <p:cNvSpPr>
            <a:spLocks noChangeShapeType="1"/>
          </p:cNvSpPr>
          <p:nvPr/>
        </p:nvSpPr>
        <p:spPr bwMode="auto">
          <a:xfrm>
            <a:off x="9561513" y="1854200"/>
            <a:ext cx="0" cy="4319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9236" name="Text Box 20"/>
          <p:cNvSpPr txBox="1">
            <a:spLocks noChangeArrowheads="1"/>
          </p:cNvSpPr>
          <p:nvPr/>
        </p:nvSpPr>
        <p:spPr bwMode="auto">
          <a:xfrm>
            <a:off x="9201151" y="1179513"/>
            <a:ext cx="555775" cy="369332"/>
          </a:xfrm>
          <a:prstGeom prst="rect">
            <a:avLst/>
          </a:prstGeom>
          <a:solidFill>
            <a:srgbClr val="FFFF99"/>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800">
                <a:solidFill>
                  <a:srgbClr val="58585A"/>
                </a:solidFill>
              </a:rPr>
              <a:t>IMS</a:t>
            </a:r>
          </a:p>
        </p:txBody>
      </p:sp>
      <p:sp>
        <p:nvSpPr>
          <p:cNvPr id="9241" name="AutoShape 25"/>
          <p:cNvSpPr>
            <a:spLocks noChangeArrowheads="1"/>
          </p:cNvSpPr>
          <p:nvPr/>
        </p:nvSpPr>
        <p:spPr bwMode="auto">
          <a:xfrm rot="-5400000">
            <a:off x="3845720" y="999333"/>
            <a:ext cx="765175" cy="3735387"/>
          </a:xfrm>
          <a:prstGeom prst="can">
            <a:avLst>
              <a:gd name="adj" fmla="val 39393"/>
            </a:avLst>
          </a:prstGeom>
          <a:solidFill>
            <a:srgbClr val="FF99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ctr" eaLnBrk="1" fontAlgn="base" hangingPunct="1">
              <a:spcBef>
                <a:spcPct val="0"/>
              </a:spcBef>
              <a:spcAft>
                <a:spcPct val="0"/>
              </a:spcAft>
            </a:pPr>
            <a:endParaRPr lang="en-US" altLang="en-US">
              <a:solidFill>
                <a:srgbClr val="58585A"/>
              </a:solidFill>
            </a:endParaRPr>
          </a:p>
        </p:txBody>
      </p:sp>
      <p:sp>
        <p:nvSpPr>
          <p:cNvPr id="9242" name="Text Box 26"/>
          <p:cNvSpPr txBox="1">
            <a:spLocks noChangeArrowheads="1"/>
          </p:cNvSpPr>
          <p:nvPr/>
        </p:nvSpPr>
        <p:spPr bwMode="auto">
          <a:xfrm>
            <a:off x="2990851" y="2484438"/>
            <a:ext cx="191993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800">
                <a:solidFill>
                  <a:srgbClr val="58585A"/>
                </a:solidFill>
              </a:rPr>
              <a:t>Default Bearer QCI = 5. IMS Signaling.</a:t>
            </a:r>
          </a:p>
        </p:txBody>
      </p:sp>
      <p:sp>
        <p:nvSpPr>
          <p:cNvPr id="348187" name="AutoShape 27"/>
          <p:cNvSpPr>
            <a:spLocks noChangeArrowheads="1"/>
          </p:cNvSpPr>
          <p:nvPr/>
        </p:nvSpPr>
        <p:spPr bwMode="auto">
          <a:xfrm rot="-5400000">
            <a:off x="3890963" y="1809750"/>
            <a:ext cx="539750" cy="3689350"/>
          </a:xfrm>
          <a:prstGeom prst="can">
            <a:avLst>
              <a:gd name="adj" fmla="val 53100"/>
            </a:avLst>
          </a:prstGeom>
          <a:solidFill>
            <a:srgbClr val="FFCC66"/>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ctr" eaLnBrk="1" fontAlgn="base" hangingPunct="1">
              <a:spcBef>
                <a:spcPct val="0"/>
              </a:spcBef>
              <a:spcAft>
                <a:spcPct val="0"/>
              </a:spcAft>
            </a:pPr>
            <a:endParaRPr lang="en-US" altLang="en-US">
              <a:solidFill>
                <a:srgbClr val="58585A"/>
              </a:solidFill>
            </a:endParaRPr>
          </a:p>
        </p:txBody>
      </p:sp>
      <p:sp>
        <p:nvSpPr>
          <p:cNvPr id="348188" name="Text Box 28"/>
          <p:cNvSpPr txBox="1">
            <a:spLocks noChangeArrowheads="1"/>
          </p:cNvSpPr>
          <p:nvPr/>
        </p:nvSpPr>
        <p:spPr bwMode="auto">
          <a:xfrm>
            <a:off x="2900363" y="3384550"/>
            <a:ext cx="218442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800">
                <a:solidFill>
                  <a:srgbClr val="58585A"/>
                </a:solidFill>
              </a:rPr>
              <a:t>Dedicated  Bearer QCI = 1 Interactive Voice.</a:t>
            </a:r>
          </a:p>
        </p:txBody>
      </p:sp>
      <p:sp>
        <p:nvSpPr>
          <p:cNvPr id="348189" name="Line 29"/>
          <p:cNvSpPr>
            <a:spLocks noChangeShapeType="1"/>
          </p:cNvSpPr>
          <p:nvPr/>
        </p:nvSpPr>
        <p:spPr bwMode="auto">
          <a:xfrm flipH="1">
            <a:off x="6275389" y="3114675"/>
            <a:ext cx="2206625"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8190" name="Text Box 30"/>
          <p:cNvSpPr txBox="1">
            <a:spLocks noChangeArrowheads="1"/>
          </p:cNvSpPr>
          <p:nvPr/>
        </p:nvSpPr>
        <p:spPr bwMode="auto">
          <a:xfrm>
            <a:off x="6996114" y="2933701"/>
            <a:ext cx="5766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000">
                <a:solidFill>
                  <a:srgbClr val="58585A"/>
                </a:solidFill>
              </a:rPr>
              <a:t>200 OK</a:t>
            </a:r>
          </a:p>
        </p:txBody>
      </p:sp>
      <p:sp>
        <p:nvSpPr>
          <p:cNvPr id="348191" name="Line 31"/>
          <p:cNvSpPr>
            <a:spLocks noChangeShapeType="1"/>
          </p:cNvSpPr>
          <p:nvPr/>
        </p:nvSpPr>
        <p:spPr bwMode="auto">
          <a:xfrm flipH="1">
            <a:off x="2181226" y="3159125"/>
            <a:ext cx="4094163"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8192" name="Text Box 32"/>
          <p:cNvSpPr txBox="1">
            <a:spLocks noChangeArrowheads="1"/>
          </p:cNvSpPr>
          <p:nvPr/>
        </p:nvSpPr>
        <p:spPr bwMode="auto">
          <a:xfrm>
            <a:off x="4205289" y="2933701"/>
            <a:ext cx="5766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000">
                <a:solidFill>
                  <a:srgbClr val="58585A"/>
                </a:solidFill>
              </a:rPr>
              <a:t>200 OK</a:t>
            </a:r>
          </a:p>
        </p:txBody>
      </p:sp>
      <p:sp>
        <p:nvSpPr>
          <p:cNvPr id="348193" name="AutoShape 33"/>
          <p:cNvSpPr>
            <a:spLocks noChangeArrowheads="1"/>
          </p:cNvSpPr>
          <p:nvPr/>
        </p:nvSpPr>
        <p:spPr bwMode="auto">
          <a:xfrm>
            <a:off x="2225676" y="3563938"/>
            <a:ext cx="4005263" cy="360362"/>
          </a:xfrm>
          <a:prstGeom prst="leftRightArrow">
            <a:avLst>
              <a:gd name="adj1" fmla="val 49407"/>
              <a:gd name="adj2" fmla="val 98487"/>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ctr" eaLnBrk="1" fontAlgn="base" hangingPunct="1">
              <a:spcBef>
                <a:spcPct val="0"/>
              </a:spcBef>
              <a:spcAft>
                <a:spcPct val="0"/>
              </a:spcAft>
            </a:pPr>
            <a:endParaRPr lang="en-US" altLang="en-US">
              <a:solidFill>
                <a:srgbClr val="58585A"/>
              </a:solidFill>
            </a:endParaRPr>
          </a:p>
        </p:txBody>
      </p:sp>
      <p:sp>
        <p:nvSpPr>
          <p:cNvPr id="348194" name="Text Box 34"/>
          <p:cNvSpPr txBox="1">
            <a:spLocks noChangeArrowheads="1"/>
          </p:cNvSpPr>
          <p:nvPr/>
        </p:nvSpPr>
        <p:spPr bwMode="auto">
          <a:xfrm>
            <a:off x="3890963" y="3609976"/>
            <a:ext cx="88920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000">
                <a:solidFill>
                  <a:srgbClr val="58585A"/>
                </a:solidFill>
              </a:rPr>
              <a:t>Packet Voice</a:t>
            </a:r>
          </a:p>
        </p:txBody>
      </p:sp>
      <p:sp>
        <p:nvSpPr>
          <p:cNvPr id="348195" name="AutoShape 35"/>
          <p:cNvSpPr>
            <a:spLocks noChangeArrowheads="1"/>
          </p:cNvSpPr>
          <p:nvPr/>
        </p:nvSpPr>
        <p:spPr bwMode="auto">
          <a:xfrm>
            <a:off x="6275389" y="3563938"/>
            <a:ext cx="3286125" cy="360362"/>
          </a:xfrm>
          <a:prstGeom prst="leftRightArrow">
            <a:avLst>
              <a:gd name="adj1" fmla="val 49407"/>
              <a:gd name="adj2" fmla="val 80804"/>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ctr" eaLnBrk="1" fontAlgn="base" hangingPunct="1">
              <a:spcBef>
                <a:spcPct val="0"/>
              </a:spcBef>
              <a:spcAft>
                <a:spcPct val="0"/>
              </a:spcAft>
            </a:pPr>
            <a:endParaRPr lang="en-US" altLang="en-US">
              <a:solidFill>
                <a:srgbClr val="58585A"/>
              </a:solidFill>
            </a:endParaRPr>
          </a:p>
        </p:txBody>
      </p:sp>
      <p:sp>
        <p:nvSpPr>
          <p:cNvPr id="348196" name="Text Box 36"/>
          <p:cNvSpPr txBox="1">
            <a:spLocks noChangeArrowheads="1"/>
          </p:cNvSpPr>
          <p:nvPr/>
        </p:nvSpPr>
        <p:spPr bwMode="auto">
          <a:xfrm>
            <a:off x="7491413" y="3608389"/>
            <a:ext cx="88920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000">
                <a:solidFill>
                  <a:srgbClr val="58585A"/>
                </a:solidFill>
              </a:rPr>
              <a:t>Packet Voice</a:t>
            </a:r>
          </a:p>
        </p:txBody>
      </p:sp>
      <p:sp>
        <p:nvSpPr>
          <p:cNvPr id="348197" name="Line 37"/>
          <p:cNvSpPr>
            <a:spLocks noChangeShapeType="1"/>
          </p:cNvSpPr>
          <p:nvPr/>
        </p:nvSpPr>
        <p:spPr bwMode="auto">
          <a:xfrm>
            <a:off x="6275389" y="2933700"/>
            <a:ext cx="2160587"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8198" name="Text Box 38"/>
          <p:cNvSpPr txBox="1">
            <a:spLocks noChangeArrowheads="1"/>
          </p:cNvSpPr>
          <p:nvPr/>
        </p:nvSpPr>
        <p:spPr bwMode="auto">
          <a:xfrm>
            <a:off x="6996113" y="2754314"/>
            <a:ext cx="40028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000">
                <a:solidFill>
                  <a:srgbClr val="58585A"/>
                </a:solidFill>
              </a:rPr>
              <a:t>BYE</a:t>
            </a:r>
          </a:p>
        </p:txBody>
      </p:sp>
      <p:sp>
        <p:nvSpPr>
          <p:cNvPr id="348199" name="Text Box 39"/>
          <p:cNvSpPr txBox="1">
            <a:spLocks noChangeArrowheads="1"/>
          </p:cNvSpPr>
          <p:nvPr/>
        </p:nvSpPr>
        <p:spPr bwMode="auto">
          <a:xfrm>
            <a:off x="4251325" y="2709864"/>
            <a:ext cx="40028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1000">
                <a:solidFill>
                  <a:srgbClr val="58585A"/>
                </a:solidFill>
              </a:rPr>
              <a:t>BYE</a:t>
            </a:r>
          </a:p>
        </p:txBody>
      </p:sp>
      <p:sp>
        <p:nvSpPr>
          <p:cNvPr id="348200" name="Line 40"/>
          <p:cNvSpPr>
            <a:spLocks noChangeShapeType="1"/>
          </p:cNvSpPr>
          <p:nvPr/>
        </p:nvSpPr>
        <p:spPr bwMode="auto">
          <a:xfrm>
            <a:off x="2181225" y="2889250"/>
            <a:ext cx="41402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8201" name="Line 41"/>
          <p:cNvSpPr>
            <a:spLocks noChangeShapeType="1"/>
          </p:cNvSpPr>
          <p:nvPr/>
        </p:nvSpPr>
        <p:spPr bwMode="auto">
          <a:xfrm flipH="1" flipV="1">
            <a:off x="6275389" y="4373564"/>
            <a:ext cx="1081087" cy="1587"/>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8202" name="Text Box 42"/>
          <p:cNvSpPr txBox="1">
            <a:spLocks noChangeArrowheads="1"/>
          </p:cNvSpPr>
          <p:nvPr/>
        </p:nvSpPr>
        <p:spPr bwMode="auto">
          <a:xfrm>
            <a:off x="6230938" y="4194175"/>
            <a:ext cx="1221022"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800">
                <a:solidFill>
                  <a:srgbClr val="58585A"/>
                </a:solidFill>
              </a:rPr>
              <a:t>IP-CAN Session Modify</a:t>
            </a:r>
          </a:p>
        </p:txBody>
      </p:sp>
      <p:sp>
        <p:nvSpPr>
          <p:cNvPr id="348203" name="Line 43"/>
          <p:cNvSpPr>
            <a:spLocks noChangeShapeType="1"/>
          </p:cNvSpPr>
          <p:nvPr/>
        </p:nvSpPr>
        <p:spPr bwMode="auto">
          <a:xfrm flipH="1">
            <a:off x="7354889" y="4105275"/>
            <a:ext cx="1125537"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8204" name="Text Box 44"/>
          <p:cNvSpPr txBox="1">
            <a:spLocks noChangeArrowheads="1"/>
          </p:cNvSpPr>
          <p:nvPr/>
        </p:nvSpPr>
        <p:spPr bwMode="auto">
          <a:xfrm>
            <a:off x="7310438" y="3924300"/>
            <a:ext cx="122422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800">
                <a:solidFill>
                  <a:srgbClr val="58585A"/>
                </a:solidFill>
              </a:rPr>
              <a:t>Application/Service Info</a:t>
            </a:r>
          </a:p>
        </p:txBody>
      </p:sp>
      <p:sp>
        <p:nvSpPr>
          <p:cNvPr id="348205" name="Line 45"/>
          <p:cNvSpPr>
            <a:spLocks noChangeShapeType="1"/>
          </p:cNvSpPr>
          <p:nvPr/>
        </p:nvSpPr>
        <p:spPr bwMode="auto">
          <a:xfrm flipH="1">
            <a:off x="3125788" y="4868863"/>
            <a:ext cx="990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8206" name="Line 46"/>
          <p:cNvSpPr>
            <a:spLocks noChangeShapeType="1"/>
          </p:cNvSpPr>
          <p:nvPr/>
        </p:nvSpPr>
        <p:spPr bwMode="auto">
          <a:xfrm flipH="1">
            <a:off x="5195888" y="4554538"/>
            <a:ext cx="10795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8207" name="Text Box 47"/>
          <p:cNvSpPr txBox="1">
            <a:spLocks noChangeArrowheads="1"/>
          </p:cNvSpPr>
          <p:nvPr/>
        </p:nvSpPr>
        <p:spPr bwMode="auto">
          <a:xfrm>
            <a:off x="3125788" y="4689475"/>
            <a:ext cx="1188962"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800">
                <a:solidFill>
                  <a:srgbClr val="58585A"/>
                </a:solidFill>
              </a:rPr>
              <a:t>Deactivate Bearer Req</a:t>
            </a:r>
          </a:p>
        </p:txBody>
      </p:sp>
      <p:sp>
        <p:nvSpPr>
          <p:cNvPr id="348208" name="Text Box 48"/>
          <p:cNvSpPr txBox="1">
            <a:spLocks noChangeArrowheads="1"/>
          </p:cNvSpPr>
          <p:nvPr/>
        </p:nvSpPr>
        <p:spPr bwMode="auto">
          <a:xfrm>
            <a:off x="5195889" y="4329113"/>
            <a:ext cx="102866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800">
                <a:solidFill>
                  <a:srgbClr val="58585A"/>
                </a:solidFill>
              </a:rPr>
              <a:t>Delete Bearer Req.</a:t>
            </a:r>
          </a:p>
        </p:txBody>
      </p:sp>
      <p:sp>
        <p:nvSpPr>
          <p:cNvPr id="348209" name="Line 49"/>
          <p:cNvSpPr>
            <a:spLocks noChangeShapeType="1"/>
          </p:cNvSpPr>
          <p:nvPr/>
        </p:nvSpPr>
        <p:spPr bwMode="auto">
          <a:xfrm flipH="1">
            <a:off x="2181226" y="5094288"/>
            <a:ext cx="944563"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8210" name="Text Box 50"/>
          <p:cNvSpPr txBox="1">
            <a:spLocks noChangeArrowheads="1"/>
          </p:cNvSpPr>
          <p:nvPr/>
        </p:nvSpPr>
        <p:spPr bwMode="auto">
          <a:xfrm>
            <a:off x="2135188" y="4914900"/>
            <a:ext cx="110720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800">
                <a:solidFill>
                  <a:srgbClr val="58585A"/>
                </a:solidFill>
              </a:rPr>
              <a:t>RRC Conn. Reconfig</a:t>
            </a:r>
          </a:p>
        </p:txBody>
      </p:sp>
      <p:sp>
        <p:nvSpPr>
          <p:cNvPr id="348211" name="Line 51"/>
          <p:cNvSpPr>
            <a:spLocks noChangeShapeType="1"/>
          </p:cNvSpPr>
          <p:nvPr/>
        </p:nvSpPr>
        <p:spPr bwMode="auto">
          <a:xfrm flipH="1">
            <a:off x="4116388" y="4689475"/>
            <a:ext cx="10795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8212" name="Text Box 52"/>
          <p:cNvSpPr txBox="1">
            <a:spLocks noChangeArrowheads="1"/>
          </p:cNvSpPr>
          <p:nvPr/>
        </p:nvSpPr>
        <p:spPr bwMode="auto">
          <a:xfrm>
            <a:off x="4116389" y="4464050"/>
            <a:ext cx="102866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800">
                <a:solidFill>
                  <a:srgbClr val="58585A"/>
                </a:solidFill>
              </a:rPr>
              <a:t>Delete Bearer Req.</a:t>
            </a:r>
          </a:p>
        </p:txBody>
      </p:sp>
      <p:sp>
        <p:nvSpPr>
          <p:cNvPr id="348213" name="Text Box 53"/>
          <p:cNvSpPr txBox="1">
            <a:spLocks noChangeArrowheads="1"/>
          </p:cNvSpPr>
          <p:nvPr/>
        </p:nvSpPr>
        <p:spPr bwMode="auto">
          <a:xfrm>
            <a:off x="6275388" y="5634038"/>
            <a:ext cx="149032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800">
                <a:solidFill>
                  <a:srgbClr val="58585A"/>
                </a:solidFill>
              </a:rPr>
              <a:t>IP-CAN Session Modify ACK </a:t>
            </a:r>
          </a:p>
        </p:txBody>
      </p:sp>
      <p:sp>
        <p:nvSpPr>
          <p:cNvPr id="348214" name="Line 54"/>
          <p:cNvSpPr>
            <a:spLocks noChangeShapeType="1"/>
          </p:cNvSpPr>
          <p:nvPr/>
        </p:nvSpPr>
        <p:spPr bwMode="auto">
          <a:xfrm>
            <a:off x="6275389" y="5815013"/>
            <a:ext cx="1081087"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8215" name="Line 55"/>
          <p:cNvSpPr>
            <a:spLocks noChangeShapeType="1"/>
          </p:cNvSpPr>
          <p:nvPr/>
        </p:nvSpPr>
        <p:spPr bwMode="auto">
          <a:xfrm>
            <a:off x="3125788" y="5362575"/>
            <a:ext cx="990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8216" name="Text Box 56"/>
          <p:cNvSpPr txBox="1">
            <a:spLocks noChangeArrowheads="1"/>
          </p:cNvSpPr>
          <p:nvPr/>
        </p:nvSpPr>
        <p:spPr bwMode="auto">
          <a:xfrm>
            <a:off x="3125788" y="5183188"/>
            <a:ext cx="1269112"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800">
                <a:solidFill>
                  <a:srgbClr val="58585A"/>
                </a:solidFill>
              </a:rPr>
              <a:t>Deactivate Bearer Resp.</a:t>
            </a:r>
          </a:p>
        </p:txBody>
      </p:sp>
      <p:sp>
        <p:nvSpPr>
          <p:cNvPr id="348217" name="Line 57"/>
          <p:cNvSpPr>
            <a:spLocks noChangeShapeType="1"/>
          </p:cNvSpPr>
          <p:nvPr/>
        </p:nvSpPr>
        <p:spPr bwMode="auto">
          <a:xfrm>
            <a:off x="4116388" y="5499100"/>
            <a:ext cx="10795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8218" name="Text Box 58"/>
          <p:cNvSpPr txBox="1">
            <a:spLocks noChangeArrowheads="1"/>
          </p:cNvSpPr>
          <p:nvPr/>
        </p:nvSpPr>
        <p:spPr bwMode="auto">
          <a:xfrm>
            <a:off x="4116389" y="5273675"/>
            <a:ext cx="1079957"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800">
                <a:solidFill>
                  <a:srgbClr val="58585A"/>
                </a:solidFill>
              </a:rPr>
              <a:t>Delete Bearer Resp.</a:t>
            </a:r>
          </a:p>
        </p:txBody>
      </p:sp>
      <p:sp>
        <p:nvSpPr>
          <p:cNvPr id="348219" name="Line 59"/>
          <p:cNvSpPr>
            <a:spLocks noChangeShapeType="1"/>
          </p:cNvSpPr>
          <p:nvPr/>
        </p:nvSpPr>
        <p:spPr bwMode="auto">
          <a:xfrm>
            <a:off x="5195888" y="5634038"/>
            <a:ext cx="10795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lstStyle/>
          <a:p>
            <a:pPr algn="ctr" fontAlgn="base">
              <a:spcBef>
                <a:spcPct val="0"/>
              </a:spcBef>
              <a:spcAft>
                <a:spcPct val="0"/>
              </a:spcAft>
            </a:pPr>
            <a:endParaRPr lang="en-US" sz="2000">
              <a:solidFill>
                <a:srgbClr val="58585A"/>
              </a:solidFill>
            </a:endParaRPr>
          </a:p>
        </p:txBody>
      </p:sp>
      <p:sp>
        <p:nvSpPr>
          <p:cNvPr id="348220" name="Text Box 60"/>
          <p:cNvSpPr txBox="1">
            <a:spLocks noChangeArrowheads="1"/>
          </p:cNvSpPr>
          <p:nvPr/>
        </p:nvSpPr>
        <p:spPr bwMode="auto">
          <a:xfrm>
            <a:off x="5195889" y="5408613"/>
            <a:ext cx="1079957"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rIns="7200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fontAlgn="base" hangingPunct="1">
              <a:spcBef>
                <a:spcPct val="50000"/>
              </a:spcBef>
              <a:spcAft>
                <a:spcPct val="0"/>
              </a:spcAft>
            </a:pPr>
            <a:r>
              <a:rPr lang="en-US" altLang="en-US" sz="800">
                <a:solidFill>
                  <a:srgbClr val="58585A"/>
                </a:solidFill>
              </a:rPr>
              <a:t>Delete Bearer Resp.</a:t>
            </a:r>
          </a:p>
        </p:txBody>
      </p:sp>
      <p:sp>
        <p:nvSpPr>
          <p:cNvPr id="61" name="Rectangle 60"/>
          <p:cNvSpPr/>
          <p:nvPr/>
        </p:nvSpPr>
        <p:spPr bwMode="auto">
          <a:xfrm>
            <a:off x="10999304" y="225287"/>
            <a:ext cx="834887" cy="861391"/>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none" lIns="72000" tIns="45720" rIns="7200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endParaRPr>
          </a:p>
        </p:txBody>
      </p:sp>
      <p:sp>
        <p:nvSpPr>
          <p:cNvPr id="62" name="Rectangle 61"/>
          <p:cNvSpPr/>
          <p:nvPr/>
        </p:nvSpPr>
        <p:spPr bwMode="auto">
          <a:xfrm>
            <a:off x="516835" y="6520070"/>
            <a:ext cx="3167269" cy="225287"/>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none" lIns="72000" tIns="45720" rIns="7200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0392815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199"/>
                                        </p:tgtEl>
                                        <p:attrNameLst>
                                          <p:attrName>style.visibility</p:attrName>
                                        </p:attrNameLst>
                                      </p:cBhvr>
                                      <p:to>
                                        <p:strVal val="visible"/>
                                      </p:to>
                                    </p:set>
                                    <p:animEffect transition="in" filter="wipe(left)">
                                      <p:cBhvr>
                                        <p:cTn id="7" dur="500"/>
                                        <p:tgtEl>
                                          <p:spTgt spid="34819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48200"/>
                                        </p:tgtEl>
                                        <p:attrNameLst>
                                          <p:attrName>style.visibility</p:attrName>
                                        </p:attrNameLst>
                                      </p:cBhvr>
                                      <p:to>
                                        <p:strVal val="visible"/>
                                      </p:to>
                                    </p:set>
                                    <p:animEffect transition="in" filter="wipe(left)">
                                      <p:cBhvr>
                                        <p:cTn id="10" dur="500"/>
                                        <p:tgtEl>
                                          <p:spTgt spid="348200"/>
                                        </p:tgtEl>
                                      </p:cBhvr>
                                    </p:animEffect>
                                  </p:childTnLst>
                                </p:cTn>
                              </p:par>
                            </p:childTnLst>
                          </p:cTn>
                        </p:par>
                        <p:par>
                          <p:cTn id="11" fill="hold" nodeType="afterGroup">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348197"/>
                                        </p:tgtEl>
                                        <p:attrNameLst>
                                          <p:attrName>style.visibility</p:attrName>
                                        </p:attrNameLst>
                                      </p:cBhvr>
                                      <p:to>
                                        <p:strVal val="visible"/>
                                      </p:to>
                                    </p:set>
                                    <p:animEffect transition="in" filter="wipe(left)">
                                      <p:cBhvr>
                                        <p:cTn id="14" dur="500"/>
                                        <p:tgtEl>
                                          <p:spTgt spid="348197"/>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348198"/>
                                        </p:tgtEl>
                                        <p:attrNameLst>
                                          <p:attrName>style.visibility</p:attrName>
                                        </p:attrNameLst>
                                      </p:cBhvr>
                                      <p:to>
                                        <p:strVal val="visible"/>
                                      </p:to>
                                    </p:set>
                                    <p:animEffect transition="in" filter="wipe(left)">
                                      <p:cBhvr>
                                        <p:cTn id="17" dur="500"/>
                                        <p:tgtEl>
                                          <p:spTgt spid="3481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348189"/>
                                        </p:tgtEl>
                                        <p:attrNameLst>
                                          <p:attrName>style.visibility</p:attrName>
                                        </p:attrNameLst>
                                      </p:cBhvr>
                                      <p:to>
                                        <p:strVal val="visible"/>
                                      </p:to>
                                    </p:set>
                                    <p:animEffect transition="in" filter="wipe(right)">
                                      <p:cBhvr>
                                        <p:cTn id="22" dur="500"/>
                                        <p:tgtEl>
                                          <p:spTgt spid="348189"/>
                                        </p:tgtEl>
                                      </p:cBhvr>
                                    </p:animEffect>
                                  </p:childTnLst>
                                </p:cTn>
                              </p:par>
                              <p:par>
                                <p:cTn id="23" presetID="22" presetClass="entr" presetSubtype="2" fill="hold" grpId="0" nodeType="withEffect">
                                  <p:stCondLst>
                                    <p:cond delay="0"/>
                                  </p:stCondLst>
                                  <p:childTnLst>
                                    <p:set>
                                      <p:cBhvr>
                                        <p:cTn id="24" dur="1" fill="hold">
                                          <p:stCondLst>
                                            <p:cond delay="0"/>
                                          </p:stCondLst>
                                        </p:cTn>
                                        <p:tgtEl>
                                          <p:spTgt spid="348190"/>
                                        </p:tgtEl>
                                        <p:attrNameLst>
                                          <p:attrName>style.visibility</p:attrName>
                                        </p:attrNameLst>
                                      </p:cBhvr>
                                      <p:to>
                                        <p:strVal val="visible"/>
                                      </p:to>
                                    </p:set>
                                    <p:animEffect transition="in" filter="wipe(right)">
                                      <p:cBhvr>
                                        <p:cTn id="25" dur="500"/>
                                        <p:tgtEl>
                                          <p:spTgt spid="348190"/>
                                        </p:tgtEl>
                                      </p:cBhvr>
                                    </p:animEffect>
                                  </p:childTnLst>
                                </p:cTn>
                              </p:par>
                            </p:childTnLst>
                          </p:cTn>
                        </p:par>
                        <p:par>
                          <p:cTn id="26" fill="hold" nodeType="afterGroup">
                            <p:stCondLst>
                              <p:cond delay="500"/>
                            </p:stCondLst>
                            <p:childTnLst>
                              <p:par>
                                <p:cTn id="27" presetID="22" presetClass="entr" presetSubtype="2" fill="hold" grpId="0" nodeType="afterEffect">
                                  <p:stCondLst>
                                    <p:cond delay="0"/>
                                  </p:stCondLst>
                                  <p:childTnLst>
                                    <p:set>
                                      <p:cBhvr>
                                        <p:cTn id="28" dur="1" fill="hold">
                                          <p:stCondLst>
                                            <p:cond delay="0"/>
                                          </p:stCondLst>
                                        </p:cTn>
                                        <p:tgtEl>
                                          <p:spTgt spid="348191"/>
                                        </p:tgtEl>
                                        <p:attrNameLst>
                                          <p:attrName>style.visibility</p:attrName>
                                        </p:attrNameLst>
                                      </p:cBhvr>
                                      <p:to>
                                        <p:strVal val="visible"/>
                                      </p:to>
                                    </p:set>
                                    <p:animEffect transition="in" filter="wipe(right)">
                                      <p:cBhvr>
                                        <p:cTn id="29" dur="500"/>
                                        <p:tgtEl>
                                          <p:spTgt spid="348191"/>
                                        </p:tgtEl>
                                      </p:cBhvr>
                                    </p:animEffect>
                                  </p:childTnLst>
                                </p:cTn>
                              </p:par>
                              <p:par>
                                <p:cTn id="30" presetID="22" presetClass="entr" presetSubtype="2" fill="hold" grpId="0" nodeType="withEffect">
                                  <p:stCondLst>
                                    <p:cond delay="0"/>
                                  </p:stCondLst>
                                  <p:childTnLst>
                                    <p:set>
                                      <p:cBhvr>
                                        <p:cTn id="31" dur="1" fill="hold">
                                          <p:stCondLst>
                                            <p:cond delay="0"/>
                                          </p:stCondLst>
                                        </p:cTn>
                                        <p:tgtEl>
                                          <p:spTgt spid="348192"/>
                                        </p:tgtEl>
                                        <p:attrNameLst>
                                          <p:attrName>style.visibility</p:attrName>
                                        </p:attrNameLst>
                                      </p:cBhvr>
                                      <p:to>
                                        <p:strVal val="visible"/>
                                      </p:to>
                                    </p:set>
                                    <p:animEffect transition="in" filter="wipe(right)">
                                      <p:cBhvr>
                                        <p:cTn id="32" dur="500"/>
                                        <p:tgtEl>
                                          <p:spTgt spid="348192"/>
                                        </p:tgtEl>
                                      </p:cBhvr>
                                    </p:animEffect>
                                  </p:childTnLst>
                                </p:cTn>
                              </p:par>
                            </p:childTnLst>
                          </p:cTn>
                        </p:par>
                        <p:par>
                          <p:cTn id="33" fill="hold" nodeType="afterGroup">
                            <p:stCondLst>
                              <p:cond delay="1000"/>
                            </p:stCondLst>
                            <p:childTnLst>
                              <p:par>
                                <p:cTn id="34" presetID="3" presetClass="exit" presetSubtype="10" fill="hold" grpId="0" nodeType="afterEffect">
                                  <p:stCondLst>
                                    <p:cond delay="0"/>
                                  </p:stCondLst>
                                  <p:childTnLst>
                                    <p:animEffect transition="out" filter="blinds(horizontal)">
                                      <p:cBhvr>
                                        <p:cTn id="35" dur="500"/>
                                        <p:tgtEl>
                                          <p:spTgt spid="348193"/>
                                        </p:tgtEl>
                                      </p:cBhvr>
                                    </p:animEffect>
                                    <p:set>
                                      <p:cBhvr>
                                        <p:cTn id="36" dur="1" fill="hold">
                                          <p:stCondLst>
                                            <p:cond delay="499"/>
                                          </p:stCondLst>
                                        </p:cTn>
                                        <p:tgtEl>
                                          <p:spTgt spid="348193"/>
                                        </p:tgtEl>
                                        <p:attrNameLst>
                                          <p:attrName>style.visibility</p:attrName>
                                        </p:attrNameLst>
                                      </p:cBhvr>
                                      <p:to>
                                        <p:strVal val="hidden"/>
                                      </p:to>
                                    </p:set>
                                  </p:childTnLst>
                                </p:cTn>
                              </p:par>
                              <p:par>
                                <p:cTn id="37" presetID="3" presetClass="exit" presetSubtype="10" fill="hold" grpId="0" nodeType="withEffect">
                                  <p:stCondLst>
                                    <p:cond delay="0"/>
                                  </p:stCondLst>
                                  <p:childTnLst>
                                    <p:animEffect transition="out" filter="blinds(horizontal)">
                                      <p:cBhvr>
                                        <p:cTn id="38" dur="500"/>
                                        <p:tgtEl>
                                          <p:spTgt spid="348194"/>
                                        </p:tgtEl>
                                      </p:cBhvr>
                                    </p:animEffect>
                                    <p:set>
                                      <p:cBhvr>
                                        <p:cTn id="39" dur="1" fill="hold">
                                          <p:stCondLst>
                                            <p:cond delay="499"/>
                                          </p:stCondLst>
                                        </p:cTn>
                                        <p:tgtEl>
                                          <p:spTgt spid="348194"/>
                                        </p:tgtEl>
                                        <p:attrNameLst>
                                          <p:attrName>style.visibility</p:attrName>
                                        </p:attrNameLst>
                                      </p:cBhvr>
                                      <p:to>
                                        <p:strVal val="hidden"/>
                                      </p:to>
                                    </p:set>
                                  </p:childTnLst>
                                </p:cTn>
                              </p:par>
                              <p:par>
                                <p:cTn id="40" presetID="3" presetClass="exit" presetSubtype="10" fill="hold" grpId="0" nodeType="withEffect">
                                  <p:stCondLst>
                                    <p:cond delay="0"/>
                                  </p:stCondLst>
                                  <p:childTnLst>
                                    <p:animEffect transition="out" filter="blinds(horizontal)">
                                      <p:cBhvr>
                                        <p:cTn id="41" dur="500"/>
                                        <p:tgtEl>
                                          <p:spTgt spid="348195"/>
                                        </p:tgtEl>
                                      </p:cBhvr>
                                    </p:animEffect>
                                    <p:set>
                                      <p:cBhvr>
                                        <p:cTn id="42" dur="1" fill="hold">
                                          <p:stCondLst>
                                            <p:cond delay="499"/>
                                          </p:stCondLst>
                                        </p:cTn>
                                        <p:tgtEl>
                                          <p:spTgt spid="348195"/>
                                        </p:tgtEl>
                                        <p:attrNameLst>
                                          <p:attrName>style.visibility</p:attrName>
                                        </p:attrNameLst>
                                      </p:cBhvr>
                                      <p:to>
                                        <p:strVal val="hidden"/>
                                      </p:to>
                                    </p:set>
                                  </p:childTnLst>
                                </p:cTn>
                              </p:par>
                              <p:par>
                                <p:cTn id="43" presetID="3" presetClass="exit" presetSubtype="10" fill="hold" grpId="0" nodeType="withEffect">
                                  <p:stCondLst>
                                    <p:cond delay="0"/>
                                  </p:stCondLst>
                                  <p:childTnLst>
                                    <p:animEffect transition="out" filter="blinds(horizontal)">
                                      <p:cBhvr>
                                        <p:cTn id="44" dur="500"/>
                                        <p:tgtEl>
                                          <p:spTgt spid="348196"/>
                                        </p:tgtEl>
                                      </p:cBhvr>
                                    </p:animEffect>
                                    <p:set>
                                      <p:cBhvr>
                                        <p:cTn id="45" dur="1" fill="hold">
                                          <p:stCondLst>
                                            <p:cond delay="499"/>
                                          </p:stCondLst>
                                        </p:cTn>
                                        <p:tgtEl>
                                          <p:spTgt spid="348196"/>
                                        </p:tgtEl>
                                        <p:attrNameLst>
                                          <p:attrName>style.visibility</p:attrName>
                                        </p:attrNameLst>
                                      </p:cBhvr>
                                      <p:to>
                                        <p:strVal val="hidden"/>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2" fill="hold" grpId="0" nodeType="clickEffect">
                                  <p:stCondLst>
                                    <p:cond delay="0"/>
                                  </p:stCondLst>
                                  <p:childTnLst>
                                    <p:set>
                                      <p:cBhvr>
                                        <p:cTn id="49" dur="1" fill="hold">
                                          <p:stCondLst>
                                            <p:cond delay="0"/>
                                          </p:stCondLst>
                                        </p:cTn>
                                        <p:tgtEl>
                                          <p:spTgt spid="348203"/>
                                        </p:tgtEl>
                                        <p:attrNameLst>
                                          <p:attrName>style.visibility</p:attrName>
                                        </p:attrNameLst>
                                      </p:cBhvr>
                                      <p:to>
                                        <p:strVal val="visible"/>
                                      </p:to>
                                    </p:set>
                                    <p:animEffect transition="in" filter="wipe(right)">
                                      <p:cBhvr>
                                        <p:cTn id="50" dur="500"/>
                                        <p:tgtEl>
                                          <p:spTgt spid="348203"/>
                                        </p:tgtEl>
                                      </p:cBhvr>
                                    </p:animEffect>
                                  </p:childTnLst>
                                </p:cTn>
                              </p:par>
                              <p:par>
                                <p:cTn id="51" presetID="22" presetClass="entr" presetSubtype="2" fill="hold" grpId="0" nodeType="withEffect">
                                  <p:stCondLst>
                                    <p:cond delay="0"/>
                                  </p:stCondLst>
                                  <p:childTnLst>
                                    <p:set>
                                      <p:cBhvr>
                                        <p:cTn id="52" dur="1" fill="hold">
                                          <p:stCondLst>
                                            <p:cond delay="0"/>
                                          </p:stCondLst>
                                        </p:cTn>
                                        <p:tgtEl>
                                          <p:spTgt spid="348204"/>
                                        </p:tgtEl>
                                        <p:attrNameLst>
                                          <p:attrName>style.visibility</p:attrName>
                                        </p:attrNameLst>
                                      </p:cBhvr>
                                      <p:to>
                                        <p:strVal val="visible"/>
                                      </p:to>
                                    </p:set>
                                    <p:animEffect transition="in" filter="wipe(right)">
                                      <p:cBhvr>
                                        <p:cTn id="53" dur="500"/>
                                        <p:tgtEl>
                                          <p:spTgt spid="348204"/>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2" fill="hold" grpId="0" nodeType="clickEffect">
                                  <p:stCondLst>
                                    <p:cond delay="0"/>
                                  </p:stCondLst>
                                  <p:childTnLst>
                                    <p:set>
                                      <p:cBhvr>
                                        <p:cTn id="57" dur="1" fill="hold">
                                          <p:stCondLst>
                                            <p:cond delay="0"/>
                                          </p:stCondLst>
                                        </p:cTn>
                                        <p:tgtEl>
                                          <p:spTgt spid="348201"/>
                                        </p:tgtEl>
                                        <p:attrNameLst>
                                          <p:attrName>style.visibility</p:attrName>
                                        </p:attrNameLst>
                                      </p:cBhvr>
                                      <p:to>
                                        <p:strVal val="visible"/>
                                      </p:to>
                                    </p:set>
                                    <p:animEffect transition="in" filter="wipe(right)">
                                      <p:cBhvr>
                                        <p:cTn id="58" dur="500"/>
                                        <p:tgtEl>
                                          <p:spTgt spid="348201"/>
                                        </p:tgtEl>
                                      </p:cBhvr>
                                    </p:animEffect>
                                  </p:childTnLst>
                                </p:cTn>
                              </p:par>
                              <p:par>
                                <p:cTn id="59" presetID="22" presetClass="entr" presetSubtype="2" fill="hold" grpId="0" nodeType="withEffect">
                                  <p:stCondLst>
                                    <p:cond delay="0"/>
                                  </p:stCondLst>
                                  <p:childTnLst>
                                    <p:set>
                                      <p:cBhvr>
                                        <p:cTn id="60" dur="1" fill="hold">
                                          <p:stCondLst>
                                            <p:cond delay="0"/>
                                          </p:stCondLst>
                                        </p:cTn>
                                        <p:tgtEl>
                                          <p:spTgt spid="348202"/>
                                        </p:tgtEl>
                                        <p:attrNameLst>
                                          <p:attrName>style.visibility</p:attrName>
                                        </p:attrNameLst>
                                      </p:cBhvr>
                                      <p:to>
                                        <p:strVal val="visible"/>
                                      </p:to>
                                    </p:set>
                                    <p:animEffect transition="in" filter="wipe(right)">
                                      <p:cBhvr>
                                        <p:cTn id="61" dur="500"/>
                                        <p:tgtEl>
                                          <p:spTgt spid="348202"/>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2" fill="hold" grpId="0" nodeType="clickEffect">
                                  <p:stCondLst>
                                    <p:cond delay="0"/>
                                  </p:stCondLst>
                                  <p:childTnLst>
                                    <p:set>
                                      <p:cBhvr>
                                        <p:cTn id="65" dur="1" fill="hold">
                                          <p:stCondLst>
                                            <p:cond delay="0"/>
                                          </p:stCondLst>
                                        </p:cTn>
                                        <p:tgtEl>
                                          <p:spTgt spid="348206"/>
                                        </p:tgtEl>
                                        <p:attrNameLst>
                                          <p:attrName>style.visibility</p:attrName>
                                        </p:attrNameLst>
                                      </p:cBhvr>
                                      <p:to>
                                        <p:strVal val="visible"/>
                                      </p:to>
                                    </p:set>
                                    <p:animEffect transition="in" filter="wipe(right)">
                                      <p:cBhvr>
                                        <p:cTn id="66" dur="500"/>
                                        <p:tgtEl>
                                          <p:spTgt spid="348206"/>
                                        </p:tgtEl>
                                      </p:cBhvr>
                                    </p:animEffect>
                                  </p:childTnLst>
                                </p:cTn>
                              </p:par>
                              <p:par>
                                <p:cTn id="67" presetID="22" presetClass="entr" presetSubtype="2" fill="hold" grpId="0" nodeType="withEffect">
                                  <p:stCondLst>
                                    <p:cond delay="0"/>
                                  </p:stCondLst>
                                  <p:childTnLst>
                                    <p:set>
                                      <p:cBhvr>
                                        <p:cTn id="68" dur="1" fill="hold">
                                          <p:stCondLst>
                                            <p:cond delay="0"/>
                                          </p:stCondLst>
                                        </p:cTn>
                                        <p:tgtEl>
                                          <p:spTgt spid="348208"/>
                                        </p:tgtEl>
                                        <p:attrNameLst>
                                          <p:attrName>style.visibility</p:attrName>
                                        </p:attrNameLst>
                                      </p:cBhvr>
                                      <p:to>
                                        <p:strVal val="visible"/>
                                      </p:to>
                                    </p:set>
                                    <p:animEffect transition="in" filter="wipe(right)">
                                      <p:cBhvr>
                                        <p:cTn id="69" dur="500"/>
                                        <p:tgtEl>
                                          <p:spTgt spid="348208"/>
                                        </p:tgtEl>
                                      </p:cBhvr>
                                    </p:animEffect>
                                  </p:childTnLst>
                                </p:cTn>
                              </p:par>
                            </p:childTnLst>
                          </p:cTn>
                        </p:par>
                        <p:par>
                          <p:cTn id="70" fill="hold" nodeType="afterGroup">
                            <p:stCondLst>
                              <p:cond delay="500"/>
                            </p:stCondLst>
                            <p:childTnLst>
                              <p:par>
                                <p:cTn id="71" presetID="22" presetClass="entr" presetSubtype="2" fill="hold" grpId="0" nodeType="afterEffect">
                                  <p:stCondLst>
                                    <p:cond delay="0"/>
                                  </p:stCondLst>
                                  <p:childTnLst>
                                    <p:set>
                                      <p:cBhvr>
                                        <p:cTn id="72" dur="1" fill="hold">
                                          <p:stCondLst>
                                            <p:cond delay="0"/>
                                          </p:stCondLst>
                                        </p:cTn>
                                        <p:tgtEl>
                                          <p:spTgt spid="348211"/>
                                        </p:tgtEl>
                                        <p:attrNameLst>
                                          <p:attrName>style.visibility</p:attrName>
                                        </p:attrNameLst>
                                      </p:cBhvr>
                                      <p:to>
                                        <p:strVal val="visible"/>
                                      </p:to>
                                    </p:set>
                                    <p:animEffect transition="in" filter="wipe(right)">
                                      <p:cBhvr>
                                        <p:cTn id="73" dur="500"/>
                                        <p:tgtEl>
                                          <p:spTgt spid="348211"/>
                                        </p:tgtEl>
                                      </p:cBhvr>
                                    </p:animEffect>
                                  </p:childTnLst>
                                </p:cTn>
                              </p:par>
                              <p:par>
                                <p:cTn id="74" presetID="22" presetClass="entr" presetSubtype="2" fill="hold" grpId="0" nodeType="withEffect">
                                  <p:stCondLst>
                                    <p:cond delay="0"/>
                                  </p:stCondLst>
                                  <p:childTnLst>
                                    <p:set>
                                      <p:cBhvr>
                                        <p:cTn id="75" dur="1" fill="hold">
                                          <p:stCondLst>
                                            <p:cond delay="0"/>
                                          </p:stCondLst>
                                        </p:cTn>
                                        <p:tgtEl>
                                          <p:spTgt spid="348212"/>
                                        </p:tgtEl>
                                        <p:attrNameLst>
                                          <p:attrName>style.visibility</p:attrName>
                                        </p:attrNameLst>
                                      </p:cBhvr>
                                      <p:to>
                                        <p:strVal val="visible"/>
                                      </p:to>
                                    </p:set>
                                    <p:animEffect transition="in" filter="wipe(right)">
                                      <p:cBhvr>
                                        <p:cTn id="76" dur="500"/>
                                        <p:tgtEl>
                                          <p:spTgt spid="348212"/>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2" fill="hold" grpId="0" nodeType="clickEffect">
                                  <p:stCondLst>
                                    <p:cond delay="0"/>
                                  </p:stCondLst>
                                  <p:childTnLst>
                                    <p:set>
                                      <p:cBhvr>
                                        <p:cTn id="80" dur="1" fill="hold">
                                          <p:stCondLst>
                                            <p:cond delay="0"/>
                                          </p:stCondLst>
                                        </p:cTn>
                                        <p:tgtEl>
                                          <p:spTgt spid="348205"/>
                                        </p:tgtEl>
                                        <p:attrNameLst>
                                          <p:attrName>style.visibility</p:attrName>
                                        </p:attrNameLst>
                                      </p:cBhvr>
                                      <p:to>
                                        <p:strVal val="visible"/>
                                      </p:to>
                                    </p:set>
                                    <p:animEffect transition="in" filter="wipe(right)">
                                      <p:cBhvr>
                                        <p:cTn id="81" dur="500"/>
                                        <p:tgtEl>
                                          <p:spTgt spid="348205"/>
                                        </p:tgtEl>
                                      </p:cBhvr>
                                    </p:animEffect>
                                  </p:childTnLst>
                                </p:cTn>
                              </p:par>
                              <p:par>
                                <p:cTn id="82" presetID="22" presetClass="entr" presetSubtype="2" fill="hold" grpId="0" nodeType="withEffect">
                                  <p:stCondLst>
                                    <p:cond delay="0"/>
                                  </p:stCondLst>
                                  <p:childTnLst>
                                    <p:set>
                                      <p:cBhvr>
                                        <p:cTn id="83" dur="1" fill="hold">
                                          <p:stCondLst>
                                            <p:cond delay="0"/>
                                          </p:stCondLst>
                                        </p:cTn>
                                        <p:tgtEl>
                                          <p:spTgt spid="348207"/>
                                        </p:tgtEl>
                                        <p:attrNameLst>
                                          <p:attrName>style.visibility</p:attrName>
                                        </p:attrNameLst>
                                      </p:cBhvr>
                                      <p:to>
                                        <p:strVal val="visible"/>
                                      </p:to>
                                    </p:set>
                                    <p:animEffect transition="in" filter="wipe(right)">
                                      <p:cBhvr>
                                        <p:cTn id="84" dur="500"/>
                                        <p:tgtEl>
                                          <p:spTgt spid="348207"/>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2" fill="hold" grpId="0" nodeType="clickEffect">
                                  <p:stCondLst>
                                    <p:cond delay="0"/>
                                  </p:stCondLst>
                                  <p:childTnLst>
                                    <p:set>
                                      <p:cBhvr>
                                        <p:cTn id="88" dur="1" fill="hold">
                                          <p:stCondLst>
                                            <p:cond delay="0"/>
                                          </p:stCondLst>
                                        </p:cTn>
                                        <p:tgtEl>
                                          <p:spTgt spid="348209"/>
                                        </p:tgtEl>
                                        <p:attrNameLst>
                                          <p:attrName>style.visibility</p:attrName>
                                        </p:attrNameLst>
                                      </p:cBhvr>
                                      <p:to>
                                        <p:strVal val="visible"/>
                                      </p:to>
                                    </p:set>
                                    <p:animEffect transition="in" filter="wipe(right)">
                                      <p:cBhvr>
                                        <p:cTn id="89" dur="500"/>
                                        <p:tgtEl>
                                          <p:spTgt spid="348209"/>
                                        </p:tgtEl>
                                      </p:cBhvr>
                                    </p:animEffect>
                                  </p:childTnLst>
                                </p:cTn>
                              </p:par>
                              <p:par>
                                <p:cTn id="90" presetID="22" presetClass="entr" presetSubtype="2" fill="hold" grpId="0" nodeType="withEffect">
                                  <p:stCondLst>
                                    <p:cond delay="0"/>
                                  </p:stCondLst>
                                  <p:childTnLst>
                                    <p:set>
                                      <p:cBhvr>
                                        <p:cTn id="91" dur="1" fill="hold">
                                          <p:stCondLst>
                                            <p:cond delay="0"/>
                                          </p:stCondLst>
                                        </p:cTn>
                                        <p:tgtEl>
                                          <p:spTgt spid="348210"/>
                                        </p:tgtEl>
                                        <p:attrNameLst>
                                          <p:attrName>style.visibility</p:attrName>
                                        </p:attrNameLst>
                                      </p:cBhvr>
                                      <p:to>
                                        <p:strVal val="visible"/>
                                      </p:to>
                                    </p:set>
                                    <p:animEffect transition="in" filter="wipe(right)">
                                      <p:cBhvr>
                                        <p:cTn id="92" dur="500"/>
                                        <p:tgtEl>
                                          <p:spTgt spid="348210"/>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348215"/>
                                        </p:tgtEl>
                                        <p:attrNameLst>
                                          <p:attrName>style.visibility</p:attrName>
                                        </p:attrNameLst>
                                      </p:cBhvr>
                                      <p:to>
                                        <p:strVal val="visible"/>
                                      </p:to>
                                    </p:set>
                                    <p:animEffect transition="in" filter="wipe(left)">
                                      <p:cBhvr>
                                        <p:cTn id="97" dur="500"/>
                                        <p:tgtEl>
                                          <p:spTgt spid="348215"/>
                                        </p:tgtEl>
                                      </p:cBhvr>
                                    </p:animEffect>
                                  </p:childTnLst>
                                </p:cTn>
                              </p:par>
                              <p:par>
                                <p:cTn id="98" presetID="22" presetClass="entr" presetSubtype="8" fill="hold" grpId="0" nodeType="withEffect">
                                  <p:stCondLst>
                                    <p:cond delay="0"/>
                                  </p:stCondLst>
                                  <p:childTnLst>
                                    <p:set>
                                      <p:cBhvr>
                                        <p:cTn id="99" dur="1" fill="hold">
                                          <p:stCondLst>
                                            <p:cond delay="0"/>
                                          </p:stCondLst>
                                        </p:cTn>
                                        <p:tgtEl>
                                          <p:spTgt spid="348216"/>
                                        </p:tgtEl>
                                        <p:attrNameLst>
                                          <p:attrName>style.visibility</p:attrName>
                                        </p:attrNameLst>
                                      </p:cBhvr>
                                      <p:to>
                                        <p:strVal val="visible"/>
                                      </p:to>
                                    </p:set>
                                    <p:animEffect transition="in" filter="wipe(left)">
                                      <p:cBhvr>
                                        <p:cTn id="100" dur="500"/>
                                        <p:tgtEl>
                                          <p:spTgt spid="348216"/>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348217"/>
                                        </p:tgtEl>
                                        <p:attrNameLst>
                                          <p:attrName>style.visibility</p:attrName>
                                        </p:attrNameLst>
                                      </p:cBhvr>
                                      <p:to>
                                        <p:strVal val="visible"/>
                                      </p:to>
                                    </p:set>
                                    <p:animEffect transition="in" filter="wipe(left)">
                                      <p:cBhvr>
                                        <p:cTn id="105" dur="500"/>
                                        <p:tgtEl>
                                          <p:spTgt spid="348217"/>
                                        </p:tgtEl>
                                      </p:cBhvr>
                                    </p:animEffect>
                                  </p:childTnLst>
                                </p:cTn>
                              </p:par>
                              <p:par>
                                <p:cTn id="106" presetID="22" presetClass="entr" presetSubtype="8" fill="hold" grpId="0" nodeType="withEffect">
                                  <p:stCondLst>
                                    <p:cond delay="0"/>
                                  </p:stCondLst>
                                  <p:childTnLst>
                                    <p:set>
                                      <p:cBhvr>
                                        <p:cTn id="107" dur="1" fill="hold">
                                          <p:stCondLst>
                                            <p:cond delay="0"/>
                                          </p:stCondLst>
                                        </p:cTn>
                                        <p:tgtEl>
                                          <p:spTgt spid="348218"/>
                                        </p:tgtEl>
                                        <p:attrNameLst>
                                          <p:attrName>style.visibility</p:attrName>
                                        </p:attrNameLst>
                                      </p:cBhvr>
                                      <p:to>
                                        <p:strVal val="visible"/>
                                      </p:to>
                                    </p:set>
                                    <p:animEffect transition="in" filter="wipe(left)">
                                      <p:cBhvr>
                                        <p:cTn id="108" dur="500"/>
                                        <p:tgtEl>
                                          <p:spTgt spid="348218"/>
                                        </p:tgtEl>
                                      </p:cBhvr>
                                    </p:animEffect>
                                  </p:childTnLst>
                                </p:cTn>
                              </p:par>
                            </p:childTnLst>
                          </p:cTn>
                        </p:par>
                        <p:par>
                          <p:cTn id="109" fill="hold" nodeType="afterGroup">
                            <p:stCondLst>
                              <p:cond delay="500"/>
                            </p:stCondLst>
                            <p:childTnLst>
                              <p:par>
                                <p:cTn id="110" presetID="22" presetClass="entr" presetSubtype="8" fill="hold" grpId="0" nodeType="afterEffect">
                                  <p:stCondLst>
                                    <p:cond delay="0"/>
                                  </p:stCondLst>
                                  <p:childTnLst>
                                    <p:set>
                                      <p:cBhvr>
                                        <p:cTn id="111" dur="1" fill="hold">
                                          <p:stCondLst>
                                            <p:cond delay="0"/>
                                          </p:stCondLst>
                                        </p:cTn>
                                        <p:tgtEl>
                                          <p:spTgt spid="348219"/>
                                        </p:tgtEl>
                                        <p:attrNameLst>
                                          <p:attrName>style.visibility</p:attrName>
                                        </p:attrNameLst>
                                      </p:cBhvr>
                                      <p:to>
                                        <p:strVal val="visible"/>
                                      </p:to>
                                    </p:set>
                                    <p:animEffect transition="in" filter="wipe(left)">
                                      <p:cBhvr>
                                        <p:cTn id="112" dur="500"/>
                                        <p:tgtEl>
                                          <p:spTgt spid="348219"/>
                                        </p:tgtEl>
                                      </p:cBhvr>
                                    </p:animEffect>
                                  </p:childTnLst>
                                </p:cTn>
                              </p:par>
                              <p:par>
                                <p:cTn id="113" presetID="22" presetClass="entr" presetSubtype="8" fill="hold" grpId="0" nodeType="withEffect">
                                  <p:stCondLst>
                                    <p:cond delay="0"/>
                                  </p:stCondLst>
                                  <p:childTnLst>
                                    <p:set>
                                      <p:cBhvr>
                                        <p:cTn id="114" dur="1" fill="hold">
                                          <p:stCondLst>
                                            <p:cond delay="0"/>
                                          </p:stCondLst>
                                        </p:cTn>
                                        <p:tgtEl>
                                          <p:spTgt spid="348220"/>
                                        </p:tgtEl>
                                        <p:attrNameLst>
                                          <p:attrName>style.visibility</p:attrName>
                                        </p:attrNameLst>
                                      </p:cBhvr>
                                      <p:to>
                                        <p:strVal val="visible"/>
                                      </p:to>
                                    </p:set>
                                    <p:animEffect transition="in" filter="wipe(left)">
                                      <p:cBhvr>
                                        <p:cTn id="115" dur="500"/>
                                        <p:tgtEl>
                                          <p:spTgt spid="348220"/>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348213"/>
                                        </p:tgtEl>
                                        <p:attrNameLst>
                                          <p:attrName>style.visibility</p:attrName>
                                        </p:attrNameLst>
                                      </p:cBhvr>
                                      <p:to>
                                        <p:strVal val="visible"/>
                                      </p:to>
                                    </p:set>
                                    <p:animEffect transition="in" filter="wipe(left)">
                                      <p:cBhvr>
                                        <p:cTn id="120" dur="500"/>
                                        <p:tgtEl>
                                          <p:spTgt spid="348213"/>
                                        </p:tgtEl>
                                      </p:cBhvr>
                                    </p:animEffect>
                                  </p:childTnLst>
                                </p:cTn>
                              </p:par>
                              <p:par>
                                <p:cTn id="121" presetID="22" presetClass="entr" presetSubtype="8" fill="hold" grpId="0" nodeType="withEffect">
                                  <p:stCondLst>
                                    <p:cond delay="0"/>
                                  </p:stCondLst>
                                  <p:childTnLst>
                                    <p:set>
                                      <p:cBhvr>
                                        <p:cTn id="122" dur="1" fill="hold">
                                          <p:stCondLst>
                                            <p:cond delay="0"/>
                                          </p:stCondLst>
                                        </p:cTn>
                                        <p:tgtEl>
                                          <p:spTgt spid="348214"/>
                                        </p:tgtEl>
                                        <p:attrNameLst>
                                          <p:attrName>style.visibility</p:attrName>
                                        </p:attrNameLst>
                                      </p:cBhvr>
                                      <p:to>
                                        <p:strVal val="visible"/>
                                      </p:to>
                                    </p:set>
                                    <p:animEffect transition="in" filter="wipe(left)">
                                      <p:cBhvr>
                                        <p:cTn id="123" dur="500"/>
                                        <p:tgtEl>
                                          <p:spTgt spid="348214"/>
                                        </p:tgtEl>
                                      </p:cBhvr>
                                    </p:animEffect>
                                  </p:childTnLst>
                                </p:cTn>
                              </p:par>
                            </p:childTnLst>
                          </p:cTn>
                        </p:par>
                        <p:par>
                          <p:cTn id="124" fill="hold" nodeType="afterGroup">
                            <p:stCondLst>
                              <p:cond delay="500"/>
                            </p:stCondLst>
                            <p:childTnLst>
                              <p:par>
                                <p:cTn id="125" presetID="3" presetClass="exit" presetSubtype="10" fill="hold" grpId="0" nodeType="afterEffect">
                                  <p:stCondLst>
                                    <p:cond delay="0"/>
                                  </p:stCondLst>
                                  <p:childTnLst>
                                    <p:animEffect transition="out" filter="blinds(horizontal)">
                                      <p:cBhvr>
                                        <p:cTn id="126" dur="500"/>
                                        <p:tgtEl>
                                          <p:spTgt spid="348187"/>
                                        </p:tgtEl>
                                      </p:cBhvr>
                                    </p:animEffect>
                                    <p:set>
                                      <p:cBhvr>
                                        <p:cTn id="127" dur="1" fill="hold">
                                          <p:stCondLst>
                                            <p:cond delay="499"/>
                                          </p:stCondLst>
                                        </p:cTn>
                                        <p:tgtEl>
                                          <p:spTgt spid="348187"/>
                                        </p:tgtEl>
                                        <p:attrNameLst>
                                          <p:attrName>style.visibility</p:attrName>
                                        </p:attrNameLst>
                                      </p:cBhvr>
                                      <p:to>
                                        <p:strVal val="hidden"/>
                                      </p:to>
                                    </p:set>
                                  </p:childTnLst>
                                </p:cTn>
                              </p:par>
                              <p:par>
                                <p:cTn id="128" presetID="3" presetClass="exit" presetSubtype="10" fill="hold" grpId="0" nodeType="withEffect">
                                  <p:stCondLst>
                                    <p:cond delay="0"/>
                                  </p:stCondLst>
                                  <p:childTnLst>
                                    <p:animEffect transition="out" filter="blinds(horizontal)">
                                      <p:cBhvr>
                                        <p:cTn id="129" dur="500"/>
                                        <p:tgtEl>
                                          <p:spTgt spid="348188"/>
                                        </p:tgtEl>
                                      </p:cBhvr>
                                    </p:animEffect>
                                    <p:set>
                                      <p:cBhvr>
                                        <p:cTn id="130" dur="1" fill="hold">
                                          <p:stCondLst>
                                            <p:cond delay="499"/>
                                          </p:stCondLst>
                                        </p:cTn>
                                        <p:tgtEl>
                                          <p:spTgt spid="3481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7" grpId="0" animBg="1"/>
      <p:bldP spid="348188" grpId="0"/>
      <p:bldP spid="348189" grpId="0" animBg="1"/>
      <p:bldP spid="348190" grpId="0"/>
      <p:bldP spid="348191" grpId="0" animBg="1"/>
      <p:bldP spid="348192" grpId="0"/>
      <p:bldP spid="348193" grpId="0" animBg="1"/>
      <p:bldP spid="348194" grpId="0"/>
      <p:bldP spid="348195" grpId="0" animBg="1"/>
      <p:bldP spid="348196" grpId="0"/>
      <p:bldP spid="348197" grpId="0" animBg="1"/>
      <p:bldP spid="348198" grpId="0"/>
      <p:bldP spid="348199" grpId="0"/>
      <p:bldP spid="348200" grpId="0" animBg="1"/>
      <p:bldP spid="348201" grpId="0" animBg="1"/>
      <p:bldP spid="348202" grpId="0"/>
      <p:bldP spid="348203" grpId="0" animBg="1"/>
      <p:bldP spid="348204" grpId="0"/>
      <p:bldP spid="348205" grpId="0" animBg="1"/>
      <p:bldP spid="348206" grpId="0" animBg="1"/>
      <p:bldP spid="348207" grpId="0"/>
      <p:bldP spid="348208" grpId="0"/>
      <p:bldP spid="348209" grpId="0" animBg="1"/>
      <p:bldP spid="348210" grpId="0"/>
      <p:bldP spid="348211" grpId="0" animBg="1"/>
      <p:bldP spid="348212" grpId="0"/>
      <p:bldP spid="348213" grpId="0"/>
      <p:bldP spid="348214" grpId="0" animBg="1"/>
      <p:bldP spid="348215" grpId="0" animBg="1"/>
      <p:bldP spid="348216" grpId="0"/>
      <p:bldP spid="348217" grpId="0" animBg="1"/>
      <p:bldP spid="348218" grpId="0"/>
      <p:bldP spid="348219" grpId="0" animBg="1"/>
      <p:bldP spid="3482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598949364"/>
              </p:ext>
            </p:extLst>
          </p:nvPr>
        </p:nvGraphicFramePr>
        <p:xfrm>
          <a:off x="99301" y="267293"/>
          <a:ext cx="5232553" cy="6406550"/>
        </p:xfrm>
        <a:graphic>
          <a:graphicData uri="http://schemas.openxmlformats.org/drawingml/2006/table">
            <a:tbl>
              <a:tblPr/>
              <a:tblGrid>
                <a:gridCol w="871584">
                  <a:extLst>
                    <a:ext uri="{9D8B030D-6E8A-4147-A177-3AD203B41FA5}">
                      <a16:colId xmlns:a16="http://schemas.microsoft.com/office/drawing/2014/main" val="20000"/>
                    </a:ext>
                  </a:extLst>
                </a:gridCol>
                <a:gridCol w="2132923">
                  <a:extLst>
                    <a:ext uri="{9D8B030D-6E8A-4147-A177-3AD203B41FA5}">
                      <a16:colId xmlns:a16="http://schemas.microsoft.com/office/drawing/2014/main" val="20001"/>
                    </a:ext>
                  </a:extLst>
                </a:gridCol>
                <a:gridCol w="476519">
                  <a:extLst>
                    <a:ext uri="{9D8B030D-6E8A-4147-A177-3AD203B41FA5}">
                      <a16:colId xmlns:a16="http://schemas.microsoft.com/office/drawing/2014/main" val="20002"/>
                    </a:ext>
                  </a:extLst>
                </a:gridCol>
                <a:gridCol w="1751527">
                  <a:extLst>
                    <a:ext uri="{9D8B030D-6E8A-4147-A177-3AD203B41FA5}">
                      <a16:colId xmlns:a16="http://schemas.microsoft.com/office/drawing/2014/main" val="20003"/>
                    </a:ext>
                  </a:extLst>
                </a:gridCol>
              </a:tblGrid>
              <a:tr h="164584">
                <a:tc>
                  <a:txBody>
                    <a:bodyPr/>
                    <a:lstStyle/>
                    <a:p>
                      <a:pPr algn="ctr" rtl="0" fontAlgn="ctr"/>
                      <a:r>
                        <a:rPr lang="en-US" sz="1000" b="0" i="0" u="none" strike="noStrike">
                          <a:solidFill>
                            <a:srgbClr val="000000"/>
                          </a:solidFill>
                          <a:effectLst/>
                          <a:latin typeface="Meta Offc"/>
                        </a:rPr>
                        <a:t>Code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Description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Code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Description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64584">
                <a:tc>
                  <a:txBody>
                    <a:bodyPr/>
                    <a:lstStyle/>
                    <a:p>
                      <a:pPr algn="ctr" rtl="0" fontAlgn="ctr"/>
                      <a:r>
                        <a:rPr lang="en-US" sz="1000" b="0" i="0" u="none" strike="noStrike">
                          <a:solidFill>
                            <a:srgbClr val="000000"/>
                          </a:solidFill>
                          <a:effectLst/>
                          <a:latin typeface="Meta Offc"/>
                        </a:rPr>
                        <a:t>100</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Trying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429</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Provide Referrer Identity</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64584">
                <a:tc>
                  <a:txBody>
                    <a:bodyPr/>
                    <a:lstStyle/>
                    <a:p>
                      <a:pPr algn="ctr" rtl="0" fontAlgn="ctr"/>
                      <a:r>
                        <a:rPr lang="en-US" sz="1000" b="0" i="0" u="none" strike="noStrike">
                          <a:solidFill>
                            <a:srgbClr val="000000"/>
                          </a:solidFill>
                          <a:effectLst/>
                          <a:latin typeface="Meta Offc"/>
                        </a:rPr>
                        <a:t>180</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Ringing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430</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Flow Failed</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64584">
                <a:tc>
                  <a:txBody>
                    <a:bodyPr/>
                    <a:lstStyle/>
                    <a:p>
                      <a:pPr algn="ctr" rtl="0" fontAlgn="ctr"/>
                      <a:r>
                        <a:rPr lang="en-US" sz="1000" b="0" i="0" u="none" strike="noStrike">
                          <a:solidFill>
                            <a:srgbClr val="000000"/>
                          </a:solidFill>
                          <a:effectLst/>
                          <a:latin typeface="Meta Offc"/>
                        </a:rPr>
                        <a:t>181</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Call Is Being Forwarded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433</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Anonymity Disallowed</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64584">
                <a:tc>
                  <a:txBody>
                    <a:bodyPr/>
                    <a:lstStyle/>
                    <a:p>
                      <a:pPr algn="ctr" rtl="0" fontAlgn="ctr"/>
                      <a:r>
                        <a:rPr lang="en-US" sz="1000" b="0" i="0" u="none" strike="noStrike">
                          <a:solidFill>
                            <a:srgbClr val="000000"/>
                          </a:solidFill>
                          <a:effectLst/>
                          <a:latin typeface="Meta Offc"/>
                        </a:rPr>
                        <a:t>182</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Queued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436</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Bad Identity-Info</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64584">
                <a:tc>
                  <a:txBody>
                    <a:bodyPr/>
                    <a:lstStyle/>
                    <a:p>
                      <a:pPr algn="ctr" rtl="0" fontAlgn="ctr"/>
                      <a:r>
                        <a:rPr lang="en-US" sz="1000" b="0" i="0" u="none" strike="noStrike">
                          <a:solidFill>
                            <a:srgbClr val="000000"/>
                          </a:solidFill>
                          <a:effectLst/>
                          <a:latin typeface="Meta Offc"/>
                        </a:rPr>
                        <a:t>183</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Session Progress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437</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Unsupported Certificate</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64584">
                <a:tc>
                  <a:txBody>
                    <a:bodyPr/>
                    <a:lstStyle/>
                    <a:p>
                      <a:pPr algn="ctr" rtl="0" fontAlgn="ctr"/>
                      <a:r>
                        <a:rPr lang="en-US" sz="1000" b="0" i="0" u="none" strike="noStrike">
                          <a:solidFill>
                            <a:srgbClr val="000000"/>
                          </a:solidFill>
                          <a:effectLst/>
                          <a:latin typeface="Meta Offc"/>
                        </a:rPr>
                        <a:t>199</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Early Dialog Terminated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438</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Invalid Identity Header</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23055">
                <a:tc>
                  <a:txBody>
                    <a:bodyPr/>
                    <a:lstStyle/>
                    <a:p>
                      <a:pPr algn="ctr" rtl="0" fontAlgn="ctr"/>
                      <a:r>
                        <a:rPr lang="en-US" sz="1000" b="0" i="0" u="none" strike="noStrike">
                          <a:solidFill>
                            <a:srgbClr val="000000"/>
                          </a:solidFill>
                          <a:effectLst/>
                          <a:latin typeface="Meta Offc"/>
                        </a:rPr>
                        <a:t>200</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OK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439</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First Hop Lacks Outbound Support</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64584">
                <a:tc>
                  <a:txBody>
                    <a:bodyPr/>
                    <a:lstStyle/>
                    <a:p>
                      <a:pPr algn="ctr" rtl="0" fontAlgn="ctr"/>
                      <a:r>
                        <a:rPr lang="en-US" sz="1000" b="0" i="0" u="none" strike="noStrike">
                          <a:solidFill>
                            <a:srgbClr val="000000"/>
                          </a:solidFill>
                          <a:effectLst/>
                          <a:latin typeface="Meta Offc"/>
                        </a:rPr>
                        <a:t>202</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Accepted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440</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Max-Breadth Exceeded</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64584">
                <a:tc>
                  <a:txBody>
                    <a:bodyPr/>
                    <a:lstStyle/>
                    <a:p>
                      <a:pPr algn="ctr" rtl="0" fontAlgn="ctr"/>
                      <a:r>
                        <a:rPr lang="en-US" sz="1000" b="0" i="0" u="none" strike="noStrike">
                          <a:solidFill>
                            <a:srgbClr val="000000"/>
                          </a:solidFill>
                          <a:effectLst/>
                          <a:latin typeface="Meta Offc"/>
                        </a:rPr>
                        <a:t>204</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No Notification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469</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Bad Info Package</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64584">
                <a:tc>
                  <a:txBody>
                    <a:bodyPr/>
                    <a:lstStyle/>
                    <a:p>
                      <a:pPr algn="ctr" rtl="0" fontAlgn="ctr"/>
                      <a:r>
                        <a:rPr lang="en-US" sz="1000" b="0" i="0" u="none" strike="noStrike">
                          <a:solidFill>
                            <a:srgbClr val="000000"/>
                          </a:solidFill>
                          <a:effectLst/>
                          <a:latin typeface="Meta Offc"/>
                        </a:rPr>
                        <a:t>300</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Multiple Choices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470</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Consent Needed</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64584">
                <a:tc>
                  <a:txBody>
                    <a:bodyPr/>
                    <a:lstStyle/>
                    <a:p>
                      <a:pPr algn="ctr" rtl="0" fontAlgn="ctr"/>
                      <a:r>
                        <a:rPr lang="en-US" sz="1000" b="0" i="0" u="none" strike="noStrike">
                          <a:solidFill>
                            <a:srgbClr val="000000"/>
                          </a:solidFill>
                          <a:effectLst/>
                          <a:latin typeface="Meta Offc"/>
                        </a:rPr>
                        <a:t>301</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Moved Permanently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480</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Temporarily Unavailable</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164584">
                <a:tc>
                  <a:txBody>
                    <a:bodyPr/>
                    <a:lstStyle/>
                    <a:p>
                      <a:pPr algn="ctr" rtl="0" fontAlgn="ctr"/>
                      <a:r>
                        <a:rPr lang="en-US" sz="1000" b="0" i="0" u="none" strike="noStrike">
                          <a:solidFill>
                            <a:srgbClr val="000000"/>
                          </a:solidFill>
                          <a:effectLst/>
                          <a:latin typeface="Meta Offc"/>
                        </a:rPr>
                        <a:t>302</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Moved Temporarily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481</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Call/Transaction Does Not Exist</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64584">
                <a:tc>
                  <a:txBody>
                    <a:bodyPr/>
                    <a:lstStyle/>
                    <a:p>
                      <a:pPr algn="ctr" rtl="0" fontAlgn="ctr"/>
                      <a:r>
                        <a:rPr lang="en-US" sz="1000" b="0" i="0" u="none" strike="noStrike">
                          <a:solidFill>
                            <a:srgbClr val="000000"/>
                          </a:solidFill>
                          <a:effectLst/>
                          <a:latin typeface="Meta Offc"/>
                        </a:rPr>
                        <a:t>305</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Use Proxy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482</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Loop Detected</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164584">
                <a:tc>
                  <a:txBody>
                    <a:bodyPr/>
                    <a:lstStyle/>
                    <a:p>
                      <a:pPr algn="ctr" rtl="0" fontAlgn="ctr"/>
                      <a:r>
                        <a:rPr lang="en-US" sz="1000" b="0" i="0" u="none" strike="noStrike">
                          <a:solidFill>
                            <a:srgbClr val="000000"/>
                          </a:solidFill>
                          <a:effectLst/>
                          <a:latin typeface="Meta Offc"/>
                        </a:rPr>
                        <a:t>380</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Alternative Service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483</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Too Many Hops</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164584">
                <a:tc>
                  <a:txBody>
                    <a:bodyPr/>
                    <a:lstStyle/>
                    <a:p>
                      <a:pPr algn="ctr" rtl="0" fontAlgn="ctr"/>
                      <a:r>
                        <a:rPr lang="en-US" sz="1000" b="0" i="0" u="none" strike="noStrike">
                          <a:solidFill>
                            <a:srgbClr val="000000"/>
                          </a:solidFill>
                          <a:effectLst/>
                          <a:latin typeface="Meta Offc"/>
                        </a:rPr>
                        <a:t>400</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Bad Request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484</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Address Incomplete</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164584">
                <a:tc>
                  <a:txBody>
                    <a:bodyPr/>
                    <a:lstStyle/>
                    <a:p>
                      <a:pPr algn="ctr" rtl="0" fontAlgn="ctr"/>
                      <a:r>
                        <a:rPr lang="en-US" sz="1000" b="0" i="0" u="none" strike="noStrike">
                          <a:solidFill>
                            <a:srgbClr val="000000"/>
                          </a:solidFill>
                          <a:effectLst/>
                          <a:latin typeface="Meta Offc"/>
                        </a:rPr>
                        <a:t>401</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Unauthorized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485</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Ambiguous</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164584">
                <a:tc>
                  <a:txBody>
                    <a:bodyPr/>
                    <a:lstStyle/>
                    <a:p>
                      <a:pPr algn="ctr" rtl="0" fontAlgn="ctr"/>
                      <a:r>
                        <a:rPr lang="en-US" sz="1000" b="0" i="0" u="none" strike="noStrike">
                          <a:solidFill>
                            <a:srgbClr val="000000"/>
                          </a:solidFill>
                          <a:effectLst/>
                          <a:latin typeface="Meta Offc"/>
                        </a:rPr>
                        <a:t>402</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Payment Required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486</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Busy Here</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164584">
                <a:tc>
                  <a:txBody>
                    <a:bodyPr/>
                    <a:lstStyle/>
                    <a:p>
                      <a:pPr algn="ctr" rtl="0" fontAlgn="ctr"/>
                      <a:r>
                        <a:rPr lang="en-US" sz="1000" b="0" i="0" u="none" strike="noStrike">
                          <a:solidFill>
                            <a:srgbClr val="000000"/>
                          </a:solidFill>
                          <a:effectLst/>
                          <a:latin typeface="Meta Offc"/>
                        </a:rPr>
                        <a:t>403</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Forbidden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487</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Request Terminated</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164584">
                <a:tc>
                  <a:txBody>
                    <a:bodyPr/>
                    <a:lstStyle/>
                    <a:p>
                      <a:pPr algn="ctr" rtl="0" fontAlgn="ctr"/>
                      <a:r>
                        <a:rPr lang="en-US" sz="1000" b="0" i="0" u="none" strike="noStrike">
                          <a:solidFill>
                            <a:srgbClr val="000000"/>
                          </a:solidFill>
                          <a:effectLst/>
                          <a:latin typeface="Meta Offc"/>
                        </a:rPr>
                        <a:t>404</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Not Found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488</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Not Acceptable Here</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164584">
                <a:tc>
                  <a:txBody>
                    <a:bodyPr/>
                    <a:lstStyle/>
                    <a:p>
                      <a:pPr algn="ctr" rtl="0" fontAlgn="ctr"/>
                      <a:r>
                        <a:rPr lang="en-US" sz="1000" b="0" i="0" u="none" strike="noStrike">
                          <a:solidFill>
                            <a:srgbClr val="000000"/>
                          </a:solidFill>
                          <a:effectLst/>
                          <a:latin typeface="Meta Offc"/>
                        </a:rPr>
                        <a:t>405</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Method Not Allowed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489</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Bad Event RFC3265</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r h="164584">
                <a:tc>
                  <a:txBody>
                    <a:bodyPr/>
                    <a:lstStyle/>
                    <a:p>
                      <a:pPr algn="ctr" rtl="0" fontAlgn="ctr"/>
                      <a:r>
                        <a:rPr lang="en-US" sz="1000" b="0" i="0" u="none" strike="noStrike">
                          <a:solidFill>
                            <a:srgbClr val="000000"/>
                          </a:solidFill>
                          <a:effectLst/>
                          <a:latin typeface="Meta Offc"/>
                        </a:rPr>
                        <a:t>406</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Not Acceptable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491</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Request Pending</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164584">
                <a:tc>
                  <a:txBody>
                    <a:bodyPr/>
                    <a:lstStyle/>
                    <a:p>
                      <a:pPr algn="ctr" rtl="0" fontAlgn="ctr"/>
                      <a:r>
                        <a:rPr lang="en-US" sz="1000" b="0" i="0" u="none" strike="noStrike">
                          <a:solidFill>
                            <a:srgbClr val="000000"/>
                          </a:solidFill>
                          <a:effectLst/>
                          <a:latin typeface="Meta Offc"/>
                        </a:rPr>
                        <a:t>407</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Proxy Authentication Required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493</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Undecipherable</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2"/>
                  </a:ext>
                </a:extLst>
              </a:tr>
              <a:tr h="323055">
                <a:tc>
                  <a:txBody>
                    <a:bodyPr/>
                    <a:lstStyle/>
                    <a:p>
                      <a:pPr algn="ctr" rtl="0" fontAlgn="ctr"/>
                      <a:r>
                        <a:rPr lang="en-US" sz="1000" b="0" i="0" u="none" strike="noStrike">
                          <a:solidFill>
                            <a:srgbClr val="000000"/>
                          </a:solidFill>
                          <a:effectLst/>
                          <a:latin typeface="Meta Offc"/>
                        </a:rPr>
                        <a:t>408</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Request Timeout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494</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Security Agreement Required RFC3329</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164584">
                <a:tc>
                  <a:txBody>
                    <a:bodyPr/>
                    <a:lstStyle/>
                    <a:p>
                      <a:pPr algn="ctr" rtl="0" fontAlgn="ctr"/>
                      <a:r>
                        <a:rPr lang="en-US" sz="1000" b="0" i="0" u="none" strike="noStrike">
                          <a:solidFill>
                            <a:srgbClr val="000000"/>
                          </a:solidFill>
                          <a:effectLst/>
                          <a:latin typeface="Meta Offc"/>
                        </a:rPr>
                        <a:t>410</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Gone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500</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Server Internal Error</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4"/>
                  </a:ext>
                </a:extLst>
              </a:tr>
              <a:tr h="164584">
                <a:tc>
                  <a:txBody>
                    <a:bodyPr/>
                    <a:lstStyle/>
                    <a:p>
                      <a:pPr algn="ctr" rtl="0" fontAlgn="ctr"/>
                      <a:r>
                        <a:rPr lang="en-US" sz="1000" b="0" i="0" u="none" strike="noStrike">
                          <a:solidFill>
                            <a:srgbClr val="000000"/>
                          </a:solidFill>
                          <a:effectLst/>
                          <a:latin typeface="Meta Offc"/>
                        </a:rPr>
                        <a:t>412</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Conditional Request Failed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501</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Not Implemented</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5"/>
                  </a:ext>
                </a:extLst>
              </a:tr>
              <a:tr h="164584">
                <a:tc>
                  <a:txBody>
                    <a:bodyPr/>
                    <a:lstStyle/>
                    <a:p>
                      <a:pPr algn="ctr" rtl="0" fontAlgn="ctr"/>
                      <a:r>
                        <a:rPr lang="en-US" sz="1000" b="0" i="0" u="none" strike="noStrike">
                          <a:solidFill>
                            <a:srgbClr val="000000"/>
                          </a:solidFill>
                          <a:effectLst/>
                          <a:latin typeface="Meta Offc"/>
                        </a:rPr>
                        <a:t>413</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Request Entity Too Large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502</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Bad Gateway</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6"/>
                  </a:ext>
                </a:extLst>
              </a:tr>
              <a:tr h="164584">
                <a:tc>
                  <a:txBody>
                    <a:bodyPr/>
                    <a:lstStyle/>
                    <a:p>
                      <a:pPr algn="ctr" rtl="0" fontAlgn="ctr"/>
                      <a:r>
                        <a:rPr lang="en-US" sz="1000" b="0" i="0" u="none" strike="noStrike">
                          <a:solidFill>
                            <a:srgbClr val="000000"/>
                          </a:solidFill>
                          <a:effectLst/>
                          <a:latin typeface="Meta Offc"/>
                        </a:rPr>
                        <a:t>414</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Request-URI Too Long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503</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Service Unavailable</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7"/>
                  </a:ext>
                </a:extLst>
              </a:tr>
              <a:tr h="164584">
                <a:tc>
                  <a:txBody>
                    <a:bodyPr/>
                    <a:lstStyle/>
                    <a:p>
                      <a:pPr algn="ctr" rtl="0" fontAlgn="ctr"/>
                      <a:r>
                        <a:rPr lang="en-US" sz="1000" b="0" i="0" u="none" strike="noStrike">
                          <a:solidFill>
                            <a:srgbClr val="000000"/>
                          </a:solidFill>
                          <a:effectLst/>
                          <a:latin typeface="Meta Offc"/>
                        </a:rPr>
                        <a:t>415</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Unsupported Media Type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504</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Server Time-out</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8"/>
                  </a:ext>
                </a:extLst>
              </a:tr>
              <a:tr h="164584">
                <a:tc>
                  <a:txBody>
                    <a:bodyPr/>
                    <a:lstStyle/>
                    <a:p>
                      <a:pPr algn="ctr" rtl="0" fontAlgn="ctr"/>
                      <a:r>
                        <a:rPr lang="en-US" sz="1000" b="0" i="0" u="none" strike="noStrike">
                          <a:solidFill>
                            <a:srgbClr val="000000"/>
                          </a:solidFill>
                          <a:effectLst/>
                          <a:latin typeface="Meta Offc"/>
                        </a:rPr>
                        <a:t>416</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Unsupported URI Scheme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505</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Version Not Supported</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9"/>
                  </a:ext>
                </a:extLst>
              </a:tr>
              <a:tr h="164584">
                <a:tc>
                  <a:txBody>
                    <a:bodyPr/>
                    <a:lstStyle/>
                    <a:p>
                      <a:pPr algn="ctr" rtl="0" fontAlgn="ctr"/>
                      <a:r>
                        <a:rPr lang="en-US" sz="1000" b="0" i="0" u="none" strike="noStrike">
                          <a:solidFill>
                            <a:srgbClr val="000000"/>
                          </a:solidFill>
                          <a:effectLst/>
                          <a:latin typeface="Meta Offc"/>
                        </a:rPr>
                        <a:t>417</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Unknown Resource-Priority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513</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Message Too Large</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
                  </a:ext>
                </a:extLst>
              </a:tr>
              <a:tr h="164584">
                <a:tc>
                  <a:txBody>
                    <a:bodyPr/>
                    <a:lstStyle/>
                    <a:p>
                      <a:pPr algn="ctr" rtl="0" fontAlgn="ctr"/>
                      <a:r>
                        <a:rPr lang="en-US" sz="1000" b="0" i="0" u="none" strike="noStrike">
                          <a:solidFill>
                            <a:srgbClr val="000000"/>
                          </a:solidFill>
                          <a:effectLst/>
                          <a:latin typeface="Meta Offc"/>
                        </a:rPr>
                        <a:t>420</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Bad Extension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580</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Precondition Failure RFC3312</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1"/>
                  </a:ext>
                </a:extLst>
              </a:tr>
              <a:tr h="164584">
                <a:tc>
                  <a:txBody>
                    <a:bodyPr/>
                    <a:lstStyle/>
                    <a:p>
                      <a:pPr algn="ctr" rtl="0" fontAlgn="ctr"/>
                      <a:r>
                        <a:rPr lang="en-US" sz="1000" b="0" i="0" u="none" strike="noStrike">
                          <a:solidFill>
                            <a:srgbClr val="000000"/>
                          </a:solidFill>
                          <a:effectLst/>
                          <a:latin typeface="Meta Offc"/>
                        </a:rPr>
                        <a:t>421</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Extension Required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600</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Busy Everywhere</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2"/>
                  </a:ext>
                </a:extLst>
              </a:tr>
              <a:tr h="164584">
                <a:tc>
                  <a:txBody>
                    <a:bodyPr/>
                    <a:lstStyle/>
                    <a:p>
                      <a:pPr algn="ctr" rtl="0" fontAlgn="ctr"/>
                      <a:r>
                        <a:rPr lang="en-US" sz="1000" b="0" i="0" u="none" strike="noStrike">
                          <a:solidFill>
                            <a:srgbClr val="000000"/>
                          </a:solidFill>
                          <a:effectLst/>
                          <a:latin typeface="Meta Offc"/>
                        </a:rPr>
                        <a:t>422</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Session Interval Too Small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603</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Decline</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3"/>
                  </a:ext>
                </a:extLst>
              </a:tr>
              <a:tr h="164584">
                <a:tc>
                  <a:txBody>
                    <a:bodyPr/>
                    <a:lstStyle/>
                    <a:p>
                      <a:pPr algn="ctr" rtl="0" fontAlgn="ctr"/>
                      <a:r>
                        <a:rPr lang="en-US" sz="1000" b="0" i="0" u="none" strike="noStrike">
                          <a:solidFill>
                            <a:srgbClr val="000000"/>
                          </a:solidFill>
                          <a:effectLst/>
                          <a:latin typeface="Meta Offc"/>
                        </a:rPr>
                        <a:t>423</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Interval Too Brief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604</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Does Not Exist Anywhere</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4"/>
                  </a:ext>
                </a:extLst>
              </a:tr>
              <a:tr h="164584">
                <a:tc>
                  <a:txBody>
                    <a:bodyPr/>
                    <a:lstStyle/>
                    <a:p>
                      <a:pPr algn="ctr" rtl="0" fontAlgn="ctr"/>
                      <a:r>
                        <a:rPr lang="en-US" sz="1000" b="0" i="0" u="none" strike="noStrike">
                          <a:solidFill>
                            <a:srgbClr val="000000"/>
                          </a:solidFill>
                          <a:effectLst/>
                          <a:latin typeface="Meta Offc"/>
                        </a:rPr>
                        <a:t>424</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Bad Location Information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606</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Not Acceptable</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5"/>
                  </a:ext>
                </a:extLst>
              </a:tr>
              <a:tr h="164584">
                <a:tc>
                  <a:txBody>
                    <a:bodyPr/>
                    <a:lstStyle/>
                    <a:p>
                      <a:pPr algn="ctr" rtl="0" fontAlgn="ctr"/>
                      <a:r>
                        <a:rPr lang="en-US" sz="1000" b="0" i="0" u="none" strike="noStrike">
                          <a:solidFill>
                            <a:srgbClr val="000000"/>
                          </a:solidFill>
                          <a:effectLst/>
                          <a:latin typeface="Meta Offc"/>
                        </a:rPr>
                        <a:t>428</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Meta Offc"/>
                        </a:rPr>
                        <a:t>Use Identity Header </a:t>
                      </a:r>
                    </a:p>
                  </a:txBody>
                  <a:tcPr marL="5880" marR="5880" marT="58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 </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Calibri" panose="020F0502020204030204" pitchFamily="34" charset="0"/>
                        </a:rPr>
                        <a:t> </a:t>
                      </a:r>
                    </a:p>
                  </a:txBody>
                  <a:tcPr marL="5880" marR="5880" marT="588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6"/>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2962203355"/>
              </p:ext>
            </p:extLst>
          </p:nvPr>
        </p:nvGraphicFramePr>
        <p:xfrm>
          <a:off x="5550939" y="267293"/>
          <a:ext cx="5855306" cy="6406548"/>
        </p:xfrm>
        <a:graphic>
          <a:graphicData uri="http://schemas.openxmlformats.org/drawingml/2006/table">
            <a:tbl>
              <a:tblPr/>
              <a:tblGrid>
                <a:gridCol w="577774">
                  <a:extLst>
                    <a:ext uri="{9D8B030D-6E8A-4147-A177-3AD203B41FA5}">
                      <a16:colId xmlns:a16="http://schemas.microsoft.com/office/drawing/2014/main" val="20000"/>
                    </a:ext>
                  </a:extLst>
                </a:gridCol>
                <a:gridCol w="2578581">
                  <a:extLst>
                    <a:ext uri="{9D8B030D-6E8A-4147-A177-3AD203B41FA5}">
                      <a16:colId xmlns:a16="http://schemas.microsoft.com/office/drawing/2014/main" val="20001"/>
                    </a:ext>
                  </a:extLst>
                </a:gridCol>
                <a:gridCol w="505552">
                  <a:extLst>
                    <a:ext uri="{9D8B030D-6E8A-4147-A177-3AD203B41FA5}">
                      <a16:colId xmlns:a16="http://schemas.microsoft.com/office/drawing/2014/main" val="20002"/>
                    </a:ext>
                  </a:extLst>
                </a:gridCol>
                <a:gridCol w="2193399">
                  <a:extLst>
                    <a:ext uri="{9D8B030D-6E8A-4147-A177-3AD203B41FA5}">
                      <a16:colId xmlns:a16="http://schemas.microsoft.com/office/drawing/2014/main" val="20003"/>
                    </a:ext>
                  </a:extLst>
                </a:gridCol>
              </a:tblGrid>
              <a:tr h="236404">
                <a:tc>
                  <a:txBody>
                    <a:bodyPr/>
                    <a:lstStyle/>
                    <a:p>
                      <a:pPr algn="ctr" fontAlgn="b"/>
                      <a:r>
                        <a:rPr lang="en-US" sz="900" b="0" i="0" u="none" strike="noStrike">
                          <a:solidFill>
                            <a:srgbClr val="000000"/>
                          </a:solidFill>
                          <a:effectLst/>
                          <a:latin typeface="Calibri" panose="020F0502020204030204" pitchFamily="34" charset="0"/>
                        </a:rPr>
                        <a:t>AAA</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AA-Answer (authentication and/or authorization)</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MME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Mobility Management Entity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36404">
                <a:tc>
                  <a:txBody>
                    <a:bodyPr/>
                    <a:lstStyle/>
                    <a:p>
                      <a:pPr algn="ctr" fontAlgn="b"/>
                      <a:r>
                        <a:rPr lang="en-US" sz="900" b="0" i="0" u="none" strike="noStrike">
                          <a:solidFill>
                            <a:srgbClr val="000000"/>
                          </a:solidFill>
                          <a:effectLst/>
                          <a:latin typeface="Calibri" panose="020F0502020204030204" pitchFamily="34" charset="0"/>
                        </a:rPr>
                        <a:t>AAR</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AA-request (authentication and/or authorization)</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NAS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Non-Access Stratum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36404">
                <a:tc>
                  <a:txBody>
                    <a:bodyPr/>
                    <a:lstStyle/>
                    <a:p>
                      <a:pPr algn="ctr" rtl="0" fontAlgn="ctr"/>
                      <a:r>
                        <a:rPr lang="en-US" sz="900" b="0" i="0" u="none" strike="noStrike">
                          <a:solidFill>
                            <a:srgbClr val="000000"/>
                          </a:solidFill>
                          <a:effectLst/>
                          <a:latin typeface="MetaMediumLF-Roman"/>
                        </a:rPr>
                        <a:t>ACK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ACKnowledge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P-CSCF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Proxy- Call Session Control Function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36404">
                <a:tc>
                  <a:txBody>
                    <a:bodyPr/>
                    <a:lstStyle/>
                    <a:p>
                      <a:pPr algn="ctr" fontAlgn="b"/>
                      <a:r>
                        <a:rPr lang="en-US" sz="900" b="0" i="0" u="none" strike="noStrike">
                          <a:solidFill>
                            <a:srgbClr val="000000"/>
                          </a:solidFill>
                          <a:effectLst/>
                          <a:latin typeface="Calibri" panose="020F0502020204030204" pitchFamily="34" charset="0"/>
                        </a:rPr>
                        <a:t>AMBR</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Aggregated Maximum Bit Rate</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PDN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Packet Data Network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48224">
                <a:tc>
                  <a:txBody>
                    <a:bodyPr/>
                    <a:lstStyle/>
                    <a:p>
                      <a:pPr algn="ctr" fontAlgn="b"/>
                      <a:r>
                        <a:rPr lang="en-US" sz="900" b="0" i="0" u="none" strike="noStrike">
                          <a:solidFill>
                            <a:srgbClr val="000000"/>
                          </a:solidFill>
                          <a:effectLst/>
                          <a:latin typeface="Calibri" panose="020F0502020204030204" pitchFamily="34" charset="0"/>
                        </a:rPr>
                        <a:t>ATCF</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Georgia" panose="02040502050405020303" pitchFamily="18" charset="0"/>
                        </a:rPr>
                        <a:t>Access Transfer Control Function</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PRACK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Provisional ACK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48224">
                <a:tc>
                  <a:txBody>
                    <a:bodyPr/>
                    <a:lstStyle/>
                    <a:p>
                      <a:pPr algn="ctr" fontAlgn="b"/>
                      <a:r>
                        <a:rPr lang="en-US" sz="900" b="0" i="0" u="none" strike="noStrike">
                          <a:solidFill>
                            <a:srgbClr val="000000"/>
                          </a:solidFill>
                          <a:effectLst/>
                          <a:latin typeface="Calibri" panose="020F0502020204030204" pitchFamily="34" charset="0"/>
                        </a:rPr>
                        <a:t>ATGW</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Georgia" panose="02040502050405020303" pitchFamily="18" charset="0"/>
                        </a:rPr>
                        <a:t>Access Transfer Gateway Function</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QCI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QoS Class Identifiers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36404">
                <a:tc>
                  <a:txBody>
                    <a:bodyPr/>
                    <a:lstStyle/>
                    <a:p>
                      <a:pPr algn="ctr" rtl="0" fontAlgn="ctr"/>
                      <a:r>
                        <a:rPr lang="en-US" sz="900" b="0" i="0" u="none" strike="noStrike">
                          <a:solidFill>
                            <a:srgbClr val="000000"/>
                          </a:solidFill>
                          <a:effectLst/>
                          <a:latin typeface="MetaMediumLF-Roman"/>
                        </a:rPr>
                        <a:t>CSCF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Call Session Control Function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QoS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Quality-of-Service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36404">
                <a:tc>
                  <a:txBody>
                    <a:bodyPr/>
                    <a:lstStyle/>
                    <a:p>
                      <a:pPr algn="ctr" rtl="0" fontAlgn="ctr"/>
                      <a:r>
                        <a:rPr lang="en-US" sz="900" b="0" i="0" u="none" strike="noStrike">
                          <a:solidFill>
                            <a:srgbClr val="000000"/>
                          </a:solidFill>
                          <a:effectLst/>
                          <a:latin typeface="MetaMediumLF-Roman"/>
                        </a:rPr>
                        <a:t>DCCH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Dedicated Control Channel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RRC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Radio Resource Control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36404">
                <a:tc>
                  <a:txBody>
                    <a:bodyPr/>
                    <a:lstStyle/>
                    <a:p>
                      <a:pPr algn="ctr" rtl="0" fontAlgn="ctr"/>
                      <a:r>
                        <a:rPr lang="en-US" sz="900" b="0" i="0" u="none" strike="noStrike">
                          <a:solidFill>
                            <a:srgbClr val="000000"/>
                          </a:solidFill>
                          <a:effectLst/>
                          <a:latin typeface="MetaMediumLF-Roman"/>
                        </a:rPr>
                        <a:t>CCR</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Credit-Control-Request</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RTCP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RTP Control Protocol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36404">
                <a:tc>
                  <a:txBody>
                    <a:bodyPr/>
                    <a:lstStyle/>
                    <a:p>
                      <a:pPr algn="ctr" rtl="0" fontAlgn="ctr"/>
                      <a:r>
                        <a:rPr lang="en-US" sz="900" b="0" i="0" u="none" strike="noStrike">
                          <a:solidFill>
                            <a:srgbClr val="000000"/>
                          </a:solidFill>
                          <a:effectLst/>
                          <a:latin typeface="MetaMediumLF-Roman"/>
                        </a:rPr>
                        <a:t>CCA</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Credit-Control-Answer</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RTP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Real-time Transport Protocol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36404">
                <a:tc>
                  <a:txBody>
                    <a:bodyPr/>
                    <a:lstStyle/>
                    <a:p>
                      <a:pPr algn="ctr" rtl="0" fontAlgn="ctr"/>
                      <a:r>
                        <a:rPr lang="en-US" sz="900" b="0" i="0" u="none" strike="noStrike">
                          <a:solidFill>
                            <a:srgbClr val="000000"/>
                          </a:solidFill>
                          <a:effectLst/>
                          <a:latin typeface="MetaMediumLF-Roman"/>
                        </a:rPr>
                        <a:t>DHCP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Dynamic Host Configuration Protocol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SAA</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Server-Assignment-Answer</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36404">
                <a:tc>
                  <a:txBody>
                    <a:bodyPr/>
                    <a:lstStyle/>
                    <a:p>
                      <a:pPr algn="ctr" rtl="0" fontAlgn="ctr"/>
                      <a:r>
                        <a:rPr lang="en-US" sz="900" b="0" i="0" u="none" strike="noStrike">
                          <a:solidFill>
                            <a:srgbClr val="000000"/>
                          </a:solidFill>
                          <a:effectLst/>
                          <a:latin typeface="MetaMediumLF-Roman"/>
                        </a:rPr>
                        <a:t>EPS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Evolved Packet System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SAR</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Server-Assignment-Request</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36404">
                <a:tc>
                  <a:txBody>
                    <a:bodyPr/>
                    <a:lstStyle/>
                    <a:p>
                      <a:pPr algn="ctr" rtl="0" fontAlgn="ctr"/>
                      <a:r>
                        <a:rPr lang="en-US" sz="900" b="0" i="0" u="none" strike="noStrike">
                          <a:solidFill>
                            <a:srgbClr val="000000"/>
                          </a:solidFill>
                          <a:effectLst/>
                          <a:latin typeface="MetaMediumLF-Roman"/>
                        </a:rPr>
                        <a:t>ESM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EPS Session Management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S-CSCF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Serving Call Session Control Function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36404">
                <a:tc>
                  <a:txBody>
                    <a:bodyPr/>
                    <a:lstStyle/>
                    <a:p>
                      <a:pPr algn="ctr" rtl="0" fontAlgn="ctr"/>
                      <a:r>
                        <a:rPr lang="en-US" sz="900" b="0" i="0" u="none" strike="noStrike">
                          <a:solidFill>
                            <a:srgbClr val="000000"/>
                          </a:solidFill>
                          <a:effectLst/>
                          <a:latin typeface="MetaMediumLF-Roman"/>
                        </a:rPr>
                        <a:t>FQDN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Fully Qualified Domain Name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SDP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Session Description Protocol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36404">
                <a:tc>
                  <a:txBody>
                    <a:bodyPr/>
                    <a:lstStyle/>
                    <a:p>
                      <a:pPr algn="ctr" rtl="0" fontAlgn="ctr"/>
                      <a:r>
                        <a:rPr lang="en-US" sz="900" b="0" i="0" u="none" strike="noStrike">
                          <a:solidFill>
                            <a:srgbClr val="000000"/>
                          </a:solidFill>
                          <a:effectLst/>
                          <a:latin typeface="MetaMediumLF-Roman"/>
                        </a:rPr>
                        <a:t>GBR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Guaranteed Bit Rate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SIB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System Information Block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236404">
                <a:tc>
                  <a:txBody>
                    <a:bodyPr/>
                    <a:lstStyle/>
                    <a:p>
                      <a:pPr algn="ctr" rtl="0" fontAlgn="ctr"/>
                      <a:r>
                        <a:rPr lang="en-US" sz="900" b="0" i="0" u="none" strike="noStrike">
                          <a:solidFill>
                            <a:srgbClr val="000000"/>
                          </a:solidFill>
                          <a:effectLst/>
                          <a:latin typeface="MetaMediumLF-Roman"/>
                        </a:rPr>
                        <a:t>HSS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Home Subscriber Server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SIP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Session Initiation Protocol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36404">
                <a:tc>
                  <a:txBody>
                    <a:bodyPr/>
                    <a:lstStyle/>
                    <a:p>
                      <a:pPr algn="ctr" rtl="0" fontAlgn="ctr"/>
                      <a:r>
                        <a:rPr lang="en-US" sz="900" b="0" i="0" u="none" strike="noStrike">
                          <a:solidFill>
                            <a:srgbClr val="000000"/>
                          </a:solidFill>
                          <a:effectLst/>
                          <a:latin typeface="MetaMediumLF-Roman"/>
                        </a:rPr>
                        <a:t>IANA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Internet Assigned Numbers Authority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SMS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Short Message Service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236404">
                <a:tc>
                  <a:txBody>
                    <a:bodyPr/>
                    <a:lstStyle/>
                    <a:p>
                      <a:pPr algn="ctr" rtl="0" fontAlgn="ctr"/>
                      <a:r>
                        <a:rPr lang="en-US" sz="900" b="0" i="0" u="none" strike="noStrike">
                          <a:solidFill>
                            <a:srgbClr val="000000"/>
                          </a:solidFill>
                          <a:effectLst/>
                          <a:latin typeface="MetaMediumLF-Roman"/>
                        </a:rPr>
                        <a:t>I-CSCF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Interrogating Call Session Control Function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SSD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Shared Secret Data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236404">
                <a:tc>
                  <a:txBody>
                    <a:bodyPr/>
                    <a:lstStyle/>
                    <a:p>
                      <a:pPr algn="ctr" rtl="0" fontAlgn="ctr"/>
                      <a:r>
                        <a:rPr lang="en-US" sz="900" b="0" i="0" u="none" strike="noStrike">
                          <a:solidFill>
                            <a:srgbClr val="000000"/>
                          </a:solidFill>
                          <a:effectLst/>
                          <a:latin typeface="MetaMediumLF-Roman"/>
                        </a:rPr>
                        <a:t>IMS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IP Multimedia Subsystem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UA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User Agent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236404">
                <a:tc>
                  <a:txBody>
                    <a:bodyPr/>
                    <a:lstStyle/>
                    <a:p>
                      <a:pPr algn="ctr" rtl="0" fontAlgn="ctr"/>
                      <a:r>
                        <a:rPr lang="en-US" sz="900" b="0" i="0" u="none" strike="noStrike">
                          <a:solidFill>
                            <a:srgbClr val="000000"/>
                          </a:solidFill>
                          <a:effectLst/>
                          <a:latin typeface="MetaMediumLF-Roman"/>
                        </a:rPr>
                        <a:t>IMS AKA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IMS Authentication and Key Agreement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UAA</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User-Authorization-Answer</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236404">
                <a:tc>
                  <a:txBody>
                    <a:bodyPr/>
                    <a:lstStyle/>
                    <a:p>
                      <a:pPr algn="ctr" rtl="0" fontAlgn="ctr"/>
                      <a:r>
                        <a:rPr lang="en-US" sz="900" b="0" i="0" u="none" strike="noStrike">
                          <a:solidFill>
                            <a:srgbClr val="000000"/>
                          </a:solidFill>
                          <a:effectLst/>
                          <a:latin typeface="MetaMediumLF-Roman"/>
                        </a:rPr>
                        <a:t>Inter-RAT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Inter-Radio Access Technology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UAR</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User-Authorization-Request</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r h="236404">
                <a:tc>
                  <a:txBody>
                    <a:bodyPr/>
                    <a:lstStyle/>
                    <a:p>
                      <a:pPr algn="ctr" rtl="0" fontAlgn="ctr"/>
                      <a:r>
                        <a:rPr lang="en-US" sz="900" b="0" i="0" u="none" strike="noStrike">
                          <a:solidFill>
                            <a:srgbClr val="000000"/>
                          </a:solidFill>
                          <a:effectLst/>
                          <a:latin typeface="MetaMediumLF-Roman"/>
                        </a:rPr>
                        <a:t>IPSec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IP Security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UDA</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User Data Request</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236404">
                <a:tc>
                  <a:txBody>
                    <a:bodyPr/>
                    <a:lstStyle/>
                    <a:p>
                      <a:pPr algn="ctr" rtl="0" fontAlgn="ctr"/>
                      <a:r>
                        <a:rPr lang="en-US" sz="900" b="0" i="0" u="none" strike="noStrike">
                          <a:solidFill>
                            <a:srgbClr val="000000"/>
                          </a:solidFill>
                          <a:effectLst/>
                          <a:latin typeface="MetaMediumLF-Roman"/>
                        </a:rPr>
                        <a:t>ISIM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IP Multimedia Services Identity Module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UDR</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User Data Answer</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2"/>
                  </a:ext>
                </a:extLst>
              </a:tr>
              <a:tr h="236404">
                <a:tc>
                  <a:txBody>
                    <a:bodyPr/>
                    <a:lstStyle/>
                    <a:p>
                      <a:pPr algn="ctr" rtl="0" fontAlgn="ctr"/>
                      <a:r>
                        <a:rPr lang="en-US" sz="900" b="0" i="0" u="none" strike="noStrike">
                          <a:solidFill>
                            <a:srgbClr val="000000"/>
                          </a:solidFill>
                          <a:effectLst/>
                          <a:latin typeface="MetaMediumLF-Roman"/>
                        </a:rPr>
                        <a:t>LZSS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Lempel-Ziv-Storer-Szymanski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UDVM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Universal Decompressor Virtual Machine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236404">
                <a:tc>
                  <a:txBody>
                    <a:bodyPr/>
                    <a:lstStyle/>
                    <a:p>
                      <a:pPr algn="ctr" fontAlgn="b"/>
                      <a:r>
                        <a:rPr lang="en-US" sz="900" b="0" i="0" u="none" strike="noStrike">
                          <a:solidFill>
                            <a:srgbClr val="000000"/>
                          </a:solidFill>
                          <a:effectLst/>
                          <a:latin typeface="Calibri" panose="020F0502020204030204" pitchFamily="34" charset="0"/>
                        </a:rPr>
                        <a:t>MAA</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Multimedia-Auth-Answer</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UE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User Equipment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4"/>
                  </a:ext>
                </a:extLst>
              </a:tr>
              <a:tr h="236404">
                <a:tc>
                  <a:txBody>
                    <a:bodyPr/>
                    <a:lstStyle/>
                    <a:p>
                      <a:pPr algn="ctr" fontAlgn="b"/>
                      <a:r>
                        <a:rPr lang="en-US" sz="900" b="0" i="0" u="none" strike="noStrike">
                          <a:solidFill>
                            <a:srgbClr val="000000"/>
                          </a:solidFill>
                          <a:effectLst/>
                          <a:latin typeface="Calibri" panose="020F0502020204030204" pitchFamily="34" charset="0"/>
                        </a:rPr>
                        <a:t>MAR</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Multimedia-Auth-Request</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MediumLF-Roman"/>
                        </a:rPr>
                        <a:t>URI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Uniform Resource Identifier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5"/>
                  </a:ext>
                </a:extLst>
              </a:tr>
              <a:tr h="236404">
                <a:tc>
                  <a:txBody>
                    <a:bodyPr/>
                    <a:lstStyle/>
                    <a:p>
                      <a:pPr algn="ctr" rtl="0" fontAlgn="ctr"/>
                      <a:r>
                        <a:rPr lang="en-US" sz="900" b="0" i="0" u="none" strike="noStrike">
                          <a:solidFill>
                            <a:srgbClr val="000000"/>
                          </a:solidFill>
                          <a:effectLst/>
                          <a:latin typeface="MetaMediumLF-Roman"/>
                        </a:rPr>
                        <a:t>MIB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900" b="0" i="0" u="none" strike="noStrike">
                          <a:solidFill>
                            <a:srgbClr val="000000"/>
                          </a:solidFill>
                          <a:effectLst/>
                          <a:latin typeface="Meta Offc"/>
                        </a:rPr>
                        <a:t>Master Information Block </a:t>
                      </a:r>
                    </a:p>
                  </a:txBody>
                  <a:tcPr marL="8028" marR="8028" marT="80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MetaMediumLF-Roman"/>
                        </a:rPr>
                        <a:t>USIM </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Meta Offc"/>
                        </a:rPr>
                        <a:t>UMTS Subscriber Identity Module </a:t>
                      </a:r>
                    </a:p>
                  </a:txBody>
                  <a:tcPr marL="8028" marR="8028" marT="802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6"/>
                  </a:ext>
                </a:extLst>
              </a:tr>
            </a:tbl>
          </a:graphicData>
        </a:graphic>
      </p:graphicFrame>
    </p:spTree>
    <p:extLst>
      <p:ext uri="{BB962C8B-B14F-4D97-AF65-F5344CB8AC3E}">
        <p14:creationId xmlns:p14="http://schemas.microsoft.com/office/powerpoint/2010/main" val="1037449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71271" y="934968"/>
            <a:ext cx="9301969" cy="5456930"/>
          </a:xfrm>
          <a:prstGeom prst="rect">
            <a:avLst/>
          </a:prstGeom>
        </p:spPr>
      </p:pic>
      <p:sp>
        <p:nvSpPr>
          <p:cNvPr id="2" name="TextBox 1"/>
          <p:cNvSpPr txBox="1"/>
          <p:nvPr/>
        </p:nvSpPr>
        <p:spPr>
          <a:xfrm>
            <a:off x="408702" y="296214"/>
            <a:ext cx="11182284" cy="369332"/>
          </a:xfrm>
          <a:prstGeom prst="rect">
            <a:avLst/>
          </a:prstGeom>
          <a:solidFill>
            <a:schemeClr val="accent4"/>
          </a:solidFill>
        </p:spPr>
        <p:txBody>
          <a:bodyPr wrap="square" rtlCol="0">
            <a:spAutoFit/>
          </a:bodyPr>
          <a:lstStyle>
            <a:defPPr>
              <a:defRPr lang="en-US"/>
            </a:defPPr>
            <a:lvl1pPr algn="ctr"/>
          </a:lstStyle>
          <a:p>
            <a:r>
              <a:rPr lang="en-US" err="1"/>
              <a:t>QoS</a:t>
            </a:r>
            <a:r>
              <a:rPr lang="en-US"/>
              <a:t> Class Identifier (QCI)</a:t>
            </a:r>
          </a:p>
        </p:txBody>
      </p:sp>
    </p:spTree>
    <p:extLst>
      <p:ext uri="{BB962C8B-B14F-4D97-AF65-F5344CB8AC3E}">
        <p14:creationId xmlns:p14="http://schemas.microsoft.com/office/powerpoint/2010/main" val="3489332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12&#10;Semi-Persistent Resource Allocation for VoLTE&#10; Semi-persistent scheduling reduces the signaling overhead for RB&#10;alloca..."/>
          <p:cNvPicPr>
            <a:picLocks noChangeAspect="1" noChangeArrowheads="1"/>
          </p:cNvPicPr>
          <p:nvPr/>
        </p:nvPicPr>
        <p:blipFill>
          <a:blip r:embed="rId2" cstate="print"/>
          <a:srcRect/>
          <a:stretch>
            <a:fillRect/>
          </a:stretch>
        </p:blipFill>
        <p:spPr bwMode="auto">
          <a:xfrm>
            <a:off x="1258908" y="74858"/>
            <a:ext cx="9044189" cy="6783142"/>
          </a:xfrm>
          <a:prstGeom prst="rect">
            <a:avLst/>
          </a:prstGeom>
          <a:noFill/>
        </p:spPr>
      </p:pic>
      <p:sp>
        <p:nvSpPr>
          <p:cNvPr id="3" name="Rectangle 2"/>
          <p:cNvSpPr/>
          <p:nvPr/>
        </p:nvSpPr>
        <p:spPr>
          <a:xfrm>
            <a:off x="1133341" y="6091706"/>
            <a:ext cx="9427335" cy="766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507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11&#10;eNB scheduler dynamically&#10;allocates resource blocks&#10;(RBs) across all users.&#10;QoS delay budgets are a key&#10;factor in alloc..."/>
          <p:cNvPicPr>
            <a:picLocks noChangeAspect="1" noChangeArrowheads="1"/>
          </p:cNvPicPr>
          <p:nvPr/>
        </p:nvPicPr>
        <p:blipFill>
          <a:blip r:embed="rId2" cstate="print"/>
          <a:srcRect/>
          <a:stretch>
            <a:fillRect/>
          </a:stretch>
        </p:blipFill>
        <p:spPr bwMode="auto">
          <a:xfrm>
            <a:off x="1645276" y="61980"/>
            <a:ext cx="8915400" cy="6686550"/>
          </a:xfrm>
          <a:prstGeom prst="rect">
            <a:avLst/>
          </a:prstGeom>
          <a:noFill/>
        </p:spPr>
      </p:pic>
      <p:sp>
        <p:nvSpPr>
          <p:cNvPr id="3" name="Rectangle 2"/>
          <p:cNvSpPr/>
          <p:nvPr/>
        </p:nvSpPr>
        <p:spPr>
          <a:xfrm>
            <a:off x="1676400" y="6336406"/>
            <a:ext cx="8884276" cy="4121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9465972" y="5937161"/>
            <a:ext cx="1094704" cy="6053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3559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13&#10;16QAM Signal Constellation&#10;(4 bits per symbol)&#10;64QAM Signal Constellation&#10;(6 bits per symbol)&#10;Link adaptation manages t..."/>
          <p:cNvPicPr>
            <a:picLocks noChangeAspect="1" noChangeArrowheads="1"/>
          </p:cNvPicPr>
          <p:nvPr/>
        </p:nvPicPr>
        <p:blipFill>
          <a:blip r:embed="rId2" cstate="print"/>
          <a:srcRect/>
          <a:stretch>
            <a:fillRect/>
          </a:stretch>
        </p:blipFill>
        <p:spPr bwMode="auto">
          <a:xfrm>
            <a:off x="1668887" y="132008"/>
            <a:ext cx="8904668" cy="6678501"/>
          </a:xfrm>
          <a:prstGeom prst="rect">
            <a:avLst/>
          </a:prstGeom>
          <a:noFill/>
        </p:spPr>
      </p:pic>
      <p:sp>
        <p:nvSpPr>
          <p:cNvPr id="3" name="Rectangle 2"/>
          <p:cNvSpPr/>
          <p:nvPr/>
        </p:nvSpPr>
        <p:spPr>
          <a:xfrm>
            <a:off x="1133341" y="6091706"/>
            <a:ext cx="9427335" cy="766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6154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14&#10;HARQ &amp; TTI Bundling Impact Packet Loss &amp;&#10;Delay&#10;HARQ Reduces Packet Loss / Increases Delay (Jitter)&#10;TTI Bundling Reduces..."/>
          <p:cNvPicPr>
            <a:picLocks noChangeAspect="1" noChangeArrowheads="1"/>
          </p:cNvPicPr>
          <p:nvPr/>
        </p:nvPicPr>
        <p:blipFill>
          <a:blip r:embed="rId2" cstate="print"/>
          <a:srcRect/>
          <a:stretch>
            <a:fillRect/>
          </a:stretch>
        </p:blipFill>
        <p:spPr bwMode="auto">
          <a:xfrm>
            <a:off x="1694645" y="25758"/>
            <a:ext cx="8963696" cy="6722772"/>
          </a:xfrm>
          <a:prstGeom prst="rect">
            <a:avLst/>
          </a:prstGeom>
          <a:noFill/>
        </p:spPr>
      </p:pic>
      <p:sp>
        <p:nvSpPr>
          <p:cNvPr id="3" name="Rectangle 2"/>
          <p:cNvSpPr/>
          <p:nvPr/>
        </p:nvSpPr>
        <p:spPr>
          <a:xfrm>
            <a:off x="1262131" y="6053069"/>
            <a:ext cx="9427335" cy="766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2541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38069" y="600924"/>
            <a:ext cx="11304432" cy="3046988"/>
          </a:xfrm>
          <a:prstGeom prst="rect">
            <a:avLst/>
          </a:prstGeom>
          <a:ln>
            <a:solidFill>
              <a:srgbClr val="FFC000"/>
            </a:solidFill>
          </a:ln>
        </p:spPr>
        <p:txBody>
          <a:bodyPr wrap="square">
            <a:spAutoFit/>
          </a:bodyPr>
          <a:lstStyle/>
          <a:p>
            <a:pPr>
              <a:buFont typeface="Arial" pitchFamily="34" charset="0"/>
              <a:buChar char="•"/>
            </a:pPr>
            <a:r>
              <a:rPr lang="en-AU" sz="1600"/>
              <a:t>TTI Bundling optimizes the uplink (cell edge) coverage for services like </a:t>
            </a:r>
            <a:r>
              <a:rPr lang="en-AU" sz="1600" err="1"/>
              <a:t>VoLTE</a:t>
            </a:r>
            <a:r>
              <a:rPr lang="en-AU" sz="1600"/>
              <a:t>. For services such as VoIP, the packet size is small and the inter-arrival time of VoIP packets is constant (i.e., AMR codec provides one packet every 20ms during active period and one silence indicator (SID) at 160ms). In a cell edge scenario, the probability of decoding PUSCH as error is more so instead of waiting for HARQ feedback from </a:t>
            </a:r>
            <a:r>
              <a:rPr lang="en-AU" sz="1600" err="1"/>
              <a:t>eNB</a:t>
            </a:r>
            <a:r>
              <a:rPr lang="en-AU" sz="1600"/>
              <a:t>, the UE performs initial transmission and re-transmissions in 4 consecutive Transmit Time Intervals (TTIs)</a:t>
            </a:r>
          </a:p>
          <a:p>
            <a:pPr>
              <a:buFont typeface="Arial" pitchFamily="34" charset="0"/>
              <a:buChar char="•"/>
            </a:pPr>
            <a:endParaRPr lang="en-AU" sz="1600"/>
          </a:p>
          <a:p>
            <a:pPr>
              <a:buFont typeface="Arial" pitchFamily="34" charset="0"/>
              <a:buChar char="•"/>
            </a:pPr>
            <a:r>
              <a:rPr lang="en-AU" sz="1600"/>
              <a:t>Once TTI Bundling is enabled/activated the UE send the same packet but with different error detection and correction bits in 4 consecutive TTIs</a:t>
            </a:r>
          </a:p>
          <a:p>
            <a:pPr>
              <a:buFont typeface="Arial" pitchFamily="34" charset="0"/>
              <a:buChar char="•"/>
            </a:pPr>
            <a:endParaRPr lang="en-AU" sz="1600"/>
          </a:p>
          <a:p>
            <a:pPr>
              <a:buFont typeface="Arial" pitchFamily="34" charset="0"/>
              <a:buChar char="•"/>
            </a:pPr>
            <a:r>
              <a:rPr lang="en-AU" sz="1600"/>
              <a:t>TTI Bundling reduces a lot of signalling overhead as the </a:t>
            </a:r>
            <a:r>
              <a:rPr lang="en-AU" sz="1600" err="1"/>
              <a:t>eNB</a:t>
            </a:r>
            <a:r>
              <a:rPr lang="en-AU" sz="1600"/>
              <a:t> doesn’t need to send </a:t>
            </a:r>
            <a:r>
              <a:rPr lang="en-AU" sz="1600" err="1"/>
              <a:t>Ack</a:t>
            </a:r>
            <a:r>
              <a:rPr lang="en-AU" sz="1600"/>
              <a:t>/</a:t>
            </a:r>
            <a:r>
              <a:rPr lang="en-AU" sz="1600" err="1"/>
              <a:t>Nack</a:t>
            </a:r>
            <a:r>
              <a:rPr lang="en-AU" sz="1600"/>
              <a:t> for every (re-) transmission instead it sends </a:t>
            </a:r>
            <a:r>
              <a:rPr lang="en-AU" sz="1600" err="1"/>
              <a:t>Ack</a:t>
            </a:r>
            <a:r>
              <a:rPr lang="en-AU" sz="1600"/>
              <a:t>/</a:t>
            </a:r>
            <a:r>
              <a:rPr lang="en-AU" sz="1600" err="1"/>
              <a:t>Nack</a:t>
            </a:r>
            <a:r>
              <a:rPr lang="en-AU" sz="1600"/>
              <a:t> for the entire bundle</a:t>
            </a:r>
          </a:p>
          <a:p>
            <a:pPr>
              <a:buFont typeface="Arial" pitchFamily="34" charset="0"/>
              <a:buChar char="•"/>
            </a:pPr>
            <a:endParaRPr lang="en-AU" sz="1600"/>
          </a:p>
          <a:p>
            <a:pPr>
              <a:buFont typeface="Arial" pitchFamily="34" charset="0"/>
              <a:buChar char="•"/>
            </a:pPr>
            <a:r>
              <a:rPr lang="en-AU" sz="1600"/>
              <a:t>Latency is also reduced as no waiting time (for HARQ feedback) is required between the re-transmissions</a:t>
            </a:r>
          </a:p>
        </p:txBody>
      </p:sp>
      <p:pic>
        <p:nvPicPr>
          <p:cNvPr id="3" name="Picture 2"/>
          <p:cNvPicPr>
            <a:picLocks noChangeAspect="1" noChangeArrowheads="1"/>
          </p:cNvPicPr>
          <p:nvPr/>
        </p:nvPicPr>
        <p:blipFill>
          <a:blip r:embed="rId2" cstate="print"/>
          <a:srcRect/>
          <a:stretch>
            <a:fillRect/>
          </a:stretch>
        </p:blipFill>
        <p:spPr bwMode="auto">
          <a:xfrm>
            <a:off x="183509" y="3647782"/>
            <a:ext cx="3801413" cy="2884521"/>
          </a:xfrm>
          <a:prstGeom prst="rect">
            <a:avLst/>
          </a:prstGeom>
          <a:noFill/>
          <a:ln w="9525">
            <a:noFill/>
            <a:miter lim="800000"/>
            <a:headEnd/>
            <a:tailEnd/>
          </a:ln>
        </p:spPr>
      </p:pic>
      <p:pic>
        <p:nvPicPr>
          <p:cNvPr id="4" name="Picture 2"/>
          <p:cNvPicPr>
            <a:picLocks noChangeAspect="1" noChangeArrowheads="1"/>
          </p:cNvPicPr>
          <p:nvPr/>
        </p:nvPicPr>
        <p:blipFill>
          <a:blip r:embed="rId3" cstate="print"/>
          <a:srcRect/>
          <a:stretch>
            <a:fillRect/>
          </a:stretch>
        </p:blipFill>
        <p:spPr bwMode="auto">
          <a:xfrm>
            <a:off x="3928057" y="4013178"/>
            <a:ext cx="4507606" cy="2452016"/>
          </a:xfrm>
          <a:prstGeom prst="rect">
            <a:avLst/>
          </a:prstGeom>
          <a:noFill/>
          <a:ln w="9525">
            <a:noFill/>
            <a:miter lim="800000"/>
            <a:headEnd/>
            <a:tailEnd/>
          </a:ln>
        </p:spPr>
      </p:pic>
      <p:pic>
        <p:nvPicPr>
          <p:cNvPr id="2" name="Picture 1"/>
          <p:cNvPicPr>
            <a:picLocks noChangeAspect="1"/>
          </p:cNvPicPr>
          <p:nvPr/>
        </p:nvPicPr>
        <p:blipFill>
          <a:blip r:embed="rId4"/>
          <a:stretch>
            <a:fillRect/>
          </a:stretch>
        </p:blipFill>
        <p:spPr>
          <a:xfrm>
            <a:off x="8600033" y="3969915"/>
            <a:ext cx="3457544" cy="2401507"/>
          </a:xfrm>
          <a:prstGeom prst="rect">
            <a:avLst/>
          </a:prstGeom>
        </p:spPr>
      </p:pic>
      <p:sp>
        <p:nvSpPr>
          <p:cNvPr id="7" name="TextBox 6"/>
          <p:cNvSpPr txBox="1"/>
          <p:nvPr/>
        </p:nvSpPr>
        <p:spPr>
          <a:xfrm>
            <a:off x="338069" y="94255"/>
            <a:ext cx="11304432" cy="369332"/>
          </a:xfrm>
          <a:prstGeom prst="rect">
            <a:avLst/>
          </a:prstGeom>
          <a:solidFill>
            <a:schemeClr val="accent4"/>
          </a:solidFill>
        </p:spPr>
        <p:txBody>
          <a:bodyPr wrap="square" rtlCol="0">
            <a:spAutoFit/>
          </a:bodyPr>
          <a:lstStyle>
            <a:defPPr>
              <a:defRPr lang="en-US"/>
            </a:defPPr>
            <a:lvl1pPr algn="ctr"/>
          </a:lstStyle>
          <a:p>
            <a:r>
              <a:rPr lang="en-US"/>
              <a:t>TTI Bundling</a:t>
            </a:r>
          </a:p>
        </p:txBody>
      </p:sp>
    </p:spTree>
    <p:extLst>
      <p:ext uri="{BB962C8B-B14F-4D97-AF65-F5344CB8AC3E}">
        <p14:creationId xmlns:p14="http://schemas.microsoft.com/office/powerpoint/2010/main" val="1480423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15&#10;IP Multimedia Subsystem&#10;Session Initiation Protocol (SIP) Session&#10;Bit rate&#10;Packet size&#10;Packet transport frequency&#10;RTP p..."/>
          <p:cNvPicPr>
            <a:picLocks noChangeAspect="1" noChangeArrowheads="1"/>
          </p:cNvPicPr>
          <p:nvPr/>
        </p:nvPicPr>
        <p:blipFill>
          <a:blip r:embed="rId2" cstate="print"/>
          <a:srcRect/>
          <a:stretch>
            <a:fillRect/>
          </a:stretch>
        </p:blipFill>
        <p:spPr bwMode="auto">
          <a:xfrm>
            <a:off x="1859924" y="277968"/>
            <a:ext cx="8288628" cy="6216471"/>
          </a:xfrm>
          <a:prstGeom prst="rect">
            <a:avLst/>
          </a:prstGeom>
          <a:noFill/>
        </p:spPr>
      </p:pic>
      <p:sp>
        <p:nvSpPr>
          <p:cNvPr id="3" name="Rectangle 2"/>
          <p:cNvSpPr/>
          <p:nvPr/>
        </p:nvSpPr>
        <p:spPr>
          <a:xfrm>
            <a:off x="1532588" y="5821248"/>
            <a:ext cx="9427335" cy="766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694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16&#10;HD Voice (WB-AMR Codec)&#10;Type of Channel Channel Bandwidth Type of Service&#10;Narrowband 50Hz – 3.8KHz Narrowband Voice&#10;Wid..."/>
          <p:cNvPicPr>
            <a:picLocks noChangeAspect="1" noChangeArrowheads="1"/>
          </p:cNvPicPr>
          <p:nvPr/>
        </p:nvPicPr>
        <p:blipFill>
          <a:blip r:embed="rId2" cstate="print"/>
          <a:srcRect/>
          <a:stretch>
            <a:fillRect/>
          </a:stretch>
        </p:blipFill>
        <p:spPr bwMode="auto">
          <a:xfrm>
            <a:off x="1905000" y="64395"/>
            <a:ext cx="8951890" cy="6713918"/>
          </a:xfrm>
          <a:prstGeom prst="rect">
            <a:avLst/>
          </a:prstGeom>
          <a:noFill/>
        </p:spPr>
      </p:pic>
      <p:sp>
        <p:nvSpPr>
          <p:cNvPr id="3" name="Rectangle 2"/>
          <p:cNvSpPr/>
          <p:nvPr/>
        </p:nvSpPr>
        <p:spPr>
          <a:xfrm>
            <a:off x="1667277" y="6091706"/>
            <a:ext cx="9427335" cy="766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98131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18&#10;End User Experience Key Performance&#10;Indicators (KPIs)&#10;Ability to make and maintain calls Call Initiation Rate (%), Call..."/>
          <p:cNvPicPr>
            <a:picLocks noChangeAspect="1" noChangeArrowheads="1"/>
          </p:cNvPicPr>
          <p:nvPr/>
        </p:nvPicPr>
        <p:blipFill>
          <a:blip r:embed="rId2" cstate="print"/>
          <a:srcRect/>
          <a:stretch>
            <a:fillRect/>
          </a:stretch>
        </p:blipFill>
        <p:spPr bwMode="auto">
          <a:xfrm>
            <a:off x="1577662" y="271530"/>
            <a:ext cx="8661042" cy="6495782"/>
          </a:xfrm>
          <a:prstGeom prst="rect">
            <a:avLst/>
          </a:prstGeom>
          <a:noFill/>
        </p:spPr>
      </p:pic>
      <p:sp>
        <p:nvSpPr>
          <p:cNvPr id="3" name="Rectangle 2"/>
          <p:cNvSpPr/>
          <p:nvPr/>
        </p:nvSpPr>
        <p:spPr>
          <a:xfrm>
            <a:off x="1194515" y="6001018"/>
            <a:ext cx="9427335" cy="766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82408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21" y="631935"/>
            <a:ext cx="11834193" cy="6186309"/>
          </a:xfrm>
          <a:prstGeom prst="rect">
            <a:avLst/>
          </a:prstGeom>
          <a:ln>
            <a:solidFill>
              <a:srgbClr val="FFC000"/>
            </a:solidFill>
          </a:ln>
        </p:spPr>
        <p:txBody>
          <a:bodyPr wrap="square">
            <a:spAutoFit/>
          </a:bodyPr>
          <a:lstStyle/>
          <a:p>
            <a:pPr fontAlgn="base"/>
            <a:r>
              <a:rPr lang="en-US" sz="1500" b="1" i="0" u="none" strike="noStrike">
                <a:solidFill>
                  <a:srgbClr val="353535"/>
                </a:solidFill>
                <a:effectLst/>
                <a:latin typeface="Droid Serif"/>
              </a:rPr>
              <a:t>User Equipment (UE)</a:t>
            </a:r>
          </a:p>
          <a:p>
            <a:pPr fontAlgn="base"/>
            <a:r>
              <a:rPr lang="en-US" sz="1500" b="0" i="0" u="none" strike="noStrike">
                <a:solidFill>
                  <a:srgbClr val="444444"/>
                </a:solidFill>
                <a:effectLst/>
                <a:latin typeface="Open Sans"/>
              </a:rPr>
              <a:t>User Equipment (UE) is the mobile terminal which may be a smartphone or tablet or any communication device. An IMS powered UE has two main components.</a:t>
            </a:r>
          </a:p>
          <a:p>
            <a:pPr fontAlgn="base"/>
            <a:endParaRPr lang="en-US" sz="1500" b="0" i="0" u="none" strike="noStrike">
              <a:solidFill>
                <a:srgbClr val="444444"/>
              </a:solidFill>
              <a:effectLst/>
              <a:latin typeface="Open Sans"/>
            </a:endParaRPr>
          </a:p>
          <a:p>
            <a:pPr fontAlgn="base">
              <a:buFont typeface="Arial" panose="020B0604020202020204" pitchFamily="34" charset="0"/>
              <a:buChar char="•"/>
            </a:pPr>
            <a:r>
              <a:rPr lang="en-US" sz="1500" b="1" i="0" u="none" strike="noStrike">
                <a:solidFill>
                  <a:srgbClr val="444444"/>
                </a:solidFill>
                <a:effectLst/>
                <a:latin typeface="Open Sans"/>
              </a:rPr>
              <a:t>Universal Integrated Circuit Card (UICC)</a:t>
            </a:r>
            <a:endParaRPr lang="en-US" sz="1500" b="0" i="0" u="none" strike="noStrike">
              <a:solidFill>
                <a:srgbClr val="444444"/>
              </a:solidFill>
              <a:effectLst/>
              <a:latin typeface="Open Sans"/>
            </a:endParaRPr>
          </a:p>
          <a:p>
            <a:pPr fontAlgn="base">
              <a:buFont typeface="Arial" panose="020B0604020202020204" pitchFamily="34" charset="0"/>
              <a:buChar char="•"/>
            </a:pPr>
            <a:r>
              <a:rPr lang="en-US" sz="1500" b="1" i="0" u="none" strike="noStrike">
                <a:solidFill>
                  <a:srgbClr val="444444"/>
                </a:solidFill>
                <a:effectLst/>
                <a:latin typeface="Open Sans"/>
              </a:rPr>
              <a:t>Session Initiation Protocol User Agent (SIP UA)</a:t>
            </a:r>
          </a:p>
          <a:p>
            <a:pPr fontAlgn="base"/>
            <a:endParaRPr lang="en-US" sz="1500" b="0" i="0" u="none" strike="noStrike">
              <a:solidFill>
                <a:srgbClr val="444444"/>
              </a:solidFill>
              <a:effectLst/>
              <a:latin typeface="Open Sans"/>
            </a:endParaRPr>
          </a:p>
          <a:p>
            <a:pPr fontAlgn="base"/>
            <a:r>
              <a:rPr lang="en-US" sz="1500" b="1" i="0" u="none" strike="noStrike">
                <a:solidFill>
                  <a:srgbClr val="404040"/>
                </a:solidFill>
                <a:effectLst/>
                <a:latin typeface="Droid Serif"/>
              </a:rPr>
              <a:t>Universal Integrated Circuit (UICC)</a:t>
            </a:r>
          </a:p>
          <a:p>
            <a:pPr fontAlgn="base"/>
            <a:r>
              <a:rPr lang="en-US" sz="1500" b="0" i="0" u="none" strike="noStrike">
                <a:solidFill>
                  <a:srgbClr val="444444"/>
                </a:solidFill>
                <a:effectLst/>
                <a:latin typeface="Open Sans"/>
              </a:rPr>
              <a:t>Each UE must contain one UICC and each UICC may have one or more of the following modules.</a:t>
            </a:r>
          </a:p>
          <a:p>
            <a:pPr fontAlgn="base">
              <a:buFont typeface="Arial" panose="020B0604020202020204" pitchFamily="34" charset="0"/>
              <a:buChar char="•"/>
            </a:pPr>
            <a:r>
              <a:rPr lang="en-US" sz="1500" b="1" i="0" u="none" strike="noStrike">
                <a:solidFill>
                  <a:srgbClr val="444444"/>
                </a:solidFill>
                <a:effectLst/>
                <a:latin typeface="Open Sans"/>
              </a:rPr>
              <a:t>Subscriber Identity Module (SIM)</a:t>
            </a:r>
            <a:r>
              <a:rPr lang="en-US" sz="1500" b="0" i="0" u="none" strike="noStrike">
                <a:solidFill>
                  <a:srgbClr val="444444"/>
                </a:solidFill>
                <a:effectLst/>
                <a:latin typeface="Open Sans"/>
              </a:rPr>
              <a:t>: SIM identity information used by a GSM network.</a:t>
            </a:r>
          </a:p>
          <a:p>
            <a:pPr fontAlgn="base">
              <a:buFont typeface="Arial" panose="020B0604020202020204" pitchFamily="34" charset="0"/>
              <a:buChar char="•"/>
            </a:pPr>
            <a:r>
              <a:rPr lang="en-US" sz="1500" b="1" i="0" u="none" strike="noStrike">
                <a:solidFill>
                  <a:srgbClr val="444444"/>
                </a:solidFill>
                <a:effectLst/>
                <a:latin typeface="Open Sans"/>
              </a:rPr>
              <a:t>UMTS Subscriber Identity Module (USIM):</a:t>
            </a:r>
            <a:r>
              <a:rPr lang="en-US" sz="1500" b="0" i="0" u="none" strike="noStrike">
                <a:solidFill>
                  <a:srgbClr val="444444"/>
                </a:solidFill>
                <a:effectLst/>
                <a:latin typeface="Open Sans"/>
              </a:rPr>
              <a:t> USIM information used by a UMTS or LTE network.</a:t>
            </a:r>
          </a:p>
          <a:p>
            <a:pPr fontAlgn="base">
              <a:buFont typeface="Arial" panose="020B0604020202020204" pitchFamily="34" charset="0"/>
              <a:buChar char="•"/>
            </a:pPr>
            <a:r>
              <a:rPr lang="en-US" sz="1500" b="1" i="0" u="none" strike="noStrike">
                <a:solidFill>
                  <a:srgbClr val="444444"/>
                </a:solidFill>
                <a:effectLst/>
                <a:latin typeface="Open Sans"/>
              </a:rPr>
              <a:t>CDMA Subscriber Identity Module (CSIM) or Re-Useable Identification Module (R-UIM)</a:t>
            </a:r>
            <a:r>
              <a:rPr lang="en-US" sz="1500" b="0" i="0" u="none" strike="noStrike">
                <a:solidFill>
                  <a:srgbClr val="444444"/>
                </a:solidFill>
                <a:effectLst/>
                <a:latin typeface="Open Sans"/>
              </a:rPr>
              <a:t>: identity information  used by a CDMA network.</a:t>
            </a:r>
          </a:p>
          <a:p>
            <a:pPr fontAlgn="base">
              <a:buFont typeface="Arial" panose="020B0604020202020204" pitchFamily="34" charset="0"/>
              <a:buChar char="•"/>
            </a:pPr>
            <a:r>
              <a:rPr lang="en-US" sz="1500" b="1" i="0" u="none" strike="noStrike">
                <a:solidFill>
                  <a:srgbClr val="FF0000"/>
                </a:solidFill>
                <a:effectLst/>
                <a:latin typeface="Open Sans"/>
              </a:rPr>
              <a:t>IP Multimedia Services Identity Module (ISIM):</a:t>
            </a:r>
            <a:r>
              <a:rPr lang="en-US" sz="1500" b="1" i="0" u="none" strike="noStrike">
                <a:solidFill>
                  <a:srgbClr val="444444"/>
                </a:solidFill>
                <a:effectLst/>
                <a:latin typeface="Open Sans"/>
              </a:rPr>
              <a:t> </a:t>
            </a:r>
            <a:r>
              <a:rPr lang="en-US" sz="1500" b="0" i="0" u="none" strike="noStrike">
                <a:solidFill>
                  <a:srgbClr val="444444"/>
                </a:solidFill>
                <a:effectLst/>
                <a:latin typeface="Open Sans"/>
              </a:rPr>
              <a:t>ISIM identity information used by the IMS subsystem.</a:t>
            </a:r>
          </a:p>
          <a:p>
            <a:pPr fontAlgn="base"/>
            <a:r>
              <a:rPr lang="en-US" sz="1500" b="0" i="0" u="none" strike="noStrike">
                <a:solidFill>
                  <a:srgbClr val="444444"/>
                </a:solidFill>
                <a:effectLst/>
                <a:latin typeface="Open Sans"/>
              </a:rPr>
              <a:t>Let’s look into ISIM which is important when UE wants to use IMS resources in the network. ISIM contains the following:</a:t>
            </a:r>
          </a:p>
          <a:p>
            <a:pPr fontAlgn="base">
              <a:buFont typeface="Arial" panose="020B0604020202020204" pitchFamily="34" charset="0"/>
              <a:buChar char="•"/>
            </a:pPr>
            <a:r>
              <a:rPr lang="en-US" sz="1500" b="1" i="0" u="none" strike="noStrike">
                <a:effectLst/>
                <a:latin typeface="Open Sans"/>
              </a:rPr>
              <a:t>IP Multimedia Private Identity (IMPI):</a:t>
            </a:r>
            <a:r>
              <a:rPr lang="en-US" sz="1500" b="0" i="0" u="none" strike="noStrike">
                <a:effectLst/>
                <a:latin typeface="Open Sans"/>
              </a:rPr>
              <a:t> IMPI is a global identity allocated by home network. IMPI contains home operator’s domain </a:t>
            </a:r>
            <a:r>
              <a:rPr lang="en-US" sz="1500" b="0" i="0" u="none" strike="noStrike" err="1">
                <a:effectLst/>
                <a:latin typeface="Open Sans"/>
              </a:rPr>
              <a:t>information.Home</a:t>
            </a:r>
            <a:r>
              <a:rPr lang="en-US" sz="1500" b="0" i="0" u="none" strike="noStrike">
                <a:effectLst/>
                <a:latin typeface="Open Sans"/>
              </a:rPr>
              <a:t> operator’s domain name</a:t>
            </a:r>
          </a:p>
          <a:p>
            <a:pPr fontAlgn="base">
              <a:buFont typeface="Arial" panose="020B0604020202020204" pitchFamily="34" charset="0"/>
              <a:buChar char="•"/>
            </a:pPr>
            <a:r>
              <a:rPr lang="en-US" sz="1500" b="1" i="0" u="none" strike="noStrike">
                <a:effectLst/>
                <a:latin typeface="Open Sans"/>
              </a:rPr>
              <a:t>IP Multimedia Public Identity (IMPU):</a:t>
            </a:r>
            <a:r>
              <a:rPr lang="en-US" sz="1500" b="0" i="0" u="none" strike="noStrike">
                <a:effectLst/>
                <a:latin typeface="Open Sans"/>
              </a:rPr>
              <a:t> IMPU acts like a telephone number which can either be a SIP URI  (sip:&lt;username&gt;@&lt;host&gt;:&lt;port&gt;) or a </a:t>
            </a:r>
            <a:r>
              <a:rPr lang="en-US" sz="1500" b="0" i="0" u="none" strike="noStrike" err="1">
                <a:effectLst/>
                <a:latin typeface="Open Sans"/>
              </a:rPr>
              <a:t>tel</a:t>
            </a:r>
            <a:r>
              <a:rPr lang="en-US" sz="1500" b="0" i="0" u="none" strike="noStrike">
                <a:effectLst/>
                <a:latin typeface="Open Sans"/>
              </a:rPr>
              <a:t> URI (</a:t>
            </a:r>
            <a:r>
              <a:rPr lang="en-US" sz="1500" b="0" i="0" u="none" strike="noStrike" err="1">
                <a:effectLst/>
                <a:latin typeface="Open Sans"/>
              </a:rPr>
              <a:t>tel</a:t>
            </a:r>
            <a:r>
              <a:rPr lang="en-US" sz="1500" b="0" i="0" u="none" strike="noStrike">
                <a:effectLst/>
                <a:latin typeface="Open Sans"/>
              </a:rPr>
              <a:t>:&lt;country_code&gt;&lt;national_destination_code&gt;&lt;subscriber_number&gt;).</a:t>
            </a:r>
          </a:p>
          <a:p>
            <a:pPr fontAlgn="base">
              <a:buFont typeface="Arial" panose="020B0604020202020204" pitchFamily="34" charset="0"/>
              <a:buChar char="•"/>
            </a:pPr>
            <a:r>
              <a:rPr lang="en-US" sz="1500" b="1" i="0" u="none" strike="noStrike">
                <a:effectLst/>
                <a:latin typeface="Open Sans"/>
              </a:rPr>
              <a:t>Secret Key:</a:t>
            </a:r>
            <a:r>
              <a:rPr lang="en-US" sz="1500" b="0" i="0" u="none" strike="noStrike">
                <a:effectLst/>
                <a:latin typeface="Open Sans"/>
              </a:rPr>
              <a:t> This long secret key is used for user authentication and SIP registration.</a:t>
            </a:r>
          </a:p>
          <a:p>
            <a:pPr fontAlgn="base"/>
            <a:endParaRPr lang="en-US" sz="1600" b="1"/>
          </a:p>
          <a:p>
            <a:pPr fontAlgn="base"/>
            <a:r>
              <a:rPr lang="en-US" sz="1600" b="1"/>
              <a:t>SIP User Agent (SIP-UA)</a:t>
            </a:r>
          </a:p>
          <a:p>
            <a:pPr fontAlgn="base"/>
            <a:r>
              <a:rPr lang="en-US" sz="1600"/>
              <a:t>SIP User Agent resides in the UE to transmit and receive SIP messages. SIP-UA provides basic telephony functionality. It can act in two different roles:</a:t>
            </a:r>
          </a:p>
          <a:p>
            <a:pPr fontAlgn="base"/>
            <a:r>
              <a:rPr lang="en-US" sz="1600" b="1"/>
              <a:t>User Agent Client (UAC): </a:t>
            </a:r>
            <a:r>
              <a:rPr lang="en-US" sz="1600"/>
              <a:t>As a client to send SIP request</a:t>
            </a:r>
          </a:p>
          <a:p>
            <a:pPr fontAlgn="base"/>
            <a:r>
              <a:rPr lang="en-US" sz="1600" b="1"/>
              <a:t>User Agent Server (UAS):</a:t>
            </a:r>
            <a:r>
              <a:rPr lang="en-US" sz="1600"/>
              <a:t> As a server to receive requests and send response</a:t>
            </a:r>
          </a:p>
        </p:txBody>
      </p:sp>
      <p:sp>
        <p:nvSpPr>
          <p:cNvPr id="7" name="TextBox 6"/>
          <p:cNvSpPr txBox="1"/>
          <p:nvPr/>
        </p:nvSpPr>
        <p:spPr>
          <a:xfrm>
            <a:off x="145774" y="127538"/>
            <a:ext cx="11834193" cy="461665"/>
          </a:xfrm>
          <a:prstGeom prst="rect">
            <a:avLst/>
          </a:prstGeom>
          <a:solidFill>
            <a:schemeClr val="accent4"/>
          </a:solidFill>
        </p:spPr>
        <p:txBody>
          <a:bodyPr wrap="square" rtlCol="0">
            <a:spAutoFit/>
          </a:bodyPr>
          <a:lstStyle/>
          <a:p>
            <a:pPr algn="ctr"/>
            <a:r>
              <a:rPr lang="en-US" sz="2400"/>
              <a:t>UE Characteristic</a:t>
            </a:r>
          </a:p>
        </p:txBody>
      </p:sp>
    </p:spTree>
    <p:extLst>
      <p:ext uri="{BB962C8B-B14F-4D97-AF65-F5344CB8AC3E}">
        <p14:creationId xmlns:p14="http://schemas.microsoft.com/office/powerpoint/2010/main" val="717031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1792" y="1448489"/>
            <a:ext cx="11514086" cy="4524315"/>
          </a:xfrm>
          <a:prstGeom prst="rect">
            <a:avLst/>
          </a:prstGeom>
          <a:ln>
            <a:solidFill>
              <a:srgbClr val="FFC000"/>
            </a:solidFill>
          </a:ln>
        </p:spPr>
        <p:txBody>
          <a:bodyPr wrap="square">
            <a:spAutoFit/>
          </a:bodyPr>
          <a:lstStyle/>
          <a:p>
            <a:pPr fontAlgn="base"/>
            <a:r>
              <a:rPr lang="en-US" b="1" i="0" u="none" strike="noStrike">
                <a:solidFill>
                  <a:srgbClr val="353535"/>
                </a:solidFill>
                <a:effectLst/>
                <a:latin typeface="Droid Serif"/>
              </a:rPr>
              <a:t>Evolved Packet Core (EPC)</a:t>
            </a:r>
          </a:p>
          <a:p>
            <a:pPr fontAlgn="base"/>
            <a:r>
              <a:rPr lang="en-US" b="0" i="0" u="none" strike="noStrike">
                <a:solidFill>
                  <a:srgbClr val="444444"/>
                </a:solidFill>
                <a:effectLst/>
                <a:latin typeface="Open Sans"/>
              </a:rPr>
              <a:t>For </a:t>
            </a:r>
            <a:r>
              <a:rPr lang="en-US" b="0" i="0" u="none" strike="noStrike" err="1">
                <a:solidFill>
                  <a:srgbClr val="444444"/>
                </a:solidFill>
                <a:effectLst/>
                <a:latin typeface="Open Sans"/>
              </a:rPr>
              <a:t>VoLTE</a:t>
            </a:r>
            <a:r>
              <a:rPr lang="en-US" b="0" i="0" u="none" strike="noStrike">
                <a:solidFill>
                  <a:srgbClr val="444444"/>
                </a:solidFill>
                <a:effectLst/>
                <a:latin typeface="Open Sans"/>
              </a:rPr>
              <a:t> and IMS prospective two nodes are important in the Evolved Packet Core.</a:t>
            </a:r>
          </a:p>
          <a:p>
            <a:pPr fontAlgn="base"/>
            <a:endParaRPr lang="en-US" b="0" i="0" u="none" strike="noStrike">
              <a:solidFill>
                <a:srgbClr val="444444"/>
              </a:solidFill>
              <a:effectLst/>
              <a:latin typeface="Open Sans"/>
            </a:endParaRPr>
          </a:p>
          <a:p>
            <a:pPr fontAlgn="base"/>
            <a:r>
              <a:rPr lang="en-US" b="1" i="0" u="none" strike="noStrike">
                <a:solidFill>
                  <a:srgbClr val="404040"/>
                </a:solidFill>
                <a:effectLst/>
                <a:latin typeface="Droid Serif"/>
              </a:rPr>
              <a:t>Public Data Network Gateway (PDN-GW)</a:t>
            </a:r>
          </a:p>
          <a:p>
            <a:pPr fontAlgn="base"/>
            <a:endParaRPr lang="en-US" b="1" i="0" u="none" strike="noStrike">
              <a:solidFill>
                <a:srgbClr val="404040"/>
              </a:solidFill>
              <a:effectLst/>
              <a:latin typeface="Droid Serif"/>
            </a:endParaRPr>
          </a:p>
          <a:p>
            <a:pPr fontAlgn="base"/>
            <a:r>
              <a:rPr lang="en-US" b="0" i="0" u="none" strike="noStrike">
                <a:solidFill>
                  <a:srgbClr val="444444"/>
                </a:solidFill>
                <a:effectLst/>
                <a:latin typeface="Open Sans"/>
              </a:rPr>
              <a:t>PDN Gateway is responsible for allocating IP addresses to UEs. PDN-GW is also the point of communication between EUTRA and non-3GPP services like internet.</a:t>
            </a:r>
          </a:p>
          <a:p>
            <a:pPr fontAlgn="base"/>
            <a:r>
              <a:rPr lang="en-US" b="0" i="0" u="none" strike="noStrike">
                <a:solidFill>
                  <a:srgbClr val="444444"/>
                </a:solidFill>
                <a:effectLst/>
                <a:latin typeface="Open Sans"/>
              </a:rPr>
              <a:t>When IMS is used there can be more that one PDN-GW in the EPC one for internet and one for IMS.</a:t>
            </a:r>
          </a:p>
          <a:p>
            <a:pPr fontAlgn="base"/>
            <a:endParaRPr lang="en-US" b="0" i="0" u="none" strike="noStrike">
              <a:solidFill>
                <a:srgbClr val="444444"/>
              </a:solidFill>
              <a:effectLst/>
              <a:latin typeface="Open Sans"/>
            </a:endParaRPr>
          </a:p>
          <a:p>
            <a:pPr fontAlgn="base"/>
            <a:r>
              <a:rPr lang="en-US" b="1" i="0" u="none" strike="noStrike">
                <a:solidFill>
                  <a:srgbClr val="404040"/>
                </a:solidFill>
                <a:effectLst/>
                <a:latin typeface="Droid Serif"/>
              </a:rPr>
              <a:t>Policy and Charging Rule Function (PCRF)</a:t>
            </a:r>
          </a:p>
          <a:p>
            <a:pPr fontAlgn="base"/>
            <a:endParaRPr lang="en-US" b="1" i="0" u="none" strike="noStrike">
              <a:solidFill>
                <a:srgbClr val="404040"/>
              </a:solidFill>
              <a:effectLst/>
              <a:latin typeface="Droid Serif"/>
            </a:endParaRPr>
          </a:p>
          <a:p>
            <a:pPr fontAlgn="base"/>
            <a:r>
              <a:rPr lang="en-US" b="0" i="0" u="none" strike="noStrike">
                <a:solidFill>
                  <a:srgbClr val="444444"/>
                </a:solidFill>
                <a:effectLst/>
                <a:latin typeface="Open Sans"/>
              </a:rPr>
              <a:t>The PCRF provides real-time determination of what types of traffic are allowed under what conditions, and also determines how to account for this traffic (for billing purposes). Based on requests for IMS services, the PCRF  also initiates the appropriate bearers.</a:t>
            </a:r>
          </a:p>
          <a:p>
            <a:pPr fontAlgn="base"/>
            <a:r>
              <a:rPr lang="en-US" b="0" i="0" u="none" strike="noStrike">
                <a:solidFill>
                  <a:srgbClr val="444444"/>
                </a:solidFill>
                <a:effectLst/>
                <a:latin typeface="Open Sans"/>
              </a:rPr>
              <a:t>When a user initiate a </a:t>
            </a:r>
            <a:r>
              <a:rPr lang="en-US" b="0" i="0" u="none" strike="noStrike" err="1">
                <a:solidFill>
                  <a:srgbClr val="444444"/>
                </a:solidFill>
                <a:effectLst/>
                <a:latin typeface="Open Sans"/>
              </a:rPr>
              <a:t>VoLTE</a:t>
            </a:r>
            <a:r>
              <a:rPr lang="en-US" b="0" i="0" u="none" strike="noStrike">
                <a:solidFill>
                  <a:srgbClr val="444444"/>
                </a:solidFill>
                <a:effectLst/>
                <a:latin typeface="Open Sans"/>
              </a:rPr>
              <a:t> call PCRF checks if that user is allowed to start a </a:t>
            </a:r>
            <a:r>
              <a:rPr lang="en-US" b="0" i="0" u="none" strike="noStrike" err="1">
                <a:solidFill>
                  <a:srgbClr val="444444"/>
                </a:solidFill>
                <a:effectLst/>
                <a:latin typeface="Open Sans"/>
              </a:rPr>
              <a:t>VoLTE</a:t>
            </a:r>
            <a:r>
              <a:rPr lang="en-US" b="0" i="0" u="none" strike="noStrike">
                <a:solidFill>
                  <a:srgbClr val="444444"/>
                </a:solidFill>
                <a:effectLst/>
                <a:latin typeface="Open Sans"/>
              </a:rPr>
              <a:t> call or not and if it is allowed PCRF set up dedicated bearer.</a:t>
            </a:r>
          </a:p>
        </p:txBody>
      </p:sp>
      <p:sp>
        <p:nvSpPr>
          <p:cNvPr id="3" name="TextBox 2"/>
          <p:cNvSpPr txBox="1"/>
          <p:nvPr/>
        </p:nvSpPr>
        <p:spPr>
          <a:xfrm>
            <a:off x="145774" y="127538"/>
            <a:ext cx="11834193" cy="461665"/>
          </a:xfrm>
          <a:prstGeom prst="rect">
            <a:avLst/>
          </a:prstGeom>
          <a:solidFill>
            <a:schemeClr val="accent4"/>
          </a:solidFill>
        </p:spPr>
        <p:txBody>
          <a:bodyPr wrap="square" rtlCol="0">
            <a:spAutoFit/>
          </a:bodyPr>
          <a:lstStyle/>
          <a:p>
            <a:pPr algn="ctr"/>
            <a:r>
              <a:rPr lang="en-US" sz="2400"/>
              <a:t>EPC</a:t>
            </a:r>
          </a:p>
        </p:txBody>
      </p:sp>
    </p:spTree>
    <p:extLst>
      <p:ext uri="{BB962C8B-B14F-4D97-AF65-F5344CB8AC3E}">
        <p14:creationId xmlns:p14="http://schemas.microsoft.com/office/powerpoint/2010/main" val="3655627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933375" y="3067619"/>
            <a:ext cx="6019800" cy="3448050"/>
          </a:xfrm>
          <a:prstGeom prst="rect">
            <a:avLst/>
          </a:prstGeom>
        </p:spPr>
      </p:pic>
      <p:pic>
        <p:nvPicPr>
          <p:cNvPr id="5" name="Picture 4"/>
          <p:cNvPicPr>
            <a:picLocks noChangeAspect="1"/>
          </p:cNvPicPr>
          <p:nvPr/>
        </p:nvPicPr>
        <p:blipFill>
          <a:blip r:embed="rId3"/>
          <a:stretch>
            <a:fillRect/>
          </a:stretch>
        </p:blipFill>
        <p:spPr>
          <a:xfrm>
            <a:off x="1083871" y="0"/>
            <a:ext cx="8960643" cy="3181350"/>
          </a:xfrm>
          <a:prstGeom prst="rect">
            <a:avLst/>
          </a:prstGeom>
        </p:spPr>
      </p:pic>
      <p:sp>
        <p:nvSpPr>
          <p:cNvPr id="2" name="TextBox 1"/>
          <p:cNvSpPr txBox="1"/>
          <p:nvPr/>
        </p:nvSpPr>
        <p:spPr>
          <a:xfrm rot="16200000">
            <a:off x="-315767" y="1275039"/>
            <a:ext cx="1947713" cy="369332"/>
          </a:xfrm>
          <a:prstGeom prst="rect">
            <a:avLst/>
          </a:prstGeom>
          <a:noFill/>
        </p:spPr>
        <p:txBody>
          <a:bodyPr wrap="none" rtlCol="0">
            <a:spAutoFit/>
          </a:bodyPr>
          <a:lstStyle/>
          <a:p>
            <a:r>
              <a:rPr lang="en-US" err="1"/>
              <a:t>VoLTE</a:t>
            </a:r>
            <a:r>
              <a:rPr lang="en-US"/>
              <a:t> Architecture</a:t>
            </a:r>
          </a:p>
        </p:txBody>
      </p:sp>
      <p:sp>
        <p:nvSpPr>
          <p:cNvPr id="6" name="TextBox 5"/>
          <p:cNvSpPr txBox="1"/>
          <p:nvPr/>
        </p:nvSpPr>
        <p:spPr>
          <a:xfrm rot="16200000">
            <a:off x="-221671" y="4499252"/>
            <a:ext cx="1759521" cy="369332"/>
          </a:xfrm>
          <a:prstGeom prst="rect">
            <a:avLst/>
          </a:prstGeom>
          <a:noFill/>
        </p:spPr>
        <p:txBody>
          <a:bodyPr wrap="none" rtlCol="0">
            <a:spAutoFit/>
          </a:bodyPr>
          <a:lstStyle/>
          <a:p>
            <a:r>
              <a:rPr lang="en-US"/>
              <a:t>IMS Architecture</a:t>
            </a:r>
          </a:p>
        </p:txBody>
      </p:sp>
    </p:spTree>
    <p:extLst>
      <p:ext uri="{BB962C8B-B14F-4D97-AF65-F5344CB8AC3E}">
        <p14:creationId xmlns:p14="http://schemas.microsoft.com/office/powerpoint/2010/main" val="14585685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03536" y="729940"/>
            <a:ext cx="11243257" cy="5632311"/>
          </a:xfrm>
          <a:prstGeom prst="rect">
            <a:avLst/>
          </a:prstGeom>
          <a:ln>
            <a:solidFill>
              <a:srgbClr val="FFC000"/>
            </a:solidFill>
          </a:ln>
        </p:spPr>
        <p:txBody>
          <a:bodyPr wrap="square">
            <a:spAutoFit/>
          </a:bodyPr>
          <a:lstStyle/>
          <a:p>
            <a:r>
              <a:rPr lang="en-US" err="1"/>
              <a:t>VoLTE</a:t>
            </a:r>
            <a:r>
              <a:rPr lang="en-US"/>
              <a:t> Service is dramatically increasing the number of transactions to be processed by Policy Management. </a:t>
            </a:r>
          </a:p>
          <a:p>
            <a:endParaRPr lang="en-US"/>
          </a:p>
          <a:p>
            <a:pPr marL="285750" indent="-285750">
              <a:buFont typeface="Arial" panose="020B0604020202020204" pitchFamily="34" charset="0"/>
              <a:buChar char="•"/>
            </a:pPr>
            <a:r>
              <a:rPr lang="en-US"/>
              <a:t>Service Providers require very high performing Policy Management system and most importantly a solution able to scale in a very cost efficient way involving linear scalability, virtualization, N+1 redundancy, etc.</a:t>
            </a:r>
          </a:p>
          <a:p>
            <a:endParaRPr lang="en-US"/>
          </a:p>
          <a:p>
            <a:pPr marL="285750" indent="-285750">
              <a:buFont typeface="Arial" panose="020B0604020202020204" pitchFamily="34" charset="0"/>
              <a:buChar char="•"/>
            </a:pPr>
            <a:r>
              <a:rPr lang="en-US" err="1">
                <a:solidFill>
                  <a:srgbClr val="0070C0"/>
                </a:solidFill>
              </a:rPr>
              <a:t>VoLTE</a:t>
            </a:r>
            <a:r>
              <a:rPr lang="en-US">
                <a:solidFill>
                  <a:srgbClr val="0070C0"/>
                </a:solidFill>
              </a:rPr>
              <a:t> requires a very low latency figure (order of 10 </a:t>
            </a:r>
            <a:r>
              <a:rPr lang="en-US" err="1">
                <a:solidFill>
                  <a:srgbClr val="0070C0"/>
                </a:solidFill>
              </a:rPr>
              <a:t>ms</a:t>
            </a:r>
            <a:r>
              <a:rPr lang="en-US">
                <a:solidFill>
                  <a:srgbClr val="0070C0"/>
                </a:solidFill>
              </a:rPr>
              <a:t>) in comparison with the latency for Data Services (order of 100 </a:t>
            </a:r>
            <a:r>
              <a:rPr lang="en-US" err="1">
                <a:solidFill>
                  <a:srgbClr val="0070C0"/>
                </a:solidFill>
              </a:rPr>
              <a:t>ms</a:t>
            </a:r>
            <a:r>
              <a:rPr lang="en-US">
                <a:solidFill>
                  <a:srgbClr val="0070C0"/>
                </a:solidFill>
              </a:rPr>
              <a:t>). </a:t>
            </a:r>
            <a:r>
              <a:rPr lang="en-US"/>
              <a:t>Service Providers require then Policy Management solution able to handle Diameter transactions in a very fast mode even at high TPS (transaction per second) rate.</a:t>
            </a:r>
          </a:p>
          <a:p>
            <a:endParaRPr lang="en-US"/>
          </a:p>
          <a:p>
            <a:pPr marL="285750" indent="-285750">
              <a:buFont typeface="Arial" panose="020B0604020202020204" pitchFamily="34" charset="0"/>
              <a:buChar char="•"/>
            </a:pPr>
            <a:r>
              <a:rPr lang="en-US" err="1"/>
              <a:t>VoLTE</a:t>
            </a:r>
            <a:r>
              <a:rPr lang="en-US"/>
              <a:t> requires a fundamental functionality, session correlation i.e. the ability at the Policy Management node to associate a Diameter request from the IMS domain to a Diameter session from the EPC domain. This functionality becomes more and more complex as service providers scale their policy management solutions.</a:t>
            </a:r>
          </a:p>
          <a:p>
            <a:endParaRPr lang="en-US"/>
          </a:p>
          <a:p>
            <a:pPr marL="285750" indent="-285750">
              <a:buFont typeface="Arial" panose="020B0604020202020204" pitchFamily="34" charset="0"/>
              <a:buChar char="•"/>
            </a:pPr>
            <a:r>
              <a:rPr lang="en-US"/>
              <a:t>Biggest complexity resides in the fact that all these requirements have to be met at the same time by Policy Management solutions.</a:t>
            </a:r>
          </a:p>
          <a:p>
            <a:endParaRPr lang="en-US"/>
          </a:p>
          <a:p>
            <a:r>
              <a:rPr lang="en-US"/>
              <a:t>Fortunately, </a:t>
            </a:r>
            <a:r>
              <a:rPr lang="en-US">
                <a:solidFill>
                  <a:srgbClr val="0070C0"/>
                </a:solidFill>
              </a:rPr>
              <a:t>Data Services and </a:t>
            </a:r>
            <a:r>
              <a:rPr lang="en-US" err="1">
                <a:solidFill>
                  <a:srgbClr val="0070C0"/>
                </a:solidFill>
              </a:rPr>
              <a:t>VoLTE</a:t>
            </a:r>
            <a:r>
              <a:rPr lang="en-US">
                <a:solidFill>
                  <a:srgbClr val="0070C0"/>
                </a:solidFill>
              </a:rPr>
              <a:t> Service allow a clean separation in the network for Policy Management</a:t>
            </a:r>
            <a:r>
              <a:rPr lang="en-US"/>
              <a:t>. As a consequence, Service Providers can maintain their existing Policy Management solutions for Data Services and deploy a Policy Management solution specifically for </a:t>
            </a:r>
            <a:r>
              <a:rPr lang="en-US" err="1"/>
              <a:t>VoLTE</a:t>
            </a:r>
            <a:r>
              <a:rPr lang="en-US"/>
              <a:t>. As previously discussed, a Policy Management solution able to meet all those requirements and helping Service Providers solve the challenges introduced by </a:t>
            </a:r>
            <a:r>
              <a:rPr lang="en-US" err="1"/>
              <a:t>VoLTE</a:t>
            </a:r>
            <a:r>
              <a:rPr lang="en-US"/>
              <a:t>.</a:t>
            </a:r>
          </a:p>
        </p:txBody>
      </p:sp>
      <p:sp>
        <p:nvSpPr>
          <p:cNvPr id="3" name="TextBox 2"/>
          <p:cNvSpPr txBox="1"/>
          <p:nvPr/>
        </p:nvSpPr>
        <p:spPr>
          <a:xfrm>
            <a:off x="403536" y="90153"/>
            <a:ext cx="11243257" cy="369332"/>
          </a:xfrm>
          <a:prstGeom prst="rect">
            <a:avLst/>
          </a:prstGeom>
          <a:solidFill>
            <a:schemeClr val="accent4"/>
          </a:solidFill>
        </p:spPr>
        <p:txBody>
          <a:bodyPr wrap="square" rtlCol="0">
            <a:spAutoFit/>
          </a:bodyPr>
          <a:lstStyle/>
          <a:p>
            <a:pPr algn="ctr"/>
            <a:r>
              <a:rPr lang="en-US"/>
              <a:t>Policy Management for  </a:t>
            </a:r>
            <a:r>
              <a:rPr lang="en-US" err="1"/>
              <a:t>VoLTE</a:t>
            </a:r>
            <a:endParaRPr lang="en-US"/>
          </a:p>
        </p:txBody>
      </p:sp>
    </p:spTree>
    <p:extLst>
      <p:ext uri="{BB962C8B-B14F-4D97-AF65-F5344CB8AC3E}">
        <p14:creationId xmlns:p14="http://schemas.microsoft.com/office/powerpoint/2010/main" val="1287897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7294" y="523983"/>
            <a:ext cx="11879175" cy="6093976"/>
          </a:xfrm>
          <a:prstGeom prst="rect">
            <a:avLst/>
          </a:prstGeom>
          <a:ln>
            <a:solidFill>
              <a:srgbClr val="FFC000"/>
            </a:solidFill>
          </a:ln>
        </p:spPr>
        <p:txBody>
          <a:bodyPr wrap="square">
            <a:spAutoFit/>
          </a:bodyPr>
          <a:lstStyle/>
          <a:p>
            <a:pPr fontAlgn="base"/>
            <a:r>
              <a:rPr lang="en-US" sz="1300" b="1" i="0" u="none" strike="noStrike">
                <a:solidFill>
                  <a:srgbClr val="404040"/>
                </a:solidFill>
                <a:effectLst/>
                <a:latin typeface="Droid Serif"/>
              </a:rPr>
              <a:t>Call Session Control Function (CSCF)</a:t>
            </a:r>
          </a:p>
          <a:p>
            <a:pPr fontAlgn="base"/>
            <a:r>
              <a:rPr lang="en-US" sz="1300" b="0" i="0" u="none" strike="noStrike">
                <a:solidFill>
                  <a:srgbClr val="444444"/>
                </a:solidFill>
                <a:effectLst/>
                <a:latin typeface="Open Sans"/>
              </a:rPr>
              <a:t>CSCF is responsible for establishing, monitoring, supporting and releasing multimedia sessions. It has three different functional elements which may or may not be separate physical entities.</a:t>
            </a:r>
          </a:p>
          <a:p>
            <a:pPr fontAlgn="base"/>
            <a:endParaRPr lang="en-US" sz="1300" b="0" i="0" u="none" strike="noStrike">
              <a:solidFill>
                <a:srgbClr val="444444"/>
              </a:solidFill>
              <a:effectLst/>
              <a:latin typeface="Open Sans"/>
            </a:endParaRPr>
          </a:p>
          <a:p>
            <a:pPr fontAlgn="base">
              <a:buFont typeface="Arial" panose="020B0604020202020204" pitchFamily="34" charset="0"/>
              <a:buChar char="•"/>
            </a:pPr>
            <a:r>
              <a:rPr lang="en-US" sz="1300" b="1" i="0" u="none" strike="noStrike">
                <a:solidFill>
                  <a:srgbClr val="444444"/>
                </a:solidFill>
                <a:effectLst/>
                <a:latin typeface="Open Sans"/>
              </a:rPr>
              <a:t>Proxy CSCF:</a:t>
            </a:r>
            <a:r>
              <a:rPr lang="en-US" sz="1300" b="0" i="0" u="none" strike="noStrike">
                <a:solidFill>
                  <a:srgbClr val="444444"/>
                </a:solidFill>
                <a:effectLst/>
                <a:latin typeface="Open Sans"/>
              </a:rPr>
              <a:t> P-CSCF is seen as the initial point of contact from any SIP User Agent. It handles all requests from the UE  and is, from the UE’s point of view, the “SIP proxy” to the entire subsystem.</a:t>
            </a:r>
          </a:p>
          <a:p>
            <a:pPr fontAlgn="base"/>
            <a:endParaRPr lang="en-US" sz="1300" b="0" i="0" u="none" strike="noStrike">
              <a:solidFill>
                <a:srgbClr val="444444"/>
              </a:solidFill>
              <a:effectLst/>
              <a:latin typeface="Open Sans"/>
            </a:endParaRPr>
          </a:p>
          <a:p>
            <a:pPr fontAlgn="base">
              <a:buFont typeface="Arial" panose="020B0604020202020204" pitchFamily="34" charset="0"/>
              <a:buChar char="•"/>
            </a:pPr>
            <a:r>
              <a:rPr lang="en-US" sz="1300" b="1" i="0" u="none" strike="noStrike">
                <a:solidFill>
                  <a:srgbClr val="444444"/>
                </a:solidFill>
                <a:effectLst/>
                <a:latin typeface="Open Sans"/>
              </a:rPr>
              <a:t>Serving CSCF: </a:t>
            </a:r>
            <a:r>
              <a:rPr lang="en-US" sz="1300" b="0" i="0" u="none" strike="noStrike">
                <a:solidFill>
                  <a:srgbClr val="444444"/>
                </a:solidFill>
                <a:effectLst/>
                <a:latin typeface="Open Sans"/>
              </a:rPr>
              <a:t>S-CSCF has knowledge about the user and what applications are available to the user. It acts as a decision point and it’s main job is to decide whether or not the user’s SIP messages will be forwarded to the application servers.</a:t>
            </a:r>
          </a:p>
          <a:p>
            <a:pPr fontAlgn="base"/>
            <a:endParaRPr lang="en-US" sz="1300" b="0" i="0" u="none" strike="noStrike">
              <a:solidFill>
                <a:srgbClr val="444444"/>
              </a:solidFill>
              <a:effectLst/>
              <a:latin typeface="Open Sans"/>
            </a:endParaRPr>
          </a:p>
          <a:p>
            <a:pPr fontAlgn="base">
              <a:buFont typeface="Arial" panose="020B0604020202020204" pitchFamily="34" charset="0"/>
              <a:buChar char="•"/>
            </a:pPr>
            <a:r>
              <a:rPr lang="en-US" sz="1300" b="1" i="0" u="none" strike="noStrike">
                <a:solidFill>
                  <a:srgbClr val="444444"/>
                </a:solidFill>
                <a:effectLst/>
                <a:latin typeface="Open Sans"/>
              </a:rPr>
              <a:t>Interrogating CSCF:</a:t>
            </a:r>
            <a:r>
              <a:rPr lang="en-US" sz="1300" b="0" i="0" u="none" strike="noStrike">
                <a:solidFill>
                  <a:srgbClr val="444444"/>
                </a:solidFill>
                <a:effectLst/>
                <a:latin typeface="Open Sans"/>
              </a:rPr>
              <a:t> I-CSCF is the entity that initiates the assignment of a user to an S-CSCF (by querying the HSS) during registration.</a:t>
            </a:r>
          </a:p>
          <a:p>
            <a:pPr fontAlgn="base"/>
            <a:endParaRPr lang="en-US" sz="1300" b="0" i="0" u="none" strike="noStrike">
              <a:solidFill>
                <a:srgbClr val="444444"/>
              </a:solidFill>
              <a:effectLst/>
              <a:latin typeface="Open Sans"/>
            </a:endParaRPr>
          </a:p>
          <a:p>
            <a:pPr fontAlgn="base"/>
            <a:r>
              <a:rPr lang="en-US" sz="1300" b="1" i="0" u="none" strike="noStrike">
                <a:solidFill>
                  <a:srgbClr val="404040"/>
                </a:solidFill>
                <a:effectLst/>
                <a:latin typeface="Droid Serif"/>
              </a:rPr>
              <a:t>Home Subscriber Server (HSS)</a:t>
            </a:r>
          </a:p>
          <a:p>
            <a:pPr fontAlgn="base"/>
            <a:r>
              <a:rPr lang="en-US" sz="1300" b="0" i="0" u="none" strike="noStrike">
                <a:solidFill>
                  <a:srgbClr val="444444"/>
                </a:solidFill>
                <a:effectLst/>
                <a:latin typeface="Open Sans"/>
              </a:rPr>
              <a:t>HSS is a database that maintains user profile and location information and is responsible for name/address resolution. HSS is also responsible for authentication and authorization.</a:t>
            </a:r>
          </a:p>
          <a:p>
            <a:pPr fontAlgn="base"/>
            <a:endParaRPr lang="en-US" sz="1300" b="0" i="0" u="none" strike="noStrike">
              <a:solidFill>
                <a:srgbClr val="444444"/>
              </a:solidFill>
              <a:effectLst/>
              <a:latin typeface="Open Sans"/>
            </a:endParaRPr>
          </a:p>
          <a:p>
            <a:pPr fontAlgn="base"/>
            <a:r>
              <a:rPr lang="en-US" sz="1300" b="1" i="0" u="none" strike="noStrike">
                <a:solidFill>
                  <a:srgbClr val="404040"/>
                </a:solidFill>
                <a:effectLst/>
                <a:latin typeface="Droid Serif"/>
              </a:rPr>
              <a:t>Subscriber Location Function (SLF)</a:t>
            </a:r>
          </a:p>
          <a:p>
            <a:pPr fontAlgn="base"/>
            <a:r>
              <a:rPr lang="en-US" sz="1300" b="0" i="0" u="none" strike="noStrike">
                <a:solidFill>
                  <a:srgbClr val="444444"/>
                </a:solidFill>
                <a:effectLst/>
                <a:latin typeface="Open Sans"/>
              </a:rPr>
              <a:t>SLF is responsible for assigning HSS to user in home network. To achieve this function SLF keeps track of all </a:t>
            </a:r>
            <a:r>
              <a:rPr lang="en-US" sz="1300" b="0" i="0" u="none" strike="noStrike" err="1">
                <a:solidFill>
                  <a:srgbClr val="444444"/>
                </a:solidFill>
                <a:effectLst/>
                <a:latin typeface="Open Sans"/>
              </a:rPr>
              <a:t>HSSes</a:t>
            </a:r>
            <a:r>
              <a:rPr lang="en-US" sz="1300" b="0" i="0" u="none" strike="noStrike">
                <a:solidFill>
                  <a:srgbClr val="444444"/>
                </a:solidFill>
                <a:effectLst/>
                <a:latin typeface="Open Sans"/>
              </a:rPr>
              <a:t>.</a:t>
            </a:r>
          </a:p>
          <a:p>
            <a:pPr fontAlgn="base"/>
            <a:endParaRPr lang="en-US" sz="1300" b="0" i="0" u="none" strike="noStrike">
              <a:solidFill>
                <a:srgbClr val="444444"/>
              </a:solidFill>
              <a:effectLst/>
              <a:latin typeface="Open Sans"/>
            </a:endParaRPr>
          </a:p>
          <a:p>
            <a:pPr fontAlgn="base"/>
            <a:r>
              <a:rPr lang="en-US" sz="1300" b="1" i="0" u="none" strike="noStrike">
                <a:solidFill>
                  <a:srgbClr val="404040"/>
                </a:solidFill>
                <a:effectLst/>
                <a:latin typeface="Droid Serif"/>
              </a:rPr>
              <a:t>Media Gateways</a:t>
            </a:r>
          </a:p>
          <a:p>
            <a:pPr fontAlgn="base"/>
            <a:r>
              <a:rPr lang="en-US" sz="1300" b="0" i="0" u="none" strike="noStrike">
                <a:solidFill>
                  <a:srgbClr val="444444"/>
                </a:solidFill>
                <a:effectLst/>
                <a:latin typeface="Open Sans"/>
              </a:rPr>
              <a:t>Media Gateway resides at the </a:t>
            </a:r>
            <a:r>
              <a:rPr lang="en-US" sz="1300" b="0" i="0" u="none" strike="noStrike" err="1">
                <a:solidFill>
                  <a:srgbClr val="444444"/>
                </a:solidFill>
                <a:effectLst/>
                <a:latin typeface="Open Sans"/>
              </a:rPr>
              <a:t>inteface</a:t>
            </a:r>
            <a:r>
              <a:rPr lang="en-US" sz="1300" b="0" i="0" u="none" strike="noStrike">
                <a:solidFill>
                  <a:srgbClr val="444444"/>
                </a:solidFill>
                <a:effectLst/>
                <a:latin typeface="Open Sans"/>
              </a:rPr>
              <a:t> between SIP based IMS network and traditional PSTN network. More details are found in RFC 3372 (Session Initiation Protocol for Telephones (SIP-T): Context and Architectures)</a:t>
            </a:r>
          </a:p>
          <a:p>
            <a:pPr fontAlgn="base"/>
            <a:endParaRPr lang="en-US" sz="1300" b="0" i="0" u="none" strike="noStrike">
              <a:solidFill>
                <a:srgbClr val="444444"/>
              </a:solidFill>
              <a:effectLst/>
              <a:latin typeface="Open Sans"/>
            </a:endParaRPr>
          </a:p>
          <a:p>
            <a:pPr fontAlgn="base"/>
            <a:r>
              <a:rPr lang="en-US" sz="1300" b="1" i="0" u="none" strike="noStrike">
                <a:solidFill>
                  <a:srgbClr val="404040"/>
                </a:solidFill>
                <a:effectLst/>
                <a:latin typeface="Droid Serif"/>
              </a:rPr>
              <a:t>Media Gateway Control Function(MGCF)</a:t>
            </a:r>
          </a:p>
          <a:p>
            <a:pPr fontAlgn="base"/>
            <a:r>
              <a:rPr lang="en-US" sz="1300" b="0" i="0" u="none" strike="noStrike">
                <a:solidFill>
                  <a:srgbClr val="444444"/>
                </a:solidFill>
                <a:effectLst/>
                <a:latin typeface="Open Sans"/>
              </a:rPr>
              <a:t>Media Gateway Control  Function controls media gateways, converts codecs where necessary and may serve as a breakout to a circuit-switched network.</a:t>
            </a:r>
          </a:p>
          <a:p>
            <a:pPr fontAlgn="base"/>
            <a:r>
              <a:rPr lang="en-US" sz="1300" b="0" i="0" u="none" strike="noStrike">
                <a:solidFill>
                  <a:srgbClr val="444444"/>
                </a:solidFill>
                <a:effectLst/>
                <a:latin typeface="Open Sans"/>
              </a:rPr>
              <a:t>In the case when MGCF works as a breakout to CS network it is also responsible for managing the conversion of signaling messages, converting SIP messaging to the Bearer Independent Call Control (BICC) and ISDN User Part (ISUP) protocols used in legacy systems.</a:t>
            </a:r>
          </a:p>
          <a:p>
            <a:pPr fontAlgn="base"/>
            <a:endParaRPr lang="en-US" sz="1300" b="0" i="0" u="none" strike="noStrike">
              <a:solidFill>
                <a:srgbClr val="444444"/>
              </a:solidFill>
              <a:effectLst/>
              <a:latin typeface="Open Sans"/>
            </a:endParaRPr>
          </a:p>
          <a:p>
            <a:pPr fontAlgn="base"/>
            <a:r>
              <a:rPr lang="en-US" sz="1300" b="1" i="0" u="none" strike="noStrike">
                <a:solidFill>
                  <a:srgbClr val="404040"/>
                </a:solidFill>
                <a:effectLst/>
                <a:latin typeface="Droid Serif"/>
              </a:rPr>
              <a:t>Breakout Gateway Control Function (BGCF)</a:t>
            </a:r>
          </a:p>
          <a:p>
            <a:pPr fontAlgn="base"/>
            <a:r>
              <a:rPr lang="en-US" sz="1300" b="0" i="0" u="none" strike="noStrike">
                <a:solidFill>
                  <a:srgbClr val="444444"/>
                </a:solidFill>
                <a:effectLst/>
                <a:latin typeface="Open Sans"/>
              </a:rPr>
              <a:t>When Media Gateway Control Function does not include breakout to circuit-switched network, BGCF takes care of this functionality.</a:t>
            </a:r>
          </a:p>
        </p:txBody>
      </p:sp>
      <p:sp>
        <p:nvSpPr>
          <p:cNvPr id="3" name="TextBox 2"/>
          <p:cNvSpPr txBox="1"/>
          <p:nvPr/>
        </p:nvSpPr>
        <p:spPr>
          <a:xfrm>
            <a:off x="145774" y="74530"/>
            <a:ext cx="11834193" cy="369332"/>
          </a:xfrm>
          <a:prstGeom prst="rect">
            <a:avLst/>
          </a:prstGeom>
          <a:solidFill>
            <a:schemeClr val="accent4"/>
          </a:solidFill>
        </p:spPr>
        <p:txBody>
          <a:bodyPr wrap="square" rtlCol="0">
            <a:spAutoFit/>
          </a:bodyPr>
          <a:lstStyle/>
          <a:p>
            <a:pPr algn="ctr"/>
            <a:r>
              <a:rPr lang="en-US"/>
              <a:t>IMS Network</a:t>
            </a:r>
          </a:p>
        </p:txBody>
      </p:sp>
    </p:spTree>
    <p:extLst>
      <p:ext uri="{BB962C8B-B14F-4D97-AF65-F5344CB8AC3E}">
        <p14:creationId xmlns:p14="http://schemas.microsoft.com/office/powerpoint/2010/main" val="4264093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4646" y="902148"/>
            <a:ext cx="11736948" cy="5355312"/>
          </a:xfrm>
          <a:prstGeom prst="rect">
            <a:avLst/>
          </a:prstGeom>
          <a:ln>
            <a:solidFill>
              <a:srgbClr val="FFC000"/>
            </a:solidFill>
          </a:ln>
        </p:spPr>
        <p:txBody>
          <a:bodyPr wrap="square">
            <a:spAutoFit/>
          </a:bodyPr>
          <a:lstStyle/>
          <a:p>
            <a:r>
              <a:rPr lang="en-US">
                <a:solidFill>
                  <a:srgbClr val="000000"/>
                </a:solidFill>
                <a:latin typeface="Meta Offc"/>
              </a:rPr>
              <a:t>SIP Responses are maintained in an IANA list called </a:t>
            </a:r>
            <a:r>
              <a:rPr lang="en-US" i="1" u="sng">
                <a:solidFill>
                  <a:srgbClr val="000000"/>
                </a:solidFill>
                <a:latin typeface="Meta Offc"/>
              </a:rPr>
              <a:t>Session Initiation Protocol (SIP) Parameters</a:t>
            </a:r>
            <a:r>
              <a:rPr lang="en-US">
                <a:solidFill>
                  <a:srgbClr val="000000"/>
                </a:solidFill>
                <a:latin typeface="Meta Offc"/>
              </a:rPr>
              <a:t>. They always begin with a Response Code, which falls into one of the following categories: </a:t>
            </a:r>
          </a:p>
          <a:p>
            <a:endParaRPr lang="en-US">
              <a:solidFill>
                <a:srgbClr val="000000"/>
              </a:solidFill>
              <a:latin typeface="Meta Offc"/>
            </a:endParaRPr>
          </a:p>
          <a:p>
            <a:pPr marL="285750" indent="-285750">
              <a:buFont typeface="Arial" panose="020B0604020202020204" pitchFamily="34" charset="0"/>
              <a:buChar char="•"/>
            </a:pPr>
            <a:r>
              <a:rPr lang="en-US">
                <a:solidFill>
                  <a:srgbClr val="FF0000"/>
                </a:solidFill>
                <a:latin typeface="Meta Offc Medium"/>
              </a:rPr>
              <a:t>Informational/Provisional (1xx): </a:t>
            </a:r>
            <a:r>
              <a:rPr lang="en-US">
                <a:solidFill>
                  <a:srgbClr val="000000"/>
                </a:solidFill>
                <a:latin typeface="Meta Offc"/>
              </a:rPr>
              <a:t>Request received and being processed – Examples: 100 Trying, 180 Ringing</a:t>
            </a:r>
          </a:p>
          <a:p>
            <a:r>
              <a:rPr lang="en-US">
                <a:solidFill>
                  <a:srgbClr val="000000"/>
                </a:solidFill>
                <a:latin typeface="Meta Offc"/>
              </a:rPr>
              <a:t> </a:t>
            </a:r>
          </a:p>
          <a:p>
            <a:pPr marL="285750" indent="-285750">
              <a:buFont typeface="Arial" panose="020B0604020202020204" pitchFamily="34" charset="0"/>
              <a:buChar char="•"/>
            </a:pPr>
            <a:r>
              <a:rPr lang="en-US">
                <a:solidFill>
                  <a:srgbClr val="FF0000"/>
                </a:solidFill>
                <a:latin typeface="Meta Offc Medium"/>
              </a:rPr>
              <a:t>Successful (2xx): </a:t>
            </a:r>
            <a:r>
              <a:rPr lang="en-US">
                <a:solidFill>
                  <a:srgbClr val="000000"/>
                </a:solidFill>
                <a:latin typeface="Meta Offc"/>
              </a:rPr>
              <a:t>The action was successfully received, understood, and accepted – Examples: 200 OK, 202 Accepted </a:t>
            </a:r>
          </a:p>
          <a:p>
            <a:endParaRPr lang="en-US">
              <a:solidFill>
                <a:srgbClr val="000000"/>
              </a:solidFill>
              <a:latin typeface="Meta Offc"/>
            </a:endParaRPr>
          </a:p>
          <a:p>
            <a:pPr marL="285750" indent="-285750">
              <a:buFont typeface="Arial" panose="020B0604020202020204" pitchFamily="34" charset="0"/>
              <a:buChar char="•"/>
            </a:pPr>
            <a:r>
              <a:rPr lang="en-US">
                <a:solidFill>
                  <a:srgbClr val="FF0000"/>
                </a:solidFill>
                <a:latin typeface="Meta Offc Medium"/>
              </a:rPr>
              <a:t>Redirection (3xx): </a:t>
            </a:r>
            <a:r>
              <a:rPr lang="en-US">
                <a:solidFill>
                  <a:srgbClr val="000000"/>
                </a:solidFill>
                <a:latin typeface="Meta Offc"/>
              </a:rPr>
              <a:t>Further action needs to be taken (typically by the sender) to complete the request – Examples: 301 Moved Permanently, 302 Moved Temporarily </a:t>
            </a:r>
          </a:p>
          <a:p>
            <a:endParaRPr lang="en-US">
              <a:solidFill>
                <a:srgbClr val="000000"/>
              </a:solidFill>
              <a:latin typeface="Meta Offc"/>
            </a:endParaRPr>
          </a:p>
          <a:p>
            <a:pPr marL="285750" indent="-285750">
              <a:buFont typeface="Arial" panose="020B0604020202020204" pitchFamily="34" charset="0"/>
              <a:buChar char="•"/>
            </a:pPr>
            <a:r>
              <a:rPr lang="en-US">
                <a:solidFill>
                  <a:srgbClr val="FF0000"/>
                </a:solidFill>
                <a:latin typeface="Meta Offc Medium"/>
              </a:rPr>
              <a:t>Client Failure (4xx): </a:t>
            </a:r>
            <a:r>
              <a:rPr lang="en-US">
                <a:solidFill>
                  <a:srgbClr val="000000"/>
                </a:solidFill>
                <a:latin typeface="Meta Offc"/>
              </a:rPr>
              <a:t>The request contains bad syntax or cannot be fulfilled at the server – Examples: 401 Unauthorized, 403 Forbidden </a:t>
            </a:r>
          </a:p>
          <a:p>
            <a:endParaRPr lang="en-US">
              <a:solidFill>
                <a:srgbClr val="000000"/>
              </a:solidFill>
              <a:latin typeface="Meta Offc"/>
            </a:endParaRPr>
          </a:p>
          <a:p>
            <a:pPr marL="285750" indent="-285750">
              <a:buFont typeface="Arial" panose="020B0604020202020204" pitchFamily="34" charset="0"/>
              <a:buChar char="•"/>
            </a:pPr>
            <a:r>
              <a:rPr lang="en-US">
                <a:solidFill>
                  <a:srgbClr val="FF0000"/>
                </a:solidFill>
                <a:latin typeface="Meta Offc Medium"/>
              </a:rPr>
              <a:t>Server Failure (5xx): </a:t>
            </a:r>
            <a:r>
              <a:rPr lang="en-US">
                <a:solidFill>
                  <a:srgbClr val="000000"/>
                </a:solidFill>
                <a:latin typeface="Meta Offc"/>
              </a:rPr>
              <a:t>The server failed to fulfill an apparently valid request – Examples: 500 Server Internal Error, 504 Server Time-out </a:t>
            </a:r>
          </a:p>
          <a:p>
            <a:endParaRPr lang="en-US">
              <a:solidFill>
                <a:srgbClr val="000000"/>
              </a:solidFill>
              <a:latin typeface="Meta Offc"/>
            </a:endParaRPr>
          </a:p>
          <a:p>
            <a:pPr marL="285750" indent="-285750">
              <a:buFont typeface="Arial" panose="020B0604020202020204" pitchFamily="34" charset="0"/>
              <a:buChar char="•"/>
            </a:pPr>
            <a:r>
              <a:rPr lang="en-US">
                <a:solidFill>
                  <a:srgbClr val="FF0000"/>
                </a:solidFill>
                <a:latin typeface="Meta Offc Medium"/>
              </a:rPr>
              <a:t>Global Failure (6xx): </a:t>
            </a:r>
            <a:r>
              <a:rPr lang="en-US">
                <a:solidFill>
                  <a:srgbClr val="000000"/>
                </a:solidFill>
                <a:latin typeface="Meta Offc"/>
              </a:rPr>
              <a:t>The request cannot be fulfilled at any server – Examples: 600 Busy Everywhere, 604 Does Not Exist Anywhere </a:t>
            </a:r>
          </a:p>
        </p:txBody>
      </p:sp>
      <p:sp>
        <p:nvSpPr>
          <p:cNvPr id="3" name="Rectangle 3"/>
          <p:cNvSpPr>
            <a:spLocks noGrp="1" noChangeArrowheads="1"/>
          </p:cNvSpPr>
          <p:nvPr>
            <p:ph type="title"/>
          </p:nvPr>
        </p:nvSpPr>
        <p:spPr>
          <a:xfrm>
            <a:off x="214646" y="215422"/>
            <a:ext cx="11736948" cy="341632"/>
          </a:xfrm>
          <a:solidFill>
            <a:srgbClr val="FFC000"/>
          </a:solidFill>
        </p:spPr>
        <p:txBody>
          <a:bodyPr vert="horz" wrap="square" lIns="91440" tIns="45720" rIns="91440" bIns="45720" rtlCol="0" anchor="ctr">
            <a:spAutoFit/>
          </a:bodyPr>
          <a:lstStyle/>
          <a:p>
            <a:pPr algn="ctr"/>
            <a:r>
              <a:rPr lang="en-US" altLang="en-US" sz="1800">
                <a:latin typeface="+mn-lt"/>
                <a:ea typeface="+mn-ea"/>
                <a:cs typeface="+mn-cs"/>
              </a:rPr>
              <a:t>SIP CODE</a:t>
            </a:r>
          </a:p>
        </p:txBody>
      </p:sp>
    </p:spTree>
    <p:extLst>
      <p:ext uri="{BB962C8B-B14F-4D97-AF65-F5344CB8AC3E}">
        <p14:creationId xmlns:p14="http://schemas.microsoft.com/office/powerpoint/2010/main" val="5048312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7438" y="783926"/>
            <a:ext cx="6348213" cy="2945667"/>
          </a:xfrm>
          <a:prstGeom prst="rect">
            <a:avLst/>
          </a:prstGeom>
        </p:spPr>
      </p:pic>
      <p:pic>
        <p:nvPicPr>
          <p:cNvPr id="5" name="Picture 4"/>
          <p:cNvPicPr>
            <a:picLocks noChangeAspect="1"/>
          </p:cNvPicPr>
          <p:nvPr/>
        </p:nvPicPr>
        <p:blipFill>
          <a:blip r:embed="rId3"/>
          <a:stretch>
            <a:fillRect/>
          </a:stretch>
        </p:blipFill>
        <p:spPr>
          <a:xfrm>
            <a:off x="169514" y="3887537"/>
            <a:ext cx="5930781" cy="2824173"/>
          </a:xfrm>
          <a:prstGeom prst="rect">
            <a:avLst/>
          </a:prstGeom>
        </p:spPr>
      </p:pic>
      <p:sp>
        <p:nvSpPr>
          <p:cNvPr id="6" name="Rectangle 3"/>
          <p:cNvSpPr>
            <a:spLocks noGrp="1" noChangeArrowheads="1"/>
          </p:cNvSpPr>
          <p:nvPr>
            <p:ph type="title"/>
          </p:nvPr>
        </p:nvSpPr>
        <p:spPr>
          <a:xfrm>
            <a:off x="169514" y="215422"/>
            <a:ext cx="12001022" cy="341632"/>
          </a:xfrm>
          <a:solidFill>
            <a:srgbClr val="FFC000"/>
          </a:solidFill>
        </p:spPr>
        <p:txBody>
          <a:bodyPr vert="horz" wrap="square" lIns="91440" tIns="45720" rIns="91440" bIns="45720" rtlCol="0" anchor="ctr">
            <a:spAutoFit/>
          </a:bodyPr>
          <a:lstStyle/>
          <a:p>
            <a:pPr algn="ctr"/>
            <a:r>
              <a:rPr lang="en-US" altLang="en-US" sz="1800">
                <a:latin typeface="+mn-lt"/>
                <a:ea typeface="+mn-ea"/>
                <a:cs typeface="+mn-cs"/>
              </a:rPr>
              <a:t>SRVCC- </a:t>
            </a:r>
            <a:r>
              <a:rPr lang="en-US" sz="1800"/>
              <a:t>Single Radio Voice Call Continuity </a:t>
            </a:r>
            <a:endParaRPr lang="en-US" altLang="en-US" sz="1800">
              <a:latin typeface="+mn-lt"/>
              <a:ea typeface="+mn-ea"/>
              <a:cs typeface="+mn-cs"/>
            </a:endParaRPr>
          </a:p>
        </p:txBody>
      </p:sp>
      <p:sp>
        <p:nvSpPr>
          <p:cNvPr id="2" name="Rectangle 1"/>
          <p:cNvSpPr/>
          <p:nvPr/>
        </p:nvSpPr>
        <p:spPr>
          <a:xfrm>
            <a:off x="7186412" y="783926"/>
            <a:ext cx="4984124" cy="2462213"/>
          </a:xfrm>
          <a:prstGeom prst="rect">
            <a:avLst/>
          </a:prstGeom>
          <a:ln>
            <a:solidFill>
              <a:srgbClr val="FFC000"/>
            </a:solidFill>
          </a:ln>
        </p:spPr>
        <p:txBody>
          <a:bodyPr wrap="square">
            <a:spAutoFit/>
          </a:bodyPr>
          <a:lstStyle/>
          <a:p>
            <a:pPr marL="285750" indent="-285750">
              <a:buFont typeface="Arial" panose="020B0604020202020204" pitchFamily="34" charset="0"/>
              <a:buChar char="•"/>
            </a:pPr>
            <a:r>
              <a:rPr lang="en-US" sz="1400"/>
              <a:t>The </a:t>
            </a:r>
            <a:r>
              <a:rPr lang="en-US" sz="1400">
                <a:solidFill>
                  <a:srgbClr val="004499"/>
                </a:solidFill>
              </a:rPr>
              <a:t>SRVCC</a:t>
            </a:r>
            <a:r>
              <a:rPr lang="en-US" sz="1400"/>
              <a:t> Handover to </a:t>
            </a:r>
            <a:r>
              <a:rPr lang="en-US" sz="1400">
                <a:solidFill>
                  <a:srgbClr val="004499"/>
                </a:solidFill>
              </a:rPr>
              <a:t>UTRAN</a:t>
            </a:r>
            <a:r>
              <a:rPr lang="en-US" sz="1400"/>
              <a:t> feature is very similar to the Coverage-Triggered </a:t>
            </a:r>
            <a:r>
              <a:rPr lang="en-US" sz="1400">
                <a:solidFill>
                  <a:srgbClr val="004499"/>
                </a:solidFill>
              </a:rPr>
              <a:t>WCDMA</a:t>
            </a:r>
            <a:r>
              <a:rPr lang="en-US" sz="1400"/>
              <a:t> </a:t>
            </a:r>
            <a:r>
              <a:rPr lang="en-US" sz="1400">
                <a:solidFill>
                  <a:srgbClr val="004499"/>
                </a:solidFill>
              </a:rPr>
              <a:t>IRAT</a:t>
            </a:r>
            <a:r>
              <a:rPr lang="en-US" sz="1400"/>
              <a:t> Handover feature, but with the main difference that when the handover procedure is started, an indication is included that Single Radio Voice Call Continuity (</a:t>
            </a:r>
            <a:r>
              <a:rPr lang="en-US" sz="1400">
                <a:solidFill>
                  <a:srgbClr val="004499"/>
                </a:solidFill>
              </a:rPr>
              <a:t>SRVCC</a:t>
            </a:r>
            <a:r>
              <a:rPr lang="en-US" sz="1400"/>
              <a:t>) should be used. </a:t>
            </a:r>
          </a:p>
          <a:p>
            <a:pPr marL="285750" indent="-285750">
              <a:buFont typeface="Arial" panose="020B0604020202020204" pitchFamily="34" charset="0"/>
              <a:buChar char="•"/>
            </a:pPr>
            <a:r>
              <a:rPr lang="en-US" sz="1400"/>
              <a:t>The indication on the use of </a:t>
            </a:r>
            <a:r>
              <a:rPr lang="en-US" sz="1400">
                <a:solidFill>
                  <a:srgbClr val="004499"/>
                </a:solidFill>
              </a:rPr>
              <a:t>SRVCC</a:t>
            </a:r>
            <a:r>
              <a:rPr lang="en-US" sz="1400"/>
              <a:t> tells the Mobility Management Entity (</a:t>
            </a:r>
            <a:r>
              <a:rPr lang="en-US" sz="1400">
                <a:solidFill>
                  <a:srgbClr val="004499"/>
                </a:solidFill>
              </a:rPr>
              <a:t>MME</a:t>
            </a:r>
            <a:r>
              <a:rPr lang="en-US" sz="1400"/>
              <a:t>) that the </a:t>
            </a:r>
            <a:r>
              <a:rPr lang="en-US" sz="1400">
                <a:solidFill>
                  <a:srgbClr val="004499"/>
                </a:solidFill>
              </a:rPr>
              <a:t>UE</a:t>
            </a:r>
            <a:r>
              <a:rPr lang="en-US" sz="1400"/>
              <a:t> voice bearers must be transferred to the </a:t>
            </a:r>
            <a:r>
              <a:rPr lang="en-US" sz="1400">
                <a:solidFill>
                  <a:srgbClr val="004499"/>
                </a:solidFill>
              </a:rPr>
              <a:t>CS</a:t>
            </a:r>
            <a:r>
              <a:rPr lang="en-US" sz="1400"/>
              <a:t> domain in the target cell. In addition, when deciding on what target cell to choose for the </a:t>
            </a:r>
            <a:r>
              <a:rPr lang="en-US" sz="1400">
                <a:solidFill>
                  <a:srgbClr val="004499"/>
                </a:solidFill>
              </a:rPr>
              <a:t>SRVCC</a:t>
            </a:r>
            <a:r>
              <a:rPr lang="en-US" sz="1400"/>
              <a:t> handover, an explicit check is made on whether the cell is </a:t>
            </a:r>
            <a:r>
              <a:rPr lang="en-US" sz="1400">
                <a:solidFill>
                  <a:srgbClr val="004499"/>
                </a:solidFill>
              </a:rPr>
              <a:t>SRVCC</a:t>
            </a:r>
            <a:r>
              <a:rPr lang="en-US" sz="1400"/>
              <a:t> capable.</a:t>
            </a:r>
          </a:p>
        </p:txBody>
      </p:sp>
      <p:sp>
        <p:nvSpPr>
          <p:cNvPr id="3" name="Rectangle 2"/>
          <p:cNvSpPr/>
          <p:nvPr/>
        </p:nvSpPr>
        <p:spPr>
          <a:xfrm>
            <a:off x="6100295" y="3818611"/>
            <a:ext cx="6070241" cy="2893100"/>
          </a:xfrm>
          <a:prstGeom prst="rect">
            <a:avLst/>
          </a:prstGeom>
          <a:ln>
            <a:solidFill>
              <a:srgbClr val="FFC000"/>
            </a:solidFill>
          </a:ln>
        </p:spPr>
        <p:txBody>
          <a:bodyPr wrap="square">
            <a:spAutoFit/>
          </a:bodyPr>
          <a:lstStyle/>
          <a:p>
            <a:r>
              <a:rPr lang="en-US" sz="1300"/>
              <a:t>The following must be fulfilled at feature activation:</a:t>
            </a:r>
          </a:p>
          <a:p>
            <a:pPr marL="285750" indent="-285750">
              <a:buFont typeface="Arial" panose="020B0604020202020204" pitchFamily="34" charset="0"/>
              <a:buChar char="•"/>
            </a:pPr>
            <a:endParaRPr lang="en-US" sz="1300"/>
          </a:p>
          <a:p>
            <a:pPr marL="285750" indent="-285750">
              <a:buFont typeface="Arial" panose="020B0604020202020204" pitchFamily="34" charset="0"/>
              <a:buChar char="•"/>
            </a:pPr>
            <a:r>
              <a:rPr lang="en-US" sz="1300"/>
              <a:t>The features that will trigger an </a:t>
            </a:r>
            <a:r>
              <a:rPr lang="en-US" sz="1300">
                <a:solidFill>
                  <a:srgbClr val="004499"/>
                </a:solidFill>
              </a:rPr>
              <a:t>SRVCC</a:t>
            </a:r>
            <a:r>
              <a:rPr lang="en-US" sz="1300"/>
              <a:t> Handover must be activated and configured correctly. </a:t>
            </a:r>
          </a:p>
          <a:p>
            <a:pPr marL="285750" indent="-285750">
              <a:buFont typeface="Arial" panose="020B0604020202020204" pitchFamily="34" charset="0"/>
              <a:buChar char="•"/>
            </a:pPr>
            <a:endParaRPr lang="en-US" sz="1300"/>
          </a:p>
          <a:p>
            <a:pPr marL="285750" indent="-285750">
              <a:buFont typeface="Arial" panose="020B0604020202020204" pitchFamily="34" charset="0"/>
              <a:buChar char="•"/>
            </a:pPr>
            <a:r>
              <a:rPr lang="en-US" sz="1300"/>
              <a:t>There must be </a:t>
            </a:r>
            <a:r>
              <a:rPr lang="en-US" sz="1300">
                <a:solidFill>
                  <a:srgbClr val="004499"/>
                </a:solidFill>
              </a:rPr>
              <a:t>UE</a:t>
            </a:r>
            <a:r>
              <a:rPr lang="en-US" sz="1300"/>
              <a:t> in the network that have the capability to do </a:t>
            </a:r>
            <a:r>
              <a:rPr lang="en-US" sz="1300">
                <a:solidFill>
                  <a:srgbClr val="004499"/>
                </a:solidFill>
              </a:rPr>
              <a:t>SRVCC</a:t>
            </a:r>
            <a:r>
              <a:rPr lang="en-US" sz="1300"/>
              <a:t> Handover to </a:t>
            </a:r>
            <a:r>
              <a:rPr lang="en-US" sz="1300">
                <a:solidFill>
                  <a:srgbClr val="004499"/>
                </a:solidFill>
              </a:rPr>
              <a:t>WCDMA/CDMA</a:t>
            </a:r>
            <a:r>
              <a:rPr lang="en-US" sz="1300"/>
              <a:t>. This is indicated in the Feature Group Indicator (</a:t>
            </a:r>
            <a:r>
              <a:rPr lang="en-US" sz="1300">
                <a:solidFill>
                  <a:srgbClr val="004499"/>
                </a:solidFill>
              </a:rPr>
              <a:t>FGI</a:t>
            </a:r>
            <a:r>
              <a:rPr lang="en-US" sz="1300"/>
              <a:t>) bit 27, see 3GPP TS 36.331. </a:t>
            </a:r>
          </a:p>
          <a:p>
            <a:pPr marL="285750" indent="-285750">
              <a:buFont typeface="Arial" panose="020B0604020202020204" pitchFamily="34" charset="0"/>
              <a:buChar char="•"/>
            </a:pPr>
            <a:r>
              <a:rPr lang="en-US" sz="1300"/>
              <a:t>The core network (</a:t>
            </a:r>
            <a:r>
              <a:rPr lang="en-US" sz="1300">
                <a:solidFill>
                  <a:srgbClr val="004499"/>
                </a:solidFill>
              </a:rPr>
              <a:t>MME</a:t>
            </a:r>
            <a:r>
              <a:rPr lang="en-US" sz="1300"/>
              <a:t>) that handles the </a:t>
            </a:r>
            <a:r>
              <a:rPr lang="en-US" sz="1300" err="1">
                <a:solidFill>
                  <a:srgbClr val="004499"/>
                </a:solidFill>
              </a:rPr>
              <a:t>eNodeB</a:t>
            </a:r>
            <a:r>
              <a:rPr lang="en-US" sz="1300"/>
              <a:t> where the </a:t>
            </a:r>
            <a:r>
              <a:rPr lang="en-US" sz="1300">
                <a:solidFill>
                  <a:srgbClr val="004499"/>
                </a:solidFill>
              </a:rPr>
              <a:t>UE</a:t>
            </a:r>
            <a:r>
              <a:rPr lang="en-US" sz="1300"/>
              <a:t> is connected must support </a:t>
            </a:r>
            <a:r>
              <a:rPr lang="en-US" sz="1300">
                <a:solidFill>
                  <a:srgbClr val="004499"/>
                </a:solidFill>
              </a:rPr>
              <a:t>SRVCC</a:t>
            </a:r>
            <a:r>
              <a:rPr lang="en-US" sz="1300"/>
              <a:t>. This is indicated in the SRVCC operation possible information element in the INITIAL CONTEXT SETUP REQUEST </a:t>
            </a:r>
            <a:r>
              <a:rPr lang="en-US" sz="1300">
                <a:solidFill>
                  <a:srgbClr val="004499"/>
                </a:solidFill>
              </a:rPr>
              <a:t>S1</a:t>
            </a:r>
            <a:r>
              <a:rPr lang="en-US" sz="1300"/>
              <a:t> message or in the HANDOVER REQUEST S1/X2 message described in 3GPP TS 36.413 and 3GPP TS 36.423.</a:t>
            </a:r>
          </a:p>
          <a:p>
            <a:pPr marL="285750" indent="-285750">
              <a:buFont typeface="Arial" panose="020B0604020202020204" pitchFamily="34" charset="0"/>
              <a:buChar char="•"/>
            </a:pPr>
            <a:endParaRPr lang="en-US" sz="1300"/>
          </a:p>
          <a:p>
            <a:pPr marL="285750" indent="-285750">
              <a:buFont typeface="Arial" panose="020B0604020202020204" pitchFamily="34" charset="0"/>
              <a:buChar char="•"/>
            </a:pPr>
            <a:r>
              <a:rPr lang="en-US" sz="1300"/>
              <a:t>In addition, some neighbor </a:t>
            </a:r>
            <a:r>
              <a:rPr lang="en-US" sz="1300">
                <a:solidFill>
                  <a:srgbClr val="004499"/>
                </a:solidFill>
              </a:rPr>
              <a:t>WCDMA</a:t>
            </a:r>
            <a:r>
              <a:rPr lang="en-US" sz="1300"/>
              <a:t> system must support the </a:t>
            </a:r>
            <a:r>
              <a:rPr lang="en-US" sz="1300">
                <a:solidFill>
                  <a:srgbClr val="004499"/>
                </a:solidFill>
              </a:rPr>
              <a:t>SRVCC</a:t>
            </a:r>
            <a:r>
              <a:rPr lang="en-US" sz="1300"/>
              <a:t> procedure.</a:t>
            </a:r>
            <a:endParaRPr lang="en-US" sz="1300">
              <a:effectLst/>
            </a:endParaRPr>
          </a:p>
        </p:txBody>
      </p:sp>
    </p:spTree>
    <p:extLst>
      <p:ext uri="{BB962C8B-B14F-4D97-AF65-F5344CB8AC3E}">
        <p14:creationId xmlns:p14="http://schemas.microsoft.com/office/powerpoint/2010/main" val="21950962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4048" y="719740"/>
            <a:ext cx="6583118" cy="3528736"/>
          </a:xfrm>
          <a:prstGeom prst="rect">
            <a:avLst/>
          </a:prstGeom>
        </p:spPr>
      </p:pic>
      <p:pic>
        <p:nvPicPr>
          <p:cNvPr id="5" name="Picture 4"/>
          <p:cNvPicPr>
            <a:picLocks noChangeAspect="1"/>
          </p:cNvPicPr>
          <p:nvPr/>
        </p:nvPicPr>
        <p:blipFill>
          <a:blip r:embed="rId3"/>
          <a:stretch>
            <a:fillRect/>
          </a:stretch>
        </p:blipFill>
        <p:spPr>
          <a:xfrm>
            <a:off x="204048" y="4491732"/>
            <a:ext cx="10563696" cy="2366268"/>
          </a:xfrm>
          <a:prstGeom prst="rect">
            <a:avLst/>
          </a:prstGeom>
        </p:spPr>
      </p:pic>
      <p:pic>
        <p:nvPicPr>
          <p:cNvPr id="6" name="Picture 5"/>
          <p:cNvPicPr>
            <a:picLocks noChangeAspect="1"/>
          </p:cNvPicPr>
          <p:nvPr/>
        </p:nvPicPr>
        <p:blipFill>
          <a:blip r:embed="rId4"/>
          <a:stretch>
            <a:fillRect/>
          </a:stretch>
        </p:blipFill>
        <p:spPr>
          <a:xfrm>
            <a:off x="6914747" y="719740"/>
            <a:ext cx="5050544" cy="3475744"/>
          </a:xfrm>
          <a:prstGeom prst="rect">
            <a:avLst/>
          </a:prstGeom>
        </p:spPr>
      </p:pic>
      <p:sp>
        <p:nvSpPr>
          <p:cNvPr id="7" name="Rectangle 3"/>
          <p:cNvSpPr>
            <a:spLocks noGrp="1" noChangeArrowheads="1"/>
          </p:cNvSpPr>
          <p:nvPr>
            <p:ph type="title"/>
          </p:nvPr>
        </p:nvSpPr>
        <p:spPr>
          <a:xfrm>
            <a:off x="53008" y="135909"/>
            <a:ext cx="12019722" cy="341632"/>
          </a:xfrm>
          <a:solidFill>
            <a:srgbClr val="FFC000"/>
          </a:solidFill>
        </p:spPr>
        <p:txBody>
          <a:bodyPr vert="horz" wrap="square" lIns="91440" tIns="45720" rIns="91440" bIns="45720" rtlCol="0" anchor="ctr">
            <a:spAutoFit/>
          </a:bodyPr>
          <a:lstStyle/>
          <a:p>
            <a:pPr algn="ctr"/>
            <a:r>
              <a:rPr lang="en-US" altLang="en-US" sz="1800">
                <a:latin typeface="+mn-lt"/>
                <a:ea typeface="+mn-ea"/>
                <a:cs typeface="+mn-cs"/>
              </a:rPr>
              <a:t>SRVCC - </a:t>
            </a:r>
            <a:r>
              <a:rPr lang="en-US" sz="1800"/>
              <a:t>Single Radio Voice Call Continuity </a:t>
            </a:r>
            <a:endParaRPr lang="en-US" altLang="en-US" sz="1800">
              <a:latin typeface="+mn-lt"/>
              <a:ea typeface="+mn-ea"/>
              <a:cs typeface="+mn-cs"/>
            </a:endParaRPr>
          </a:p>
        </p:txBody>
      </p:sp>
    </p:spTree>
    <p:extLst>
      <p:ext uri="{BB962C8B-B14F-4D97-AF65-F5344CB8AC3E}">
        <p14:creationId xmlns:p14="http://schemas.microsoft.com/office/powerpoint/2010/main" val="5291936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3008" y="625977"/>
            <a:ext cx="8504170" cy="5632311"/>
          </a:xfrm>
          <a:prstGeom prst="rect">
            <a:avLst/>
          </a:prstGeom>
          <a:ln>
            <a:solidFill>
              <a:srgbClr val="FFC000"/>
            </a:solidFill>
          </a:ln>
        </p:spPr>
      </p:pic>
      <p:sp>
        <p:nvSpPr>
          <p:cNvPr id="2" name="TextBox 1"/>
          <p:cNvSpPr txBox="1"/>
          <p:nvPr/>
        </p:nvSpPr>
        <p:spPr>
          <a:xfrm>
            <a:off x="8680174" y="624346"/>
            <a:ext cx="3392556" cy="5632311"/>
          </a:xfrm>
          <a:prstGeom prst="rect">
            <a:avLst/>
          </a:prstGeom>
          <a:noFill/>
          <a:ln>
            <a:solidFill>
              <a:srgbClr val="FFC000"/>
            </a:solidFill>
          </a:ln>
        </p:spPr>
        <p:txBody>
          <a:bodyPr wrap="square" rtlCol="0">
            <a:spAutoFit/>
          </a:bodyPr>
          <a:lstStyle/>
          <a:p>
            <a:pPr indent="-228600">
              <a:buAutoNum type="arabicPeriod"/>
            </a:pPr>
            <a:r>
              <a:rPr lang="en-US" sz="2000" err="1"/>
              <a:t>eNodeB</a:t>
            </a:r>
            <a:r>
              <a:rPr lang="en-US" sz="2000"/>
              <a:t> Decides SRVCC HO based on Measurement</a:t>
            </a:r>
          </a:p>
          <a:p>
            <a:r>
              <a:rPr lang="en-US" sz="2000"/>
              <a:t>2. MME handle SRVCC HO via </a:t>
            </a:r>
            <a:r>
              <a:rPr lang="en-US" sz="2000" err="1"/>
              <a:t>Sv</a:t>
            </a:r>
            <a:r>
              <a:rPr lang="en-US" sz="2000"/>
              <a:t> Interface</a:t>
            </a:r>
          </a:p>
          <a:p>
            <a:r>
              <a:rPr lang="en-US" sz="2000"/>
              <a:t>3a. MSC and RAN prepare to receive a HO</a:t>
            </a:r>
          </a:p>
          <a:p>
            <a:r>
              <a:rPr lang="en-US" sz="2000"/>
              <a:t>3b.MSC setup a call to ATCF using Session Transfer Number(STN) for SRVCC and perform HO towards CS Access network</a:t>
            </a:r>
          </a:p>
          <a:p>
            <a:r>
              <a:rPr lang="en-US" sz="2000"/>
              <a:t>4.ATCF finds the anchored call and executes session transfer</a:t>
            </a:r>
          </a:p>
          <a:p>
            <a:r>
              <a:rPr lang="en-US" sz="2000"/>
              <a:t>5. </a:t>
            </a:r>
            <a:r>
              <a:rPr lang="en-US" sz="2000" err="1"/>
              <a:t>ATGw</a:t>
            </a:r>
            <a:r>
              <a:rPr lang="en-US" sz="2000"/>
              <a:t> is updated with new media destination for transferred party</a:t>
            </a:r>
          </a:p>
          <a:p>
            <a:r>
              <a:rPr lang="en-US" sz="2000"/>
              <a:t>6. Media is re-established over CS-access towards the UE</a:t>
            </a:r>
          </a:p>
        </p:txBody>
      </p:sp>
      <p:sp>
        <p:nvSpPr>
          <p:cNvPr id="5" name="Rectangle 3"/>
          <p:cNvSpPr>
            <a:spLocks noGrp="1" noChangeArrowheads="1"/>
          </p:cNvSpPr>
          <p:nvPr>
            <p:ph type="title"/>
          </p:nvPr>
        </p:nvSpPr>
        <p:spPr>
          <a:xfrm>
            <a:off x="53008" y="135909"/>
            <a:ext cx="12019722" cy="341632"/>
          </a:xfrm>
          <a:solidFill>
            <a:srgbClr val="FFC000"/>
          </a:solidFill>
        </p:spPr>
        <p:txBody>
          <a:bodyPr vert="horz" wrap="square" lIns="91440" tIns="45720" rIns="91440" bIns="45720" rtlCol="0" anchor="ctr">
            <a:spAutoFit/>
          </a:bodyPr>
          <a:lstStyle/>
          <a:p>
            <a:pPr algn="ctr"/>
            <a:r>
              <a:rPr lang="en-US" altLang="en-US" sz="1800">
                <a:latin typeface="+mn-lt"/>
                <a:ea typeface="+mn-ea"/>
                <a:cs typeface="+mn-cs"/>
              </a:rPr>
              <a:t>SRVCC Flow Chart</a:t>
            </a:r>
          </a:p>
        </p:txBody>
      </p:sp>
    </p:spTree>
    <p:extLst>
      <p:ext uri="{BB962C8B-B14F-4D97-AF65-F5344CB8AC3E}">
        <p14:creationId xmlns:p14="http://schemas.microsoft.com/office/powerpoint/2010/main" val="17720646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140437238"/>
              </p:ext>
            </p:extLst>
          </p:nvPr>
        </p:nvGraphicFramePr>
        <p:xfrm>
          <a:off x="193480" y="562671"/>
          <a:ext cx="11912661" cy="6022116"/>
        </p:xfrm>
        <a:graphic>
          <a:graphicData uri="http://schemas.openxmlformats.org/drawingml/2006/table">
            <a:tbl>
              <a:tblPr/>
              <a:tblGrid>
                <a:gridCol w="1017134">
                  <a:extLst>
                    <a:ext uri="{9D8B030D-6E8A-4147-A177-3AD203B41FA5}">
                      <a16:colId xmlns:a16="http://schemas.microsoft.com/office/drawing/2014/main" val="20000"/>
                    </a:ext>
                  </a:extLst>
                </a:gridCol>
                <a:gridCol w="1107583">
                  <a:extLst>
                    <a:ext uri="{9D8B030D-6E8A-4147-A177-3AD203B41FA5}">
                      <a16:colId xmlns:a16="http://schemas.microsoft.com/office/drawing/2014/main" val="20001"/>
                    </a:ext>
                  </a:extLst>
                </a:gridCol>
                <a:gridCol w="1300766">
                  <a:extLst>
                    <a:ext uri="{9D8B030D-6E8A-4147-A177-3AD203B41FA5}">
                      <a16:colId xmlns:a16="http://schemas.microsoft.com/office/drawing/2014/main" val="20002"/>
                    </a:ext>
                  </a:extLst>
                </a:gridCol>
                <a:gridCol w="4623515">
                  <a:extLst>
                    <a:ext uri="{9D8B030D-6E8A-4147-A177-3AD203B41FA5}">
                      <a16:colId xmlns:a16="http://schemas.microsoft.com/office/drawing/2014/main" val="20003"/>
                    </a:ext>
                  </a:extLst>
                </a:gridCol>
                <a:gridCol w="1674254">
                  <a:extLst>
                    <a:ext uri="{9D8B030D-6E8A-4147-A177-3AD203B41FA5}">
                      <a16:colId xmlns:a16="http://schemas.microsoft.com/office/drawing/2014/main" val="20004"/>
                    </a:ext>
                  </a:extLst>
                </a:gridCol>
                <a:gridCol w="1030310">
                  <a:extLst>
                    <a:ext uri="{9D8B030D-6E8A-4147-A177-3AD203B41FA5}">
                      <a16:colId xmlns:a16="http://schemas.microsoft.com/office/drawing/2014/main" val="20005"/>
                    </a:ext>
                  </a:extLst>
                </a:gridCol>
                <a:gridCol w="695459">
                  <a:extLst>
                    <a:ext uri="{9D8B030D-6E8A-4147-A177-3AD203B41FA5}">
                      <a16:colId xmlns:a16="http://schemas.microsoft.com/office/drawing/2014/main" val="20006"/>
                    </a:ext>
                  </a:extLst>
                </a:gridCol>
                <a:gridCol w="463640">
                  <a:extLst>
                    <a:ext uri="{9D8B030D-6E8A-4147-A177-3AD203B41FA5}">
                      <a16:colId xmlns:a16="http://schemas.microsoft.com/office/drawing/2014/main" val="20007"/>
                    </a:ext>
                  </a:extLst>
                </a:gridCol>
              </a:tblGrid>
              <a:tr h="150504">
                <a:tc>
                  <a:txBody>
                    <a:bodyPr/>
                    <a:lstStyle/>
                    <a:p>
                      <a:pPr algn="ctr" fontAlgn="b"/>
                      <a:r>
                        <a:rPr lang="en-US" sz="1000" b="0" i="0" u="none" strike="noStrike">
                          <a:solidFill>
                            <a:srgbClr val="000000"/>
                          </a:solidFill>
                          <a:effectLst/>
                          <a:latin typeface="Calibri" panose="020F0502020204030204" pitchFamily="34" charset="0"/>
                        </a:rPr>
                        <a:t>Model</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MO Class Name</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Parameter Name</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Parameter Description</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Range and Values</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Default Value</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MultiplicationFactor</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Unit</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01008">
                <a:tc>
                  <a:txBody>
                    <a:bodyPr/>
                    <a:lstStyle/>
                    <a:p>
                      <a:pPr algn="ctr" fontAlgn="b"/>
                      <a:r>
                        <a:rPr lang="en-US" sz="1000" b="0" i="0" u="none" strike="noStrike">
                          <a:solidFill>
                            <a:srgbClr val="000000"/>
                          </a:solidFill>
                          <a:effectLst/>
                          <a:latin typeface="Calibri" panose="020F0502020204030204" pitchFamily="34" charset="0"/>
                        </a:rPr>
                        <a:t>ENodeBFunction</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EUtranCellFDD</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pdcchOuterLoopInitialAdjVolte</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The initial value for PDCCH outer loop adjustment for UEs with any bearer mapped to a QCI with serviceType of VoIP.</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-200..200</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-70</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0.1</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dB</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01008">
                <a:tc>
                  <a:txBody>
                    <a:bodyPr/>
                    <a:lstStyle/>
                    <a:p>
                      <a:pPr algn="ctr" fontAlgn="b"/>
                      <a:r>
                        <a:rPr lang="en-US" sz="1000" b="0" i="0" u="none" strike="noStrike">
                          <a:solidFill>
                            <a:srgbClr val="000000"/>
                          </a:solidFill>
                          <a:effectLst/>
                          <a:latin typeface="Calibri" panose="020F0502020204030204" pitchFamily="34" charset="0"/>
                        </a:rPr>
                        <a:t>ENodeBFunction</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EUtranCellFDD</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pdcchOuterLoopUpStepVolte</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PDCCH outer loop up step size for UEs with any bearer mapped to a QCI with serviceType of VoIP.</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0..100</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6</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0.001</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dB</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01008">
                <a:tc>
                  <a:txBody>
                    <a:bodyPr/>
                    <a:lstStyle/>
                    <a:p>
                      <a:pPr algn="ctr" fontAlgn="b"/>
                      <a:r>
                        <a:rPr lang="en-US" sz="1000" b="0" i="0" u="none" strike="noStrike">
                          <a:solidFill>
                            <a:srgbClr val="000000"/>
                          </a:solidFill>
                          <a:effectLst/>
                          <a:latin typeface="Calibri" panose="020F0502020204030204" pitchFamily="34" charset="0"/>
                        </a:rPr>
                        <a:t>ENodeBFunction</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EUtranCellFDD</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pdcchTargetBlerVolte</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PDCCH target error rate for UEs with any bearer mapped to a QCI with serviceType of VoIP.</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1..200</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22</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0.05</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51512">
                <a:tc>
                  <a:txBody>
                    <a:bodyPr/>
                    <a:lstStyle/>
                    <a:p>
                      <a:pPr algn="ctr" fontAlgn="b"/>
                      <a:r>
                        <a:rPr lang="en-US" sz="1000" b="0" i="0" u="none" strike="noStrike">
                          <a:solidFill>
                            <a:srgbClr val="000000"/>
                          </a:solidFill>
                          <a:effectLst/>
                          <a:latin typeface="Calibri" panose="020F0502020204030204" pitchFamily="34" charset="0"/>
                        </a:rPr>
                        <a:t>ENodeBFunction</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AnrFunctionUtran</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srvccPolicy</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Starting value of the parameter srvccCapability when an ExternalUtranCellFDD/TDD is created by ANR (Automatic Neighbor Relations)</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NOT_SUPPORTED</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CS_ONLY_SUPPORTED</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PS_AND_CS_SUPPORTED</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CS_ONLY_SUPPORTED</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 </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 </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51512">
                <a:tc>
                  <a:txBody>
                    <a:bodyPr/>
                    <a:lstStyle/>
                    <a:p>
                      <a:pPr algn="ctr" fontAlgn="b"/>
                      <a:r>
                        <a:rPr lang="en-US" sz="1000" b="0" i="0" u="none" strike="noStrike">
                          <a:solidFill>
                            <a:srgbClr val="000000"/>
                          </a:solidFill>
                          <a:effectLst/>
                          <a:latin typeface="Calibri" panose="020F0502020204030204" pitchFamily="34" charset="0"/>
                        </a:rPr>
                        <a:t>ENodeBFunction</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ExternalCdma20001xRttCell</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srvccCapability</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Describes the SRVCC capability of the external cell.</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NOT_SUPPORTED</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CS_ONLY_SUPPORTED</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PS_AND_CS_SUPPORTED</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NOT_SUPPORTED</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 </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 </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51512">
                <a:tc>
                  <a:txBody>
                    <a:bodyPr/>
                    <a:lstStyle/>
                    <a:p>
                      <a:pPr algn="ctr" fontAlgn="b"/>
                      <a:r>
                        <a:rPr lang="en-US" sz="1000" b="0" i="0" u="none" strike="noStrike">
                          <a:solidFill>
                            <a:srgbClr val="000000"/>
                          </a:solidFill>
                          <a:effectLst/>
                          <a:latin typeface="Calibri" panose="020F0502020204030204" pitchFamily="34" charset="0"/>
                        </a:rPr>
                        <a:t>ENodeBFunction</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ExternalUtranCellFDD</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srvccCapability</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Describes the SRVCC capability of the external cell.</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NOT_SUPPORTED</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CS_ONLY_SUPPORTED</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PS_AND_CS_SUPPORTED</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NOT_SUPPORTED</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 </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 </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866336">
                <a:tc>
                  <a:txBody>
                    <a:bodyPr/>
                    <a:lstStyle/>
                    <a:p>
                      <a:pPr algn="ctr" fontAlgn="t"/>
                      <a:r>
                        <a:rPr lang="en-US" sz="1000" b="0" i="0" u="none" strike="noStrike">
                          <a:solidFill>
                            <a:srgbClr val="000000"/>
                          </a:solidFill>
                          <a:effectLst/>
                          <a:latin typeface="Arial" panose="020B0604020202020204" pitchFamily="34" charset="0"/>
                        </a:rPr>
                        <a:t>ENodeBFunction</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Cdma20001xRttFreqRelation</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voicePrio</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This attribute prioritizes CDMA 1xRtt frequencies among all frequencies related to the cell for User Equipments (UEs) in connected mode. It sets the priority value for the frequency to which the mobility action for a voice session is performed.</a:t>
                      </a:r>
                      <a:br>
                        <a:rPr lang="en-US" sz="1000" b="0" i="0" u="none" strike="noStrike">
                          <a:solidFill>
                            <a:srgbClr val="000000"/>
                          </a:solidFill>
                          <a:effectLst/>
                          <a:latin typeface="Arial" panose="020B0604020202020204" pitchFamily="34" charset="0"/>
                        </a:rPr>
                      </a:br>
                      <a:r>
                        <a:rPr lang="en-US" sz="1000" b="0" i="0" u="none" strike="noStrike">
                          <a:solidFill>
                            <a:srgbClr val="000000"/>
                          </a:solidFill>
                          <a:effectLst/>
                          <a:latin typeface="Arial" panose="020B0604020202020204" pitchFamily="34" charset="0"/>
                        </a:rPr>
                        <a:t>The value -1 means the frequency is excluded.</a:t>
                      </a:r>
                      <a:br>
                        <a:rPr lang="en-US" sz="1000" b="0" i="0" u="none" strike="noStrike">
                          <a:solidFill>
                            <a:srgbClr val="000000"/>
                          </a:solidFill>
                          <a:effectLst/>
                          <a:latin typeface="Arial" panose="020B0604020202020204" pitchFamily="34" charset="0"/>
                        </a:rPr>
                      </a:br>
                      <a:r>
                        <a:rPr lang="en-US" sz="1000" b="0" i="0" u="none" strike="noStrike">
                          <a:solidFill>
                            <a:srgbClr val="000000"/>
                          </a:solidFill>
                          <a:effectLst/>
                          <a:latin typeface="Arial" panose="020B0604020202020204" pitchFamily="34" charset="0"/>
                        </a:rPr>
                        <a:t>The value 0 means the lowest priority.</a:t>
                      </a:r>
                      <a:br>
                        <a:rPr lang="en-US" sz="1000" b="0" i="0" u="none" strike="noStrike">
                          <a:solidFill>
                            <a:srgbClr val="000000"/>
                          </a:solidFill>
                          <a:effectLst/>
                          <a:latin typeface="Arial" panose="020B0604020202020204" pitchFamily="34" charset="0"/>
                        </a:rPr>
                      </a:br>
                      <a:r>
                        <a:rPr lang="en-US" sz="1000" b="0" i="0" u="none" strike="noStrike">
                          <a:solidFill>
                            <a:srgbClr val="000000"/>
                          </a:solidFill>
                          <a:effectLst/>
                          <a:latin typeface="Arial" panose="020B0604020202020204" pitchFamily="34" charset="0"/>
                        </a:rPr>
                        <a:t>The value 7 means the highest priority.</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-1..7</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0</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 </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 </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511714">
                <a:tc>
                  <a:txBody>
                    <a:bodyPr/>
                    <a:lstStyle/>
                    <a:p>
                      <a:pPr algn="ctr" fontAlgn="t"/>
                      <a:r>
                        <a:rPr lang="en-US" sz="1000" b="0" i="0" u="none" strike="noStrike">
                          <a:solidFill>
                            <a:srgbClr val="000000"/>
                          </a:solidFill>
                          <a:effectLst/>
                          <a:latin typeface="Arial" panose="020B0604020202020204" pitchFamily="34" charset="0"/>
                        </a:rPr>
                        <a:t>ENodeBFunction</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UtranCellRelation</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CoverageIndicator</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Defines whether the coverage areas of the EUTRAN cell and the UTRAN FDD/TDD cell are indicated to overlap (have approximately the same coverage area), or whether the coverage area of the UTRAN FDD/TDD cell is indicated to cover the EUTRAN cell, or if it is contained in the EUTRAN cell.</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NONE</a:t>
                      </a:r>
                      <a:br>
                        <a:rPr lang="en-US" sz="1000" b="0" i="0" u="none" strike="noStrike">
                          <a:solidFill>
                            <a:srgbClr val="000000"/>
                          </a:solidFill>
                          <a:effectLst/>
                          <a:latin typeface="Arial" panose="020B0604020202020204" pitchFamily="34" charset="0"/>
                        </a:rPr>
                      </a:br>
                      <a:r>
                        <a:rPr lang="en-US" sz="1000" b="0" i="0" u="none" strike="noStrike">
                          <a:solidFill>
                            <a:srgbClr val="000000"/>
                          </a:solidFill>
                          <a:effectLst/>
                          <a:latin typeface="Arial" panose="020B0604020202020204" pitchFamily="34" charset="0"/>
                        </a:rPr>
                        <a:t>COVERS</a:t>
                      </a:r>
                      <a:br>
                        <a:rPr lang="en-US" sz="1000" b="0" i="0" u="none" strike="noStrike">
                          <a:solidFill>
                            <a:srgbClr val="000000"/>
                          </a:solidFill>
                          <a:effectLst/>
                          <a:latin typeface="Arial" panose="020B0604020202020204" pitchFamily="34" charset="0"/>
                        </a:rPr>
                      </a:br>
                      <a:r>
                        <a:rPr lang="en-US" sz="1000" b="0" i="0" u="none" strike="noStrike">
                          <a:solidFill>
                            <a:srgbClr val="000000"/>
                          </a:solidFill>
                          <a:effectLst/>
                          <a:latin typeface="Arial" panose="020B0604020202020204" pitchFamily="34" charset="0"/>
                        </a:rPr>
                        <a:t>OVERLAP</a:t>
                      </a:r>
                      <a:br>
                        <a:rPr lang="en-US" sz="1000" b="0" i="0" u="none" strike="noStrike">
                          <a:solidFill>
                            <a:srgbClr val="000000"/>
                          </a:solidFill>
                          <a:effectLst/>
                          <a:latin typeface="Arial" panose="020B0604020202020204" pitchFamily="34" charset="0"/>
                        </a:rPr>
                      </a:br>
                      <a:r>
                        <a:rPr lang="en-US" sz="1000" b="0" i="0" u="none" strike="noStrike">
                          <a:solidFill>
                            <a:srgbClr val="000000"/>
                          </a:solidFill>
                          <a:effectLst/>
                          <a:latin typeface="Arial" panose="020B0604020202020204" pitchFamily="34" charset="0"/>
                        </a:rPr>
                        <a:t>CONTAINED_IN</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NONE</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 </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 </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511714">
                <a:tc>
                  <a:txBody>
                    <a:bodyPr/>
                    <a:lstStyle/>
                    <a:p>
                      <a:pPr algn="ctr" fontAlgn="t"/>
                      <a:r>
                        <a:rPr lang="en-US" sz="1000" b="0" i="0" u="none" strike="noStrike">
                          <a:solidFill>
                            <a:srgbClr val="000000"/>
                          </a:solidFill>
                          <a:effectLst/>
                          <a:latin typeface="Arial" panose="020B0604020202020204" pitchFamily="34" charset="0"/>
                        </a:rPr>
                        <a:t>ENodeBFunction</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UtranFreqRelation</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mobilityAction</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The preferred way to transfer a UE in connected mode to a UTRAN FDD frequency in case of coverage triggered mobility.</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RELEASE_WITH_REDIRECT</a:t>
                      </a:r>
                      <a:br>
                        <a:rPr lang="en-US" sz="1000" b="0" i="0" u="none" strike="noStrike">
                          <a:solidFill>
                            <a:srgbClr val="000000"/>
                          </a:solidFill>
                          <a:effectLst/>
                          <a:latin typeface="Arial" panose="020B0604020202020204" pitchFamily="34" charset="0"/>
                        </a:rPr>
                      </a:br>
                      <a:r>
                        <a:rPr lang="en-US" sz="1000" b="0" i="0" u="none" strike="noStrike">
                          <a:solidFill>
                            <a:srgbClr val="000000"/>
                          </a:solidFill>
                          <a:effectLst/>
                          <a:latin typeface="Arial" panose="020B0604020202020204" pitchFamily="34" charset="0"/>
                        </a:rPr>
                        <a:t>RELEASE_WITH_REDIRECT_NACC</a:t>
                      </a:r>
                      <a:br>
                        <a:rPr lang="en-US" sz="1000" b="0" i="0" u="none" strike="noStrike">
                          <a:solidFill>
                            <a:srgbClr val="000000"/>
                          </a:solidFill>
                          <a:effectLst/>
                          <a:latin typeface="Arial" panose="020B0604020202020204" pitchFamily="34" charset="0"/>
                        </a:rPr>
                      </a:br>
                      <a:r>
                        <a:rPr lang="en-US" sz="1000" b="0" i="0" u="none" strike="noStrike">
                          <a:solidFill>
                            <a:srgbClr val="000000"/>
                          </a:solidFill>
                          <a:effectLst/>
                          <a:latin typeface="Arial" panose="020B0604020202020204" pitchFamily="34" charset="0"/>
                        </a:rPr>
                        <a:t>HANDOVER</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HANDOVER</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 </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 </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511714">
                <a:tc>
                  <a:txBody>
                    <a:bodyPr/>
                    <a:lstStyle/>
                    <a:p>
                      <a:pPr algn="ctr" fontAlgn="t"/>
                      <a:r>
                        <a:rPr lang="en-US" sz="1000" b="0" i="0" u="none" strike="noStrike">
                          <a:solidFill>
                            <a:srgbClr val="000000"/>
                          </a:solidFill>
                          <a:effectLst/>
                          <a:latin typeface="Arial" panose="020B0604020202020204" pitchFamily="34" charset="0"/>
                        </a:rPr>
                        <a:t>ENodeBFunction</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UtranFreqRelation</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mobilityActionCsfb</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The preferred way to transfer a UE in connected mode to a UTRAN FDD frequency in case of CS Fallback.</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RELEASE_WITH_REDIRECT</a:t>
                      </a:r>
                      <a:br>
                        <a:rPr lang="en-US" sz="1000" b="0" i="0" u="none" strike="noStrike">
                          <a:solidFill>
                            <a:srgbClr val="000000"/>
                          </a:solidFill>
                          <a:effectLst/>
                          <a:latin typeface="Arial" panose="020B0604020202020204" pitchFamily="34" charset="0"/>
                        </a:rPr>
                      </a:br>
                      <a:r>
                        <a:rPr lang="en-US" sz="1000" b="0" i="0" u="none" strike="noStrike">
                          <a:solidFill>
                            <a:srgbClr val="000000"/>
                          </a:solidFill>
                          <a:effectLst/>
                          <a:latin typeface="Arial" panose="020B0604020202020204" pitchFamily="34" charset="0"/>
                        </a:rPr>
                        <a:t>RELEASE_WITH_REDIRECT_NACC</a:t>
                      </a:r>
                      <a:br>
                        <a:rPr lang="en-US" sz="1000" b="0" i="0" u="none" strike="noStrike">
                          <a:solidFill>
                            <a:srgbClr val="000000"/>
                          </a:solidFill>
                          <a:effectLst/>
                          <a:latin typeface="Arial" panose="020B0604020202020204" pitchFamily="34" charset="0"/>
                        </a:rPr>
                      </a:br>
                      <a:r>
                        <a:rPr lang="en-US" sz="1000" b="0" i="0" u="none" strike="noStrike">
                          <a:solidFill>
                            <a:srgbClr val="000000"/>
                          </a:solidFill>
                          <a:effectLst/>
                          <a:latin typeface="Arial" panose="020B0604020202020204" pitchFamily="34" charset="0"/>
                        </a:rPr>
                        <a:t>HANDOVER</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RELEASE_WITH_REDIRECT</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 </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 </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55856">
                <a:tc>
                  <a:txBody>
                    <a:bodyPr/>
                    <a:lstStyle/>
                    <a:p>
                      <a:pPr algn="ctr" fontAlgn="t"/>
                      <a:r>
                        <a:rPr lang="en-US" sz="1000" b="0" i="0" u="none" strike="noStrike">
                          <a:solidFill>
                            <a:srgbClr val="000000"/>
                          </a:solidFill>
                          <a:effectLst/>
                          <a:latin typeface="Arial" panose="020B0604020202020204" pitchFamily="34" charset="0"/>
                        </a:rPr>
                        <a:t>ENodeBFunction</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UeMeasControl</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allowReleaseQci1</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This attribute specifies whether or not blind and measurement-based Release of a User Equipment (UE) with a QCI1 bearer is allowed.</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 </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false</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00" b="0" i="0" u="none" strike="noStrike">
                          <a:solidFill>
                            <a:srgbClr val="000000"/>
                          </a:solidFill>
                          <a:effectLst/>
                          <a:latin typeface="Arial" panose="020B0604020202020204" pitchFamily="34" charset="0"/>
                        </a:rPr>
                        <a:t> </a:t>
                      </a:r>
                    </a:p>
                  </a:txBody>
                  <a:tcPr marL="6543" marR="6543" marT="65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 </a:t>
                      </a:r>
                    </a:p>
                  </a:txBody>
                  <a:tcPr marL="6543" marR="6543" marT="65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6" name="Rectangle 3"/>
          <p:cNvSpPr>
            <a:spLocks noGrp="1" noChangeArrowheads="1"/>
          </p:cNvSpPr>
          <p:nvPr>
            <p:ph type="title"/>
          </p:nvPr>
        </p:nvSpPr>
        <p:spPr>
          <a:xfrm>
            <a:off x="53008" y="135909"/>
            <a:ext cx="12019722" cy="341632"/>
          </a:xfrm>
          <a:solidFill>
            <a:srgbClr val="FFC000"/>
          </a:solidFill>
        </p:spPr>
        <p:txBody>
          <a:bodyPr vert="horz" wrap="square" lIns="91440" tIns="45720" rIns="91440" bIns="45720" rtlCol="0" anchor="ctr">
            <a:spAutoFit/>
          </a:bodyPr>
          <a:lstStyle/>
          <a:p>
            <a:pPr algn="ctr"/>
            <a:r>
              <a:rPr lang="en-US" altLang="en-US" sz="1800">
                <a:latin typeface="+mn-lt"/>
                <a:ea typeface="+mn-ea"/>
                <a:cs typeface="+mn-cs"/>
              </a:rPr>
              <a:t>SRVCC - Parameters</a:t>
            </a:r>
          </a:p>
        </p:txBody>
      </p:sp>
    </p:spTree>
    <p:extLst>
      <p:ext uri="{BB962C8B-B14F-4D97-AF65-F5344CB8AC3E}">
        <p14:creationId xmlns:p14="http://schemas.microsoft.com/office/powerpoint/2010/main" val="41330416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69194" y="615601"/>
            <a:ext cx="5426299" cy="6093976"/>
          </a:xfrm>
          <a:prstGeom prst="rect">
            <a:avLst/>
          </a:prstGeom>
          <a:ln>
            <a:solidFill>
              <a:srgbClr val="FFC000"/>
            </a:solidFill>
          </a:ln>
        </p:spPr>
        <p:txBody>
          <a:bodyPr wrap="square">
            <a:spAutoFit/>
          </a:bodyPr>
          <a:lstStyle/>
          <a:p>
            <a:r>
              <a:rPr lang="en-US" sz="1300"/>
              <a:t>If the below criteria holds, an </a:t>
            </a:r>
            <a:r>
              <a:rPr lang="en-US" sz="1300">
                <a:solidFill>
                  <a:srgbClr val="004499"/>
                </a:solidFill>
              </a:rPr>
              <a:t>SRVCC</a:t>
            </a:r>
            <a:r>
              <a:rPr lang="en-US" sz="1300"/>
              <a:t> handover is possible:</a:t>
            </a:r>
          </a:p>
          <a:p>
            <a:endParaRPr lang="en-US" sz="1300"/>
          </a:p>
          <a:p>
            <a:pPr>
              <a:buFont typeface="Arial" panose="020B0604020202020204" pitchFamily="34" charset="0"/>
              <a:buChar char="•"/>
            </a:pPr>
            <a:r>
              <a:rPr lang="en-US" sz="1300"/>
              <a:t>The </a:t>
            </a:r>
            <a:r>
              <a:rPr lang="en-US" sz="1300" err="1"/>
              <a:t>mobilityAction</a:t>
            </a:r>
            <a:r>
              <a:rPr lang="en-US" sz="1300"/>
              <a:t> parameter is set to HANDOVER.</a:t>
            </a:r>
          </a:p>
          <a:p>
            <a:pPr>
              <a:buFont typeface="Arial" panose="020B0604020202020204" pitchFamily="34" charset="0"/>
              <a:buChar char="•"/>
            </a:pPr>
            <a:endParaRPr lang="en-US" sz="1300"/>
          </a:p>
          <a:p>
            <a:pPr>
              <a:buFont typeface="Arial" panose="020B0604020202020204" pitchFamily="34" charset="0"/>
              <a:buChar char="•"/>
            </a:pPr>
            <a:r>
              <a:rPr lang="en-US" sz="1300"/>
              <a:t>The </a:t>
            </a:r>
            <a:r>
              <a:rPr lang="en-US" sz="1300">
                <a:solidFill>
                  <a:srgbClr val="004499"/>
                </a:solidFill>
              </a:rPr>
              <a:t>UE</a:t>
            </a:r>
            <a:r>
              <a:rPr lang="en-US" sz="1300"/>
              <a:t> has at least one voice bearer, that is, a bearer with </a:t>
            </a:r>
            <a:r>
              <a:rPr lang="en-US" sz="1300">
                <a:solidFill>
                  <a:srgbClr val="004499"/>
                </a:solidFill>
              </a:rPr>
              <a:t>QCI</a:t>
            </a:r>
            <a:r>
              <a:rPr lang="en-US" sz="1300"/>
              <a:t> 1.</a:t>
            </a:r>
          </a:p>
          <a:p>
            <a:endParaRPr lang="en-US" sz="1300"/>
          </a:p>
          <a:p>
            <a:pPr>
              <a:buFont typeface="Arial" panose="020B0604020202020204" pitchFamily="34" charset="0"/>
              <a:buChar char="•"/>
            </a:pPr>
            <a:r>
              <a:rPr lang="en-US" sz="1300"/>
              <a:t>even if </a:t>
            </a:r>
            <a:r>
              <a:rPr lang="en-US" sz="1300">
                <a:solidFill>
                  <a:srgbClr val="004499"/>
                </a:solidFill>
              </a:rPr>
              <a:t>UE</a:t>
            </a:r>
            <a:r>
              <a:rPr lang="en-US" sz="1300"/>
              <a:t> has a bearer with a </a:t>
            </a:r>
            <a:r>
              <a:rPr lang="en-US" sz="1300">
                <a:solidFill>
                  <a:srgbClr val="004499"/>
                </a:solidFill>
              </a:rPr>
              <a:t>QCI</a:t>
            </a:r>
            <a:r>
              <a:rPr lang="en-US" sz="1300"/>
              <a:t> value (other than </a:t>
            </a:r>
            <a:r>
              <a:rPr lang="en-US" sz="1300">
                <a:solidFill>
                  <a:srgbClr val="004499"/>
                </a:solidFill>
              </a:rPr>
              <a:t>QCI</a:t>
            </a:r>
            <a:r>
              <a:rPr lang="en-US" sz="1300"/>
              <a:t>=1) that correspond to a voice profile, the </a:t>
            </a:r>
            <a:r>
              <a:rPr lang="en-US" sz="1300">
                <a:solidFill>
                  <a:srgbClr val="004499"/>
                </a:solidFill>
              </a:rPr>
              <a:t>SRVCC</a:t>
            </a:r>
            <a:r>
              <a:rPr lang="en-US" sz="1300"/>
              <a:t> procedure cannot be applied to such a bearer. This is because (in accordance with 3GPP TS 23.216) the core network (</a:t>
            </a:r>
            <a:r>
              <a:rPr lang="en-US" sz="1300">
                <a:solidFill>
                  <a:srgbClr val="004499"/>
                </a:solidFill>
              </a:rPr>
              <a:t>MME</a:t>
            </a:r>
            <a:r>
              <a:rPr lang="en-US" sz="1300"/>
              <a:t>) is only considering bearers with </a:t>
            </a:r>
            <a:r>
              <a:rPr lang="en-US" sz="1300">
                <a:solidFill>
                  <a:srgbClr val="004499"/>
                </a:solidFill>
              </a:rPr>
              <a:t>QCI</a:t>
            </a:r>
            <a:r>
              <a:rPr lang="en-US" sz="1300"/>
              <a:t>=1 as voice bearers. Only these will be transferred to the </a:t>
            </a:r>
            <a:r>
              <a:rPr lang="en-US" sz="1300">
                <a:solidFill>
                  <a:srgbClr val="004499"/>
                </a:solidFill>
              </a:rPr>
              <a:t>CS</a:t>
            </a:r>
            <a:r>
              <a:rPr lang="en-US" sz="1300"/>
              <a:t> domain of the target when the </a:t>
            </a:r>
            <a:r>
              <a:rPr lang="en-US" sz="1300">
                <a:solidFill>
                  <a:srgbClr val="004499"/>
                </a:solidFill>
              </a:rPr>
              <a:t>SRVCC</a:t>
            </a:r>
            <a:r>
              <a:rPr lang="en-US" sz="1300"/>
              <a:t> procedure is applied for a certain </a:t>
            </a:r>
            <a:r>
              <a:rPr lang="en-US" sz="1300">
                <a:solidFill>
                  <a:srgbClr val="004499"/>
                </a:solidFill>
              </a:rPr>
              <a:t>UE</a:t>
            </a:r>
            <a:r>
              <a:rPr lang="en-US" sz="1300"/>
              <a:t>.</a:t>
            </a:r>
          </a:p>
          <a:p>
            <a:endParaRPr lang="en-US" sz="1300"/>
          </a:p>
          <a:p>
            <a:pPr>
              <a:buFont typeface="Arial" panose="020B0604020202020204" pitchFamily="34" charset="0"/>
              <a:buChar char="•"/>
            </a:pPr>
            <a:r>
              <a:rPr lang="en-US" sz="1300"/>
              <a:t>The </a:t>
            </a:r>
            <a:r>
              <a:rPr lang="en-US" sz="1300">
                <a:solidFill>
                  <a:srgbClr val="004499"/>
                </a:solidFill>
              </a:rPr>
              <a:t>UE</a:t>
            </a:r>
            <a:r>
              <a:rPr lang="en-US" sz="1300"/>
              <a:t> capabilities says it supports </a:t>
            </a:r>
            <a:r>
              <a:rPr lang="en-US" sz="1300">
                <a:solidFill>
                  <a:srgbClr val="004499"/>
                </a:solidFill>
              </a:rPr>
              <a:t>SRVCC</a:t>
            </a:r>
            <a:r>
              <a:rPr lang="en-US" sz="1300"/>
              <a:t>.</a:t>
            </a:r>
          </a:p>
          <a:p>
            <a:endParaRPr lang="en-US" sz="1300"/>
          </a:p>
          <a:p>
            <a:pPr>
              <a:buFont typeface="Arial" panose="020B0604020202020204" pitchFamily="34" charset="0"/>
              <a:buChar char="•"/>
            </a:pPr>
            <a:r>
              <a:rPr lang="en-US" sz="1300"/>
              <a:t>The </a:t>
            </a:r>
            <a:r>
              <a:rPr lang="en-US" sz="1300">
                <a:solidFill>
                  <a:srgbClr val="004499"/>
                </a:solidFill>
              </a:rPr>
              <a:t>MME</a:t>
            </a:r>
            <a:r>
              <a:rPr lang="en-US" sz="1300"/>
              <a:t> associated with the </a:t>
            </a:r>
            <a:r>
              <a:rPr lang="en-US" sz="1300">
                <a:solidFill>
                  <a:srgbClr val="004499"/>
                </a:solidFill>
              </a:rPr>
              <a:t>UE</a:t>
            </a:r>
            <a:r>
              <a:rPr lang="en-US" sz="1300"/>
              <a:t> supports </a:t>
            </a:r>
            <a:r>
              <a:rPr lang="en-US" sz="1300">
                <a:solidFill>
                  <a:srgbClr val="004499"/>
                </a:solidFill>
              </a:rPr>
              <a:t>SRVCC</a:t>
            </a:r>
            <a:r>
              <a:rPr lang="en-US" sz="1300"/>
              <a:t>.</a:t>
            </a:r>
          </a:p>
          <a:p>
            <a:endParaRPr lang="en-US" sz="1300"/>
          </a:p>
          <a:p>
            <a:pPr>
              <a:buFont typeface="Arial" panose="020B0604020202020204" pitchFamily="34" charset="0"/>
              <a:buChar char="•"/>
            </a:pPr>
            <a:r>
              <a:rPr lang="en-US" sz="1300"/>
              <a:t>The selected </a:t>
            </a:r>
            <a:r>
              <a:rPr lang="en-US" sz="1300">
                <a:solidFill>
                  <a:srgbClr val="004499"/>
                </a:solidFill>
              </a:rPr>
              <a:t>UTRAN/CDMA</a:t>
            </a:r>
            <a:r>
              <a:rPr lang="en-US" sz="1300"/>
              <a:t> cell supports </a:t>
            </a:r>
            <a:r>
              <a:rPr lang="en-US" sz="1300">
                <a:solidFill>
                  <a:srgbClr val="004499"/>
                </a:solidFill>
              </a:rPr>
              <a:t>SRVCC</a:t>
            </a:r>
            <a:r>
              <a:rPr lang="en-US" sz="1300"/>
              <a:t>.</a:t>
            </a:r>
          </a:p>
          <a:p>
            <a:endParaRPr lang="en-US" sz="1300"/>
          </a:p>
          <a:p>
            <a:pPr>
              <a:buFont typeface="Arial" panose="020B0604020202020204" pitchFamily="34" charset="0"/>
              <a:buChar char="•"/>
            </a:pPr>
            <a:r>
              <a:rPr lang="en-US" sz="1300"/>
              <a:t>This is configured in the </a:t>
            </a:r>
            <a:r>
              <a:rPr lang="en-US" sz="1300">
                <a:solidFill>
                  <a:srgbClr val="004499"/>
                </a:solidFill>
              </a:rPr>
              <a:t>MOM</a:t>
            </a:r>
            <a:r>
              <a:rPr lang="en-US" sz="1300"/>
              <a:t> attribute </a:t>
            </a:r>
            <a:r>
              <a:rPr lang="en-US" sz="1300">
                <a:solidFill>
                  <a:srgbClr val="004499"/>
                </a:solidFill>
                <a:hlinkClick r:id="rId2"/>
              </a:rPr>
              <a:t>srvccCapability </a:t>
            </a:r>
            <a:r>
              <a:rPr lang="en-US" sz="1300"/>
              <a:t>.</a:t>
            </a:r>
          </a:p>
          <a:p>
            <a:endParaRPr lang="en-US" sz="1300"/>
          </a:p>
          <a:p>
            <a:pPr>
              <a:buFont typeface="Arial" panose="020B0604020202020204" pitchFamily="34" charset="0"/>
              <a:buChar char="•"/>
            </a:pPr>
            <a:r>
              <a:rPr lang="en-US" sz="1300"/>
              <a:t>The </a:t>
            </a:r>
            <a:r>
              <a:rPr lang="en-US" sz="1300">
                <a:solidFill>
                  <a:srgbClr val="004499"/>
                </a:solidFill>
              </a:rPr>
              <a:t>SRVCC</a:t>
            </a:r>
            <a:r>
              <a:rPr lang="en-US" sz="1300"/>
              <a:t> Handover to </a:t>
            </a:r>
            <a:r>
              <a:rPr lang="en-US" sz="1300">
                <a:solidFill>
                  <a:srgbClr val="004499"/>
                </a:solidFill>
              </a:rPr>
              <a:t>UTRAN/CDMA</a:t>
            </a:r>
            <a:r>
              <a:rPr lang="en-US" sz="1300"/>
              <a:t> feature is OPERABLE.</a:t>
            </a:r>
          </a:p>
          <a:p>
            <a:pPr>
              <a:buFont typeface="Arial" panose="020B0604020202020204" pitchFamily="34" charset="0"/>
              <a:buChar char="•"/>
            </a:pPr>
            <a:endParaRPr lang="en-US" sz="1300"/>
          </a:p>
          <a:p>
            <a:r>
              <a:rPr lang="en-US" sz="1300"/>
              <a:t>If, in addition, the below criteria holds, a combined </a:t>
            </a:r>
            <a:r>
              <a:rPr lang="en-US" sz="1300">
                <a:solidFill>
                  <a:srgbClr val="004499"/>
                </a:solidFill>
              </a:rPr>
              <a:t>PS</a:t>
            </a:r>
            <a:r>
              <a:rPr lang="en-US" sz="1300"/>
              <a:t> and </a:t>
            </a:r>
            <a:r>
              <a:rPr lang="en-US" sz="1300">
                <a:solidFill>
                  <a:srgbClr val="004499"/>
                </a:solidFill>
              </a:rPr>
              <a:t>SRVCC</a:t>
            </a:r>
            <a:r>
              <a:rPr lang="en-US" sz="1300"/>
              <a:t> handover is possible:</a:t>
            </a:r>
          </a:p>
          <a:p>
            <a:pPr>
              <a:buFont typeface="Arial" panose="020B0604020202020204" pitchFamily="34" charset="0"/>
              <a:buChar char="•"/>
            </a:pPr>
            <a:r>
              <a:rPr lang="en-US" sz="1300"/>
              <a:t>The </a:t>
            </a:r>
            <a:r>
              <a:rPr lang="en-US" sz="1300">
                <a:solidFill>
                  <a:srgbClr val="004499"/>
                </a:solidFill>
              </a:rPr>
              <a:t>UE</a:t>
            </a:r>
            <a:r>
              <a:rPr lang="en-US" sz="1300"/>
              <a:t> also has at least one bearer with a </a:t>
            </a:r>
            <a:r>
              <a:rPr lang="en-US" sz="1300">
                <a:solidFill>
                  <a:srgbClr val="004499"/>
                </a:solidFill>
              </a:rPr>
              <a:t>QCI</a:t>
            </a:r>
            <a:r>
              <a:rPr lang="en-US" sz="1300"/>
              <a:t> which is not 1.</a:t>
            </a:r>
          </a:p>
          <a:p>
            <a:pPr>
              <a:buFont typeface="Arial" panose="020B0604020202020204" pitchFamily="34" charset="0"/>
              <a:buChar char="•"/>
            </a:pPr>
            <a:r>
              <a:rPr lang="en-US" sz="1300"/>
              <a:t>The target cell is simultaneously </a:t>
            </a:r>
            <a:r>
              <a:rPr lang="en-US" sz="1300">
                <a:solidFill>
                  <a:srgbClr val="004499"/>
                </a:solidFill>
              </a:rPr>
              <a:t>CS</a:t>
            </a:r>
            <a:r>
              <a:rPr lang="en-US" sz="1300"/>
              <a:t> and </a:t>
            </a:r>
            <a:r>
              <a:rPr lang="en-US" sz="1300">
                <a:solidFill>
                  <a:srgbClr val="004499"/>
                </a:solidFill>
              </a:rPr>
              <a:t>PS</a:t>
            </a:r>
            <a:r>
              <a:rPr lang="en-US" sz="1300"/>
              <a:t> handover capable.</a:t>
            </a:r>
          </a:p>
          <a:p>
            <a:pPr>
              <a:buFont typeface="Arial" panose="020B0604020202020204" pitchFamily="34" charset="0"/>
              <a:buChar char="•"/>
            </a:pPr>
            <a:r>
              <a:rPr lang="en-US" sz="1300"/>
              <a:t>This will be the case when the </a:t>
            </a:r>
            <a:r>
              <a:rPr lang="en-US" sz="1300">
                <a:solidFill>
                  <a:srgbClr val="004499"/>
                </a:solidFill>
              </a:rPr>
              <a:t>MOM</a:t>
            </a:r>
            <a:r>
              <a:rPr lang="en-US" sz="1300"/>
              <a:t> attribute </a:t>
            </a:r>
            <a:r>
              <a:rPr lang="en-US" sz="1300">
                <a:solidFill>
                  <a:srgbClr val="004499"/>
                </a:solidFill>
                <a:hlinkClick r:id="rId2"/>
              </a:rPr>
              <a:t>srvccCapability </a:t>
            </a:r>
            <a:r>
              <a:rPr lang="en-US" sz="1300"/>
              <a:t>has the value PS_AND_CS_SUPPORTED .</a:t>
            </a:r>
          </a:p>
          <a:p>
            <a:pPr>
              <a:buFont typeface="Arial" panose="020B0604020202020204" pitchFamily="34" charset="0"/>
              <a:buChar char="•"/>
            </a:pPr>
            <a:r>
              <a:rPr lang="en-US" sz="1300"/>
              <a:t>The Coverage-Triggered  </a:t>
            </a:r>
            <a:r>
              <a:rPr lang="en-US" sz="1300">
                <a:solidFill>
                  <a:srgbClr val="004499"/>
                </a:solidFill>
              </a:rPr>
              <a:t>IRAT</a:t>
            </a:r>
            <a:r>
              <a:rPr lang="en-US" sz="1300"/>
              <a:t> Handover feature is OPERABLE.</a:t>
            </a:r>
            <a:endParaRPr lang="en-US" sz="1300">
              <a:effectLst/>
            </a:endParaRPr>
          </a:p>
        </p:txBody>
      </p:sp>
      <p:sp>
        <p:nvSpPr>
          <p:cNvPr id="5" name="Rectangle 4"/>
          <p:cNvSpPr/>
          <p:nvPr/>
        </p:nvSpPr>
        <p:spPr>
          <a:xfrm>
            <a:off x="6191489" y="615601"/>
            <a:ext cx="5490694" cy="3139321"/>
          </a:xfrm>
          <a:prstGeom prst="rect">
            <a:avLst/>
          </a:prstGeom>
          <a:ln>
            <a:solidFill>
              <a:srgbClr val="FFC000"/>
            </a:solidFill>
          </a:ln>
        </p:spPr>
        <p:txBody>
          <a:bodyPr wrap="square">
            <a:spAutoFit/>
          </a:bodyPr>
          <a:lstStyle/>
          <a:p>
            <a:pPr marL="285750" indent="-285750">
              <a:buFont typeface="Arial" panose="020B0604020202020204" pitchFamily="34" charset="0"/>
              <a:buChar char="•"/>
            </a:pPr>
            <a:r>
              <a:rPr lang="en-US"/>
              <a:t>The </a:t>
            </a:r>
            <a:r>
              <a:rPr lang="en-US" err="1">
                <a:solidFill>
                  <a:srgbClr val="004499"/>
                </a:solidFill>
              </a:rPr>
              <a:t>eNodeB</a:t>
            </a:r>
            <a:r>
              <a:rPr lang="en-US"/>
              <a:t> will never initiate a "release with redirect" for a </a:t>
            </a:r>
            <a:r>
              <a:rPr lang="en-US">
                <a:solidFill>
                  <a:srgbClr val="004499"/>
                </a:solidFill>
              </a:rPr>
              <a:t>UE</a:t>
            </a:r>
            <a:r>
              <a:rPr lang="en-US"/>
              <a:t> that has voice bearers. </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If no appropriate target cell is found where the </a:t>
            </a:r>
            <a:r>
              <a:rPr lang="en-US">
                <a:solidFill>
                  <a:srgbClr val="004499"/>
                </a:solidFill>
              </a:rPr>
              <a:t>UE</a:t>
            </a:r>
            <a:r>
              <a:rPr lang="en-US"/>
              <a:t> can be handed over, the </a:t>
            </a:r>
            <a:r>
              <a:rPr lang="en-US">
                <a:solidFill>
                  <a:srgbClr val="004499"/>
                </a:solidFill>
              </a:rPr>
              <a:t>UE</a:t>
            </a:r>
            <a:r>
              <a:rPr lang="en-US"/>
              <a:t> will be kept in the serving cell until new measurement reports are processed and possible new targets for handover can be found. </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 If no </a:t>
            </a:r>
            <a:r>
              <a:rPr lang="en-US">
                <a:solidFill>
                  <a:srgbClr val="004499"/>
                </a:solidFill>
              </a:rPr>
              <a:t>SRVCC</a:t>
            </a:r>
            <a:r>
              <a:rPr lang="en-US"/>
              <a:t> feature is enabled, it is possible to override this behavior using the </a:t>
            </a:r>
            <a:r>
              <a:rPr lang="en-US">
                <a:solidFill>
                  <a:srgbClr val="004499"/>
                </a:solidFill>
              </a:rPr>
              <a:t>MOM</a:t>
            </a:r>
            <a:r>
              <a:rPr lang="en-US"/>
              <a:t> attribute </a:t>
            </a:r>
            <a:r>
              <a:rPr lang="en-US">
                <a:solidFill>
                  <a:srgbClr val="004499"/>
                </a:solidFill>
                <a:hlinkClick r:id="rId3"/>
              </a:rPr>
              <a:t>allowReleaseQci1 </a:t>
            </a:r>
            <a:r>
              <a:rPr lang="en-US"/>
              <a:t>.</a:t>
            </a:r>
          </a:p>
        </p:txBody>
      </p:sp>
      <p:sp>
        <p:nvSpPr>
          <p:cNvPr id="7" name="Rectangle 3"/>
          <p:cNvSpPr>
            <a:spLocks noGrp="1" noChangeArrowheads="1"/>
          </p:cNvSpPr>
          <p:nvPr>
            <p:ph type="title"/>
          </p:nvPr>
        </p:nvSpPr>
        <p:spPr>
          <a:xfrm>
            <a:off x="190978" y="74688"/>
            <a:ext cx="12001022" cy="341632"/>
          </a:xfrm>
          <a:solidFill>
            <a:srgbClr val="FFC000"/>
          </a:solidFill>
        </p:spPr>
        <p:txBody>
          <a:bodyPr vert="horz" wrap="square" lIns="91440" tIns="45720" rIns="91440" bIns="45720" rtlCol="0" anchor="ctr">
            <a:spAutoFit/>
          </a:bodyPr>
          <a:lstStyle/>
          <a:p>
            <a:pPr algn="ctr"/>
            <a:r>
              <a:rPr lang="en-US" altLang="en-US" sz="1800">
                <a:latin typeface="+mn-lt"/>
                <a:ea typeface="+mn-ea"/>
                <a:cs typeface="+mn-cs"/>
              </a:rPr>
              <a:t>SRVCC- </a:t>
            </a:r>
            <a:r>
              <a:rPr lang="en-US" sz="1800"/>
              <a:t>Single Radio Voice Call Continuity Feature Operation </a:t>
            </a:r>
            <a:endParaRPr lang="en-US" altLang="en-US" sz="1800">
              <a:latin typeface="+mn-lt"/>
              <a:ea typeface="+mn-ea"/>
              <a:cs typeface="+mn-cs"/>
            </a:endParaRPr>
          </a:p>
        </p:txBody>
      </p:sp>
    </p:spTree>
    <p:extLst>
      <p:ext uri="{BB962C8B-B14F-4D97-AF65-F5344CB8AC3E}">
        <p14:creationId xmlns:p14="http://schemas.microsoft.com/office/powerpoint/2010/main" val="4305218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haredContentType xmlns="Microsoft.SharePoint.Taxonomy.ContentTypeSync" SourceId="34c87397-5fc1-491e-85e7-d6110dbe9cbd" ContentTypeId="0x0101" PreviousValue="false"/>
</file>

<file path=customXml/item3.xml><?xml version="1.0" encoding="utf-8"?>
<p:properties xmlns:p="http://schemas.microsoft.com/office/2006/metadata/properties" xmlns:xsi="http://www.w3.org/2001/XMLSchema-instance" xmlns:pc="http://schemas.microsoft.com/office/infopath/2007/PartnerControls">
  <documentManagement>
    <_dlc_DocId xmlns="71c5aaf6-e6ce-465b-b873-5148d2a4c105">NLIQPPOIT5RM-1892379541-6</_dlc_DocId>
    <_dlc_DocIdUrl xmlns="71c5aaf6-e6ce-465b-b873-5148d2a4c105">
      <Url>https://nokia.sharepoint.com/sites/NAMLDOMulti-vendorSupport/_layouts/15/DocIdRedir.aspx?ID=NLIQPPOIT5RM-1892379541-6</Url>
      <Description>NLIQPPOIT5RM-1892379541-6</Description>
    </_dlc_DocIdUrl>
    <HideFromDelve xmlns="71c5aaf6-e6ce-465b-b873-5148d2a4c105">false</HideFromDelve>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5.xml><?xml version="1.0" encoding="utf-8"?>
<ct:contentTypeSchema xmlns:ct="http://schemas.microsoft.com/office/2006/metadata/contentType" xmlns:ma="http://schemas.microsoft.com/office/2006/metadata/properties/metaAttributes" ct:_="" ma:_="" ma:contentTypeName="Document" ma:contentTypeID="0x0101006BC10F15AD3DE843807F54A2558D5578" ma:contentTypeVersion="7" ma:contentTypeDescription="Create a new document." ma:contentTypeScope="" ma:versionID="b642227bb157edc2f2b87979d0d2922d">
  <xsd:schema xmlns:xsd="http://www.w3.org/2001/XMLSchema" xmlns:xs="http://www.w3.org/2001/XMLSchema" xmlns:p="http://schemas.microsoft.com/office/2006/metadata/properties" xmlns:ns2="71c5aaf6-e6ce-465b-b873-5148d2a4c105" xmlns:ns3="714f47bb-ab99-4602-b4bc-dad4e939ee27" targetNamespace="http://schemas.microsoft.com/office/2006/metadata/properties" ma:root="true" ma:fieldsID="144dfb0f7df44a8462363891666d4b9d" ns2:_="" ns3:_="">
    <xsd:import namespace="71c5aaf6-e6ce-465b-b873-5148d2a4c105"/>
    <xsd:import namespace="714f47bb-ab99-4602-b4bc-dad4e939ee27"/>
    <xsd:element name="properties">
      <xsd:complexType>
        <xsd:sequence>
          <xsd:element name="documentManagement">
            <xsd:complexType>
              <xsd:all>
                <xsd:element ref="ns2:_dlc_DocId" minOccurs="0"/>
                <xsd:element ref="ns2:_dlc_DocIdUrl" minOccurs="0"/>
                <xsd:element ref="ns2:_dlc_DocIdPersistId" minOccurs="0"/>
                <xsd:element ref="ns2:HideFromDelve" minOccurs="0"/>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c5aaf6-e6ce-465b-b873-5148d2a4c105"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HideFromDelve" ma:index="11" nillable="true" ma:displayName="HideFromDelve" ma:default="0" ma:internalName="HideFromDelv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714f47bb-ab99-4602-b4bc-dad4e939ee27" elementFormDefault="qualified">
    <xsd:import namespace="http://schemas.microsoft.com/office/2006/documentManagement/types"/>
    <xsd:import namespace="http://schemas.microsoft.com/office/infopath/2007/PartnerControls"/>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4AA0644-97A3-4D6A-90C0-FA460CEB1204}">
  <ds:schemaRefs>
    <ds:schemaRef ds:uri="http://schemas.microsoft.com/sharepoint/v3/contenttype/forms"/>
  </ds:schemaRefs>
</ds:datastoreItem>
</file>

<file path=customXml/itemProps2.xml><?xml version="1.0" encoding="utf-8"?>
<ds:datastoreItem xmlns:ds="http://schemas.openxmlformats.org/officeDocument/2006/customXml" ds:itemID="{F103F5BA-84B3-4A38-83D1-20C7FE55AB9A}">
  <ds:schemaRefs>
    <ds:schemaRef ds:uri="Microsoft.SharePoint.Taxonomy.ContentTypeSync"/>
  </ds:schemaRefs>
</ds:datastoreItem>
</file>

<file path=customXml/itemProps3.xml><?xml version="1.0" encoding="utf-8"?>
<ds:datastoreItem xmlns:ds="http://schemas.openxmlformats.org/officeDocument/2006/customXml" ds:itemID="{9FA40F5D-F476-494B-81EF-697A52A65644}">
  <ds:schemaRefs>
    <ds:schemaRef ds:uri="71c5aaf6-e6ce-465b-b873-5148d2a4c105"/>
    <ds:schemaRef ds:uri="http://schemas.microsoft.com/office/2006/metadata/properties"/>
    <ds:schemaRef ds:uri="http://schemas.microsoft.com/office/infopath/2007/PartnerControls"/>
    <ds:schemaRef ds:uri="http://www.w3.org/2000/xmlns/"/>
  </ds:schemaRefs>
</ds:datastoreItem>
</file>

<file path=customXml/itemProps4.xml><?xml version="1.0" encoding="utf-8"?>
<ds:datastoreItem xmlns:ds="http://schemas.openxmlformats.org/officeDocument/2006/customXml" ds:itemID="{6479203A-583B-409C-98CC-7ED5CA4941B3}">
  <ds:schemaRefs>
    <ds:schemaRef ds:uri="http://schemas.microsoft.com/sharepoint/events"/>
    <ds:schemaRef ds:uri="http://www.w3.org/2000/xmlns/"/>
  </ds:schemaRefs>
</ds:datastoreItem>
</file>

<file path=customXml/itemProps5.xml><?xml version="1.0" encoding="utf-8"?>
<ds:datastoreItem xmlns:ds="http://schemas.openxmlformats.org/officeDocument/2006/customXml" ds:itemID="{8E3A5FA7-DA8D-465B-BEE0-BACD92BFEBAA}"/>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33</Slides>
  <Notes>0</Notes>
  <HiddenSlides>0</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UE Registers With IMS Network</vt:lpstr>
      <vt:lpstr>PowerPoint Presentation</vt:lpstr>
      <vt:lpstr>IMS Call is Answered</vt:lpstr>
      <vt:lpstr>IMS Call is Ended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SIP CODE</vt:lpstr>
      <vt:lpstr>SRVCC- Single Radio Voice Call Continuity </vt:lpstr>
      <vt:lpstr>SRVCC - Single Radio Voice Call Continuity </vt:lpstr>
      <vt:lpstr>SRVCC Flow Chart</vt:lpstr>
      <vt:lpstr>SRVCC - Parameters</vt:lpstr>
      <vt:lpstr>SRVCC- Single Radio Voice Call Continuity Feature Operation </vt:lpstr>
    </vt:vector>
  </TitlesOfParts>
  <Company>Sprint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Sprint Employee</dc:creator>
  <cp:revision>1</cp:revision>
  <cp:lastPrinted>2017-02-23T20:19:13Z</cp:lastPrinted>
  <dcterms:created xsi:type="dcterms:W3CDTF">2017-02-07T16:54:15Z</dcterms:created>
  <dcterms:modified xsi:type="dcterms:W3CDTF">2024-01-26T10:38:48Z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0x0101006BC10F15AD3DE843807F54A2558D5578</vt:lpwstr>
  </property>
  <property fmtid="{D5CDD505-2E9C-101B-9397-08002B2CF9AE}" pid="3" name="_dlc_DocIdItemGuid">
    <vt:lpwstr>c2dd9ac5-4d50-4a1f-83da-acb9efd3261b</vt:lpwstr>
  </property>
</Properties>
</file>