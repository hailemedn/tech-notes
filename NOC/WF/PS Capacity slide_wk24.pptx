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683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7AF3-D4B7-4E82-B3AD-11684BBA39F7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FA459-B7A1-44C5-8AB0-B1473520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08B20A-B320-4BAB-B412-F142CFE1365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46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6893-2873-28F1-7DB0-7AA8175BE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973E1-0276-7A7B-2887-54F9ABD77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EF612-31F0-E9DF-963C-057392D9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81943-1CCB-EDF9-FCC0-119BC826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E6CFB-7B86-F7A4-EA39-14ACD1BB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7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DDE8-28CE-27F8-22AB-F4361025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1864-79BA-0696-E97B-A188940F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CAAAE-9EC8-0A40-1AB0-7F72C594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50BFE-C025-5506-6EC7-524E9F06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59141-2209-6B49-62A7-DE18907F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02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A072-7BF5-ED96-F45B-2E42CCC1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E7D70-796B-BDD2-F796-6EBFFAAC4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D40F6-BDF9-A3F1-26A6-821F7BA2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BE216-1D6B-D705-F81B-D0C74E8E0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F43CF-FB16-F3C4-7E65-A41E0A12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4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DCA0-52A7-53D8-15F1-54150588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CA884-FB32-F57B-EC2E-BBEC08DFA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0B52C-397D-943F-FFEB-307752039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49057-A1DD-5E58-A71F-335B1E00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70F34-737B-CD4C-7C1E-B0D9B5DC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0B991-9DFC-3B39-2772-9230693E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5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6824-F874-29C9-63FE-5DA1F2F3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D8994-C108-BF6C-5AA5-DD51625A0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18BDE-81D8-4788-C327-8D4B1310C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44E88-7A2F-6C83-3C66-72DE86D79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3A584-C74C-DC74-7E8B-AE760F315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C9586-4C31-B30D-5253-A502E53C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BEEB0C-2B78-FD7E-E73D-1CF4C3A2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A0DA1-9A18-9E32-8F43-F241DEB8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9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51F7-17B4-6B09-C2E4-2FC0BB60B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59392-817B-EB5A-68A0-9C93C5CB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67FAF-D617-6EC3-4388-E3206611D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5B9CE-A1CD-E92D-E67F-3599B1A1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6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59FD9-7316-D6A7-F88D-D1747268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7F440-48C3-3D9E-C483-AC556739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E529E-8368-2165-B709-E2593890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2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BE20-6339-042D-989B-E0C2C4C3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1BB06-E906-4FDC-5224-DA21D3F4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756BE-DE2D-70F4-1FE4-A25A48954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5B20C-A4D3-1FD8-7308-641C5B10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E217D-BEE4-7985-76B9-6F2DF6EC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C16AE-642E-A442-7F6B-463BEB41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0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2BF7-9161-128F-4D87-CE3B8E7A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BCA61-E9CF-F8DE-4914-D18A0B6BF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8047C-22C2-ABBA-89CF-468DA4C7F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E164E-4C1B-64C5-0F22-D85B010C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DB381-26CF-CE70-8FF8-F667E9F8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F554D-9E78-27C8-DC11-0A3B7DEA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7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57D1-6A85-1704-7DA3-543B2F0E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ECC3E-A929-0E49-D8F4-5F7F213EE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33B90-CD3A-C076-9F93-76EDC08D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B5D3-03FC-A6A7-0758-9BC8199F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13A0C-EB26-BC34-15E9-2C0C598D3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0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37A7D-9664-6358-D0BE-CA89C9CC2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BB448-F6BD-F542-CD2D-99BF4E1A2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6D03-C406-77A3-56FD-E9D3C11A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80C53-59A6-B758-7D41-E9CEA8F5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A0F3B-5EBC-28C8-65CA-62AE2E1D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79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.2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800" y="527928"/>
            <a:ext cx="11078400" cy="454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800" y="1019360"/>
            <a:ext cx="11078400" cy="454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A88A15-3ABC-3274-AAF4-8A412DDB8F1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6427" y="6320612"/>
            <a:ext cx="1296000" cy="2920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C1BFCD-6D0E-9392-8AF1-AA5AC554C5C9}"/>
              </a:ext>
            </a:extLst>
          </p:cNvPr>
          <p:cNvSpPr txBox="1"/>
          <p:nvPr/>
        </p:nvSpPr>
        <p:spPr>
          <a:xfrm>
            <a:off x="906705" y="6478074"/>
            <a:ext cx="842111" cy="164148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1067" noProof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60ADFB8-3432-B307-E345-E3F3BD40FB23}"/>
              </a:ext>
            </a:extLst>
          </p:cNvPr>
          <p:cNvSpPr txBox="1">
            <a:spLocks/>
          </p:cNvSpPr>
          <p:nvPr/>
        </p:nvSpPr>
        <p:spPr>
          <a:xfrm>
            <a:off x="558803" y="6478009"/>
            <a:ext cx="160300" cy="164212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1067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sz="1333" noProof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8B6B60-CBCC-891E-2583-9E8CD3C9950B}"/>
              </a:ext>
            </a:extLst>
          </p:cNvPr>
          <p:cNvCxnSpPr>
            <a:cxnSpLocks/>
          </p:cNvCxnSpPr>
          <p:nvPr/>
        </p:nvCxnSpPr>
        <p:spPr>
          <a:xfrm>
            <a:off x="1867503" y="6440736"/>
            <a:ext cx="0" cy="192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CBFB85A3-5CE3-2927-6461-99DEDFB9D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6147" y="6478073"/>
            <a:ext cx="3840000" cy="1632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609585" rtl="0" eaLnBrk="1" latinLnBrk="0" hangingPunct="1">
              <a:defRPr lang="en-GB" sz="1067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96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BD925-9883-6FEE-9207-B7F2262F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CF11E-7D77-C38B-7004-0BC783CF1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BBD7D-84DD-7DDC-796C-CC21ED8E3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D5D1F-5FC6-4E4E-B0FB-E6C4A2B78AAE}" type="datetimeFigureOut">
              <a:rPr lang="en-US" smtClean="0"/>
              <a:t>06/18/26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BA82-75C2-1733-BE5D-1BB3A061C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E94D4-9548-30AE-4B84-118AB54E1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3DC39-7412-490F-AB6C-0D0DBA664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2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1A51F-8C84-4359-9F1A-06B5427C21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-21023"/>
            <a:ext cx="11078400" cy="376641"/>
          </a:xfrm>
        </p:spPr>
        <p:txBody>
          <a:bodyPr/>
          <a:lstStyle/>
          <a:p>
            <a:r>
              <a:rPr lang="en-US" sz="2000" b="1" dirty="0">
                <a:solidFill>
                  <a:srgbClr val="124191"/>
                </a:solidFill>
                <a:latin typeface="+mn-lt"/>
              </a:rPr>
              <a:t>PS Core Network Capacity Summary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24191"/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9AAE8-4B65-EF00-4D39-2655292C93B6}"/>
              </a:ext>
            </a:extLst>
          </p:cNvPr>
          <p:cNvSpPr txBox="1"/>
          <p:nvPr/>
        </p:nvSpPr>
        <p:spPr>
          <a:xfrm>
            <a:off x="100233" y="4654353"/>
            <a:ext cx="11078400" cy="16811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171446" indent="-171446" defTabSz="179996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79996" algn="l"/>
              </a:tabLst>
              <a:defRPr/>
            </a:pPr>
            <a:endParaRPr lang="en-US" sz="1200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171446" indent="-171446" defTabSz="179996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79996" algn="l"/>
              </a:tabLst>
              <a:defRPr/>
            </a:pPr>
            <a:r>
              <a:rPr lang="en-US" sz="1200" dirty="0">
                <a:solidFill>
                  <a:schemeClr val="tx2"/>
                </a:solidFill>
                <a:latin typeface="Abadi" panose="020B0604020104020204" pitchFamily="34" charset="0"/>
              </a:rPr>
              <a:t>4G SAU Utilization is ~56-58% in All CMM . </a:t>
            </a:r>
          </a:p>
          <a:p>
            <a:pPr marL="171446" indent="-171446" defTabSz="179996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79996" algn="l"/>
              </a:tabLst>
              <a:defRPr/>
            </a:pPr>
            <a:r>
              <a:rPr lang="en-US" sz="1200" dirty="0">
                <a:solidFill>
                  <a:schemeClr val="tx2"/>
                </a:solidFill>
                <a:latin typeface="Abadi" panose="020B0604020104020204" pitchFamily="34" charset="0"/>
              </a:rPr>
              <a:t>Peak throughput for the week-24 412.11 Gb reported on 10</a:t>
            </a:r>
            <a:r>
              <a:rPr lang="en-US" sz="1200" baseline="30000" dirty="0">
                <a:solidFill>
                  <a:schemeClr val="tx2"/>
                </a:solidFill>
                <a:latin typeface="Abadi" panose="020B0604020104020204" pitchFamily="34" charset="0"/>
              </a:rPr>
              <a:t>th</a:t>
            </a:r>
            <a:r>
              <a:rPr lang="en-US" sz="1200" dirty="0">
                <a:solidFill>
                  <a:schemeClr val="tx2"/>
                </a:solidFill>
                <a:latin typeface="Abadi" panose="020B0604020104020204" pitchFamily="34" charset="0"/>
              </a:rPr>
              <a:t> Jun  at 21:15hrs . </a:t>
            </a:r>
          </a:p>
          <a:p>
            <a:pPr marL="171446" indent="-171446" defTabSz="179996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79996" algn="l"/>
              </a:tabLst>
              <a:defRPr/>
            </a:pPr>
            <a:r>
              <a:rPr lang="en-US" sz="1200" dirty="0">
                <a:solidFill>
                  <a:schemeClr val="tx2"/>
                </a:solidFill>
                <a:latin typeface="Abadi" panose="020B0604020104020204" pitchFamily="34" charset="0"/>
              </a:rPr>
              <a:t>SAAU  Utilization is running less than 40 % in both MDC CMG .</a:t>
            </a:r>
          </a:p>
          <a:p>
            <a:pPr marL="171446" indent="-171446" defTabSz="179996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79996" algn="l"/>
              </a:tabLst>
              <a:defRPr/>
            </a:pPr>
            <a:r>
              <a:rPr lang="en-US" sz="1200" dirty="0">
                <a:solidFill>
                  <a:schemeClr val="tx2"/>
                </a:solidFill>
                <a:latin typeface="Abadi" panose="020B0604020104020204" pitchFamily="34" charset="0"/>
              </a:rPr>
              <a:t>MDC1 NPC Max TPS  Utilization is ~ 25.59 %  &amp; MDC2 NPC Max TPS Utilization  is ~24.17% on  09</a:t>
            </a:r>
            <a:r>
              <a:rPr lang="en-US" sz="1200" baseline="30000" dirty="0">
                <a:solidFill>
                  <a:schemeClr val="tx2"/>
                </a:solidFill>
                <a:latin typeface="Abadi" panose="020B0604020104020204" pitchFamily="34" charset="0"/>
              </a:rPr>
              <a:t>th</a:t>
            </a:r>
            <a:r>
              <a:rPr lang="en-US" sz="1200" dirty="0">
                <a:solidFill>
                  <a:schemeClr val="tx2"/>
                </a:solidFill>
                <a:latin typeface="Abadi" panose="020B0604020104020204" pitchFamily="34" charset="0"/>
              </a:rPr>
              <a:t> Jun 20:00hrs </a:t>
            </a:r>
            <a:r>
              <a:rPr lang="en-US" sz="1200" dirty="0">
                <a:solidFill>
                  <a:schemeClr val="tx2"/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 </a:t>
            </a:r>
          </a:p>
          <a:p>
            <a:pPr marL="171446" indent="-171446" defTabSz="179996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79996" algn="l"/>
              </a:tabLst>
              <a:defRPr/>
            </a:pPr>
            <a:endParaRPr lang="en-US" sz="1200" dirty="0">
              <a:latin typeface="Abadi" panose="020B0604020104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5DA2D1-1E23-41A2-3086-9F2E4DFEA7A8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49444"/>
          <a:ext cx="6096000" cy="2853312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768067085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8587599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100038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59247328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366613537"/>
                    </a:ext>
                  </a:extLst>
                </a:gridCol>
              </a:tblGrid>
              <a:tr h="2038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 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Current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707292"/>
                  </a:ext>
                </a:extLst>
              </a:tr>
              <a:tr h="20380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CMMMDC02_TA01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2G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35,096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601352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3G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205,553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50671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4G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805,559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37576"/>
                  </a:ext>
                </a:extLst>
              </a:tr>
              <a:tr h="2038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 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Current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491707"/>
                  </a:ext>
                </a:extLst>
              </a:tr>
              <a:tr h="20380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CMMMDC02_TA02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2G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35,143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833404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3G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206,225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522928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4G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788,951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879548"/>
                  </a:ext>
                </a:extLst>
              </a:tr>
              <a:tr h="2038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 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Current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137538"/>
                  </a:ext>
                </a:extLst>
              </a:tr>
              <a:tr h="203808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CMG_MDC2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2G PDP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36,882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649070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3G PDP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296,470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350256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4G PDP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4,500,000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2,811,400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98073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Throughput (Gbps)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352.829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857989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Combined PDN Sessions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6,000,000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2713533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6622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012684-AB05-C270-B7D2-DEEA9C67AF8A}"/>
              </a:ext>
            </a:extLst>
          </p:cNvPr>
          <p:cNvGraphicFramePr>
            <a:graphicFrameLocks noGrp="1"/>
          </p:cNvGraphicFramePr>
          <p:nvPr/>
        </p:nvGraphicFramePr>
        <p:xfrm>
          <a:off x="0" y="349443"/>
          <a:ext cx="6019800" cy="2853312"/>
        </p:xfrm>
        <a:graphic>
          <a:graphicData uri="http://schemas.openxmlformats.org/drawingml/2006/table">
            <a:tbl>
              <a:tblPr/>
              <a:tblGrid>
                <a:gridCol w="1034481">
                  <a:extLst>
                    <a:ext uri="{9D8B030D-6E8A-4147-A177-3AD203B41FA5}">
                      <a16:colId xmlns:a16="http://schemas.microsoft.com/office/drawing/2014/main" val="439398355"/>
                    </a:ext>
                  </a:extLst>
                </a:gridCol>
                <a:gridCol w="1287599">
                  <a:extLst>
                    <a:ext uri="{9D8B030D-6E8A-4147-A177-3AD203B41FA5}">
                      <a16:colId xmlns:a16="http://schemas.microsoft.com/office/drawing/2014/main" val="243043244"/>
                    </a:ext>
                  </a:extLst>
                </a:gridCol>
                <a:gridCol w="1397650">
                  <a:extLst>
                    <a:ext uri="{9D8B030D-6E8A-4147-A177-3AD203B41FA5}">
                      <a16:colId xmlns:a16="http://schemas.microsoft.com/office/drawing/2014/main" val="1393855041"/>
                    </a:ext>
                  </a:extLst>
                </a:gridCol>
                <a:gridCol w="1078502">
                  <a:extLst>
                    <a:ext uri="{9D8B030D-6E8A-4147-A177-3AD203B41FA5}">
                      <a16:colId xmlns:a16="http://schemas.microsoft.com/office/drawing/2014/main" val="1861008002"/>
                    </a:ext>
                  </a:extLst>
                </a:gridCol>
                <a:gridCol w="1221568">
                  <a:extLst>
                    <a:ext uri="{9D8B030D-6E8A-4147-A177-3AD203B41FA5}">
                      <a16:colId xmlns:a16="http://schemas.microsoft.com/office/drawing/2014/main" val="3155689142"/>
                    </a:ext>
                  </a:extLst>
                </a:gridCol>
              </a:tblGrid>
              <a:tr h="2038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 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Current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971470"/>
                  </a:ext>
                </a:extLst>
              </a:tr>
              <a:tr h="20380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CMMMDC01_TA01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2G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35,162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477056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3G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212,080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411518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4G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808,937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23217"/>
                  </a:ext>
                </a:extLst>
              </a:tr>
              <a:tr h="2038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 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Current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698330"/>
                  </a:ext>
                </a:extLst>
              </a:tr>
              <a:tr h="20380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CMMMDC01_TA02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2G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35,259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054733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3G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211,615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735562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 4G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823,124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87272"/>
                  </a:ext>
                </a:extLst>
              </a:tr>
              <a:tr h="2038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 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Current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326539"/>
                  </a:ext>
                </a:extLst>
              </a:tr>
              <a:tr h="203808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CMG_MDC1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2G PDP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26,014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56958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3G PDP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190,553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910674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4G PDP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4,500,000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1,473,710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424895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Throughput (Gbps)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59.28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95102"/>
                  </a:ext>
                </a:extLst>
              </a:tr>
              <a:tr h="203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Combined PDN Sessions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6,000,000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716,785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50502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354012-851E-0BBA-E9F1-287929924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6760"/>
              </p:ext>
            </p:extLst>
          </p:nvPr>
        </p:nvGraphicFramePr>
        <p:xfrm>
          <a:off x="0" y="3429000"/>
          <a:ext cx="6019800" cy="736600"/>
        </p:xfrm>
        <a:graphic>
          <a:graphicData uri="http://schemas.openxmlformats.org/drawingml/2006/table">
            <a:tbl>
              <a:tblPr/>
              <a:tblGrid>
                <a:gridCol w="2211748">
                  <a:extLst>
                    <a:ext uri="{9D8B030D-6E8A-4147-A177-3AD203B41FA5}">
                      <a16:colId xmlns:a16="http://schemas.microsoft.com/office/drawing/2014/main" val="4216240685"/>
                    </a:ext>
                  </a:extLst>
                </a:gridCol>
                <a:gridCol w="1625154">
                  <a:extLst>
                    <a:ext uri="{9D8B030D-6E8A-4147-A177-3AD203B41FA5}">
                      <a16:colId xmlns:a16="http://schemas.microsoft.com/office/drawing/2014/main" val="2474552336"/>
                    </a:ext>
                  </a:extLst>
                </a:gridCol>
                <a:gridCol w="798152">
                  <a:extLst>
                    <a:ext uri="{9D8B030D-6E8A-4147-A177-3AD203B41FA5}">
                      <a16:colId xmlns:a16="http://schemas.microsoft.com/office/drawing/2014/main" val="440206513"/>
                    </a:ext>
                  </a:extLst>
                </a:gridCol>
                <a:gridCol w="1384746">
                  <a:extLst>
                    <a:ext uri="{9D8B030D-6E8A-4147-A177-3AD203B41FA5}">
                      <a16:colId xmlns:a16="http://schemas.microsoft.com/office/drawing/2014/main" val="41732285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NPC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DIAMETER TPS CAPACITY UTILISATION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5089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Capacity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Util.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4516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MDC 1 NPC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5629.7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2972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MDC 2 NPC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5317.1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99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Widescreen</PresentationFormat>
  <Paragraphs>145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Abadi</vt:lpstr>
      <vt:lpstr>Aptos</vt:lpstr>
      <vt:lpstr>Aptos Display</vt:lpstr>
      <vt:lpstr>Aptos Narrow</vt:lpstr>
      <vt:lpstr>Arial</vt:lpstr>
      <vt:lpstr>Calibri</vt:lpstr>
      <vt:lpstr>Nokia Pure Headline Light</vt:lpstr>
      <vt:lpstr>Nokia Pure Text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Agrawal (Nokia)</dc:creator>
  <cp:lastModifiedBy>Abhinav Agrawal (Nokia)</cp:lastModifiedBy>
  <cp:revision>1</cp:revision>
  <dcterms:created xsi:type="dcterms:W3CDTF">2026-06-18T14:19:11Z</dcterms:created>
  <dcterms:modified xsi:type="dcterms:W3CDTF">2026-06-18T14:19:52Z</dcterms:modified>
</cp:coreProperties>
</file>